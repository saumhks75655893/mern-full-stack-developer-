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66" r:id="rId2"/>
    <p:sldId id="313" r:id="rId3"/>
    <p:sldId id="315" r:id="rId4"/>
    <p:sldId id="314" r:id="rId5"/>
    <p:sldId id="312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15" d="100"/>
          <a:sy n="115" d="100"/>
        </p:scale>
        <p:origin x="70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0693" y="1769540"/>
            <a:ext cx="9440034" cy="1828801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0693" y="3598339"/>
            <a:ext cx="9440034" cy="1049867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70C16-CB02-44E1-8AF7-8DA3690E2582}" type="datetimeFigureOut">
              <a:rPr lang="en-IN" smtClean="0"/>
              <a:t>28-09-2025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60AA61-56D5-4267-A2CA-7B717022D8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918032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70C16-CB02-44E1-8AF7-8DA3690E2582}" type="datetimeFigureOut">
              <a:rPr lang="en-IN" smtClean="0"/>
              <a:t>28-09-2025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60AA61-56D5-4267-A2CA-7B717022D8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878298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1761067"/>
            <a:ext cx="9590550" cy="1828813"/>
          </a:xfrm>
        </p:spPr>
        <p:txBody>
          <a:bodyPr anchor="b"/>
          <a:lstStyle>
            <a:lvl1pPr algn="ct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3589879"/>
            <a:ext cx="9590550" cy="1507054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70C16-CB02-44E1-8AF7-8DA3690E2582}" type="datetimeFigureOut">
              <a:rPr lang="en-IN" smtClean="0"/>
              <a:t>28-09-2025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60AA61-56D5-4267-A2CA-7B717022D8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739407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1732449"/>
            <a:ext cx="5060497" cy="4058750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2892" y="1732449"/>
            <a:ext cx="5064665" cy="4058751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70C16-CB02-44E1-8AF7-8DA3690E2582}" type="datetimeFigureOut">
              <a:rPr lang="en-IN" smtClean="0"/>
              <a:t>28-09-2025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60AA61-56D5-4267-A2CA-7B717022D8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376164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95" y="1734506"/>
            <a:ext cx="5089072" cy="4148769"/>
          </a:xfrm>
          <a:prstGeom prst="rect">
            <a:avLst/>
          </a:prstGeom>
        </p:spPr>
      </p:pic>
      <p:pic>
        <p:nvPicPr>
          <p:cNvPr id="21" name="Picture 20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8485" y="1734506"/>
            <a:ext cx="5089072" cy="414876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5872" y="1835254"/>
            <a:ext cx="4876344" cy="544884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05872" y="2380137"/>
            <a:ext cx="4876344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94967" y="1835254"/>
            <a:ext cx="4895330" cy="544883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94967" y="2380137"/>
            <a:ext cx="4895330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70C16-CB02-44E1-8AF7-8DA3690E2582}" type="datetimeFigureOut">
              <a:rPr lang="en-IN" smtClean="0"/>
              <a:t>28-09-2025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60AA61-56D5-4267-A2CA-7B717022D8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835537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70C16-CB02-44E1-8AF7-8DA3690E2582}" type="datetimeFigureOut">
              <a:rPr lang="en-IN" smtClean="0"/>
              <a:t>28-09-2025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60AA61-56D5-4267-A2CA-7B717022D8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56300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70C16-CB02-44E1-8AF7-8DA3690E2582}" type="datetimeFigureOut">
              <a:rPr lang="en-IN" smtClean="0"/>
              <a:t>28-09-2025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60AA61-56D5-4267-A2CA-7B717022D8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056328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3706889" cy="182191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609600"/>
            <a:ext cx="6411924" cy="51816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1518"/>
            <a:ext cx="3706889" cy="3359681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70C16-CB02-44E1-8AF7-8DA3690E2582}" type="datetimeFigureOut">
              <a:rPr lang="en-IN" smtClean="0"/>
              <a:t>28-09-2025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60AA61-56D5-4267-A2CA-7B717022D8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712129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Slate-V2-HD-vert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3665" y="609600"/>
            <a:ext cx="3584166" cy="520483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923"/>
            <a:ext cx="5934949" cy="1829338"/>
          </a:xfrm>
        </p:spPr>
        <p:txBody>
          <a:bodyPr anchor="b">
            <a:noAutofit/>
          </a:bodyPr>
          <a:lstStyle>
            <a:lvl1pPr algn="ctr">
              <a:defRPr sz="3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42551" y="763702"/>
            <a:ext cx="3275751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9261"/>
            <a:ext cx="5934949" cy="337613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70C16-CB02-44E1-8AF7-8DA3690E2582}" type="datetimeFigureOut">
              <a:rPr lang="en-IN" smtClean="0"/>
              <a:t>28-09-2025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60AA61-56D5-4267-A2CA-7B717022D8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060159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Slate-V2-HD-pano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883" y="547807"/>
            <a:ext cx="10141799" cy="381680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565255"/>
            <a:ext cx="10355326" cy="543472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69349" y="695009"/>
            <a:ext cx="9845346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53762" cy="682472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70C16-CB02-44E1-8AF7-8DA3690E2582}" type="datetimeFigureOut">
              <a:rPr lang="en-IN" smtClean="0"/>
              <a:t>28-09-2025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60AA61-56D5-4267-A2CA-7B717022D8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235910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8437"/>
            <a:ext cx="10353762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95180"/>
            <a:ext cx="10353763" cy="150182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70C16-CB02-44E1-8AF7-8DA3690E2582}" type="datetimeFigureOut">
              <a:rPr lang="en-IN" smtClean="0"/>
              <a:t>28-09-2025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60AA61-56D5-4267-A2CA-7B717022D8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9718529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32749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304353"/>
            <a:ext cx="10353763" cy="148949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70C16-CB02-44E1-8AF7-8DA3690E2582}" type="datetimeFigureOut">
              <a:rPr lang="en-IN" smtClean="0"/>
              <a:t>28-09-2025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60AA61-56D5-4267-A2CA-7B717022D894}" type="slidenum">
              <a:rPr lang="en-IN" smtClean="0"/>
              <a:t>‹#›</a:t>
            </a:fld>
            <a:endParaRPr lang="en-IN"/>
          </a:p>
        </p:txBody>
      </p:sp>
      <p:sp>
        <p:nvSpPr>
          <p:cNvPr id="11" name="TextBox 10"/>
          <p:cNvSpPr txBox="1"/>
          <p:nvPr/>
        </p:nvSpPr>
        <p:spPr>
          <a:xfrm>
            <a:off x="990600" y="88479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04716" y="292825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87052995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2126942"/>
            <a:ext cx="10353763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84" y="4650556"/>
            <a:ext cx="1035219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70C16-CB02-44E1-8AF7-8DA3690E2582}" type="datetimeFigureOut">
              <a:rPr lang="en-IN" smtClean="0"/>
              <a:t>28-09-2025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60AA61-56D5-4267-A2CA-7B717022D8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6888164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5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6711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43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572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66572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70C16-CB02-44E1-8AF7-8DA3690E2582}" type="datetimeFigureOut">
              <a:rPr lang="en-IN" smtClean="0"/>
              <a:t>28-09-2025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60AA61-56D5-4267-A2CA-7B717022D8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2021723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962" y="1818214"/>
            <a:ext cx="3339972" cy="1847851"/>
          </a:xfrm>
          <a:prstGeom prst="rect">
            <a:avLst/>
          </a:prstGeom>
        </p:spPr>
      </p:pic>
      <p:pic>
        <p:nvPicPr>
          <p:cNvPr id="36" name="Picture 35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3800" y="1818214"/>
            <a:ext cx="3339972" cy="1847851"/>
          </a:xfrm>
          <a:prstGeom prst="rect">
            <a:avLst/>
          </a:prstGeom>
        </p:spPr>
      </p:pic>
      <p:pic>
        <p:nvPicPr>
          <p:cNvPr id="37" name="Picture 36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6051" y="1818214"/>
            <a:ext cx="3339972" cy="1847851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3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8102" y="1938918"/>
            <a:ext cx="3092368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480368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88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45743" y="1939094"/>
            <a:ext cx="3092368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435" y="4480367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697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75698" y="1934432"/>
            <a:ext cx="3092368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66572" y="4480365"/>
            <a:ext cx="3300984" cy="131083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70C16-CB02-44E1-8AF7-8DA3690E2582}" type="datetimeFigureOut">
              <a:rPr lang="en-IN" smtClean="0"/>
              <a:t>28-09-2025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60AA61-56D5-4267-A2CA-7B717022D8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1765488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70C16-CB02-44E1-8AF7-8DA3690E2582}" type="datetimeFigureOut">
              <a:rPr lang="en-IN" smtClean="0"/>
              <a:t>28-09-2025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60AA61-56D5-4267-A2CA-7B717022D8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6942950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83068" y="609599"/>
            <a:ext cx="228448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6" y="609599"/>
            <a:ext cx="7916872" cy="5181601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70C16-CB02-44E1-8AF7-8DA3690E2582}" type="datetimeFigureOut">
              <a:rPr lang="en-IN" smtClean="0"/>
              <a:t>28-09-2025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60AA61-56D5-4267-A2CA-7B717022D8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559197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1732449"/>
            <a:ext cx="10353762" cy="4058751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14170C16-CB02-44E1-8AF7-8DA3690E2582}" type="datetimeFigureOut">
              <a:rPr lang="en-IN" smtClean="0"/>
              <a:t>28-09-2025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5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4C60AA61-56D5-4267-A2CA-7B717022D8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3001788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2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72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8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102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138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1674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20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73D259-E713-5A6D-29FD-7FA3E5815C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2C12B50B-E4E5-3BAC-AADF-AB428801D8EE}"/>
              </a:ext>
            </a:extLst>
          </p:cNvPr>
          <p:cNvGrpSpPr/>
          <p:nvPr/>
        </p:nvGrpSpPr>
        <p:grpSpPr>
          <a:xfrm>
            <a:off x="1415039" y="1527065"/>
            <a:ext cx="9002349" cy="3126666"/>
            <a:chOff x="356212" y="-15846"/>
            <a:chExt cx="9002349" cy="3126666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C34F5DFC-C246-5839-92FC-B4FEAD22E573}"/>
                </a:ext>
              </a:extLst>
            </p:cNvPr>
            <p:cNvSpPr/>
            <p:nvPr/>
          </p:nvSpPr>
          <p:spPr>
            <a:xfrm>
              <a:off x="356212" y="-15846"/>
              <a:ext cx="3390673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  <a:scene3d>
                <a:camera prst="orthographicFront"/>
                <a:lightRig rig="threePt" dir="t"/>
              </a:scene3d>
              <a:sp3d extrusionH="57150">
                <a:bevelT w="57150" h="38100" prst="artDeco"/>
              </a:sp3d>
            </a:bodyPr>
            <a:lstStyle/>
            <a:p>
              <a:pPr algn="ctr"/>
              <a:r>
                <a:rPr lang="en-US" sz="5400" b="1" dirty="0">
                  <a:ln w="9525">
                    <a:solidFill>
                      <a:schemeClr val="bg1"/>
                    </a:solidFill>
                    <a:prstDash val="solid"/>
                  </a:ln>
                  <a:effectLst>
                    <a:outerShdw blurRad="12700" dist="38100" dir="2700000" algn="tl" rotWithShape="0">
                      <a:schemeClr val="bg1">
                        <a:lumMod val="50000"/>
                      </a:schemeClr>
                    </a:outerShdw>
                  </a:effectLst>
                  <a:latin typeface="Berlin Sans FB Demi" panose="020E0802020502020306" pitchFamily="34" charset="0"/>
                </a:rPr>
                <a:t>Data Flow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E31A2BA5-D2BB-71D1-5324-DB0DF0043D15}"/>
                </a:ext>
              </a:extLst>
            </p:cNvPr>
            <p:cNvSpPr txBox="1"/>
            <p:nvPr/>
          </p:nvSpPr>
          <p:spPr>
            <a:xfrm>
              <a:off x="356213" y="1341105"/>
              <a:ext cx="9002348" cy="176971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457200" indent="-457200">
                <a:spcBef>
                  <a:spcPts val="1800"/>
                </a:spcBef>
                <a:spcAft>
                  <a:spcPts val="1200"/>
                </a:spcAft>
                <a:buFont typeface="Wingdings" panose="05000000000000000000" pitchFamily="2" charset="2"/>
                <a:buChar char="q"/>
              </a:pPr>
              <a:r>
                <a:rPr lang="en-US" sz="2800" dirty="0">
                  <a:latin typeface="Book Antiqua" panose="02040602050305030304" pitchFamily="18" charset="0"/>
                </a:rPr>
                <a:t>React is all about data — how it moves from one component to another defines how your app works.</a:t>
              </a:r>
            </a:p>
            <a:p>
              <a:pPr marL="457200" indent="-457200">
                <a:spcBef>
                  <a:spcPts val="1800"/>
                </a:spcBef>
                <a:spcAft>
                  <a:spcPts val="1200"/>
                </a:spcAft>
                <a:buFont typeface="Wingdings" panose="05000000000000000000" pitchFamily="2" charset="2"/>
                <a:buChar char="q"/>
              </a:pPr>
              <a:r>
                <a:rPr lang="en-US" sz="2800" dirty="0"/>
                <a:t>React follows one-way data flow (top → down).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9540114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759582-9562-8874-15D5-4A606A955B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940DFFAF-54BB-1D0B-ED88-4449B483AF94}"/>
              </a:ext>
            </a:extLst>
          </p:cNvPr>
          <p:cNvSpPr/>
          <p:nvPr/>
        </p:nvSpPr>
        <p:spPr>
          <a:xfrm>
            <a:off x="709142" y="2119209"/>
            <a:ext cx="10773715" cy="1862048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orthographicFront"/>
              <a:lightRig rig="threePt" dir="t"/>
            </a:scene3d>
            <a:sp3d extrusionH="57150">
              <a:bevelT w="57150" h="38100" prst="artDeco"/>
            </a:sp3d>
          </a:bodyPr>
          <a:lstStyle/>
          <a:p>
            <a:pPr algn="ctr">
              <a:spcAft>
                <a:spcPts val="4200"/>
              </a:spcAft>
            </a:pPr>
            <a:r>
              <a:rPr lang="en-US" sz="40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Berlin Sans FB Demi" panose="020E0802020502020306" pitchFamily="34" charset="0"/>
              </a:rPr>
              <a:t>Natural: Parent ---&gt; Child (Props)</a:t>
            </a:r>
          </a:p>
          <a:p>
            <a:pPr algn="ctr">
              <a:spcAft>
                <a:spcPts val="4200"/>
              </a:spcAft>
            </a:pPr>
            <a:r>
              <a:rPr lang="en-US" sz="40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Berlin Sans FB Demi" panose="020E0802020502020306" pitchFamily="34" charset="0"/>
              </a:rPr>
              <a:t>Forceful: Child ---&gt; Parent (via function props)</a:t>
            </a:r>
          </a:p>
        </p:txBody>
      </p:sp>
    </p:spTree>
    <p:extLst>
      <p:ext uri="{BB962C8B-B14F-4D97-AF65-F5344CB8AC3E}">
        <p14:creationId xmlns:p14="http://schemas.microsoft.com/office/powerpoint/2010/main" val="11189511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853C73-0613-EC18-A3C7-A39EA3AAF2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2E3391A5-60ED-6351-9B45-4D97D825806B}"/>
              </a:ext>
            </a:extLst>
          </p:cNvPr>
          <p:cNvGrpSpPr/>
          <p:nvPr/>
        </p:nvGrpSpPr>
        <p:grpSpPr>
          <a:xfrm>
            <a:off x="901841" y="1323410"/>
            <a:ext cx="10388318" cy="3897451"/>
            <a:chOff x="297815" y="-77261"/>
            <a:chExt cx="10388318" cy="3897451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83BC9A95-5913-C25F-E484-E35850062A69}"/>
                </a:ext>
              </a:extLst>
            </p:cNvPr>
            <p:cNvSpPr/>
            <p:nvPr/>
          </p:nvSpPr>
          <p:spPr>
            <a:xfrm>
              <a:off x="297815" y="-77261"/>
              <a:ext cx="9539791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  <a:scene3d>
                <a:camera prst="orthographicFront"/>
                <a:lightRig rig="threePt" dir="t"/>
              </a:scene3d>
              <a:sp3d extrusionH="57150">
                <a:bevelT w="57150" h="38100" prst="artDeco"/>
              </a:sp3d>
            </a:bodyPr>
            <a:lstStyle/>
            <a:p>
              <a:pPr algn="ctr"/>
              <a:r>
                <a:rPr lang="en-US" sz="5400" b="1" dirty="0">
                  <a:ln w="9525">
                    <a:solidFill>
                      <a:schemeClr val="bg1"/>
                    </a:solidFill>
                    <a:prstDash val="solid"/>
                  </a:ln>
                  <a:effectLst>
                    <a:outerShdw blurRad="12700" dist="38100" dir="2700000" algn="tl" rotWithShape="0">
                      <a:schemeClr val="bg1">
                        <a:lumMod val="50000"/>
                      </a:schemeClr>
                    </a:outerShdw>
                  </a:effectLst>
                  <a:latin typeface="Berlin Sans FB Demi" panose="020E0802020502020306" pitchFamily="34" charset="0"/>
                </a:rPr>
                <a:t>Natural Flow : Parent </a:t>
              </a:r>
              <a:r>
                <a:rPr lang="en-US" sz="5400" b="1" dirty="0">
                  <a:ln w="9525">
                    <a:solidFill>
                      <a:schemeClr val="bg1"/>
                    </a:solidFill>
                    <a:prstDash val="solid"/>
                  </a:ln>
                  <a:effectLst>
                    <a:outerShdw blurRad="12700" dist="38100" dir="2700000" algn="tl" rotWithShape="0">
                      <a:schemeClr val="bg1">
                        <a:lumMod val="50000"/>
                      </a:schemeClr>
                    </a:outerShdw>
                  </a:effectLst>
                  <a:latin typeface="Berlin Sans FB Demi" panose="020E0802020502020306" pitchFamily="34" charset="0"/>
                  <a:sym typeface="Wingdings" panose="05000000000000000000" pitchFamily="2" charset="2"/>
                </a:rPr>
                <a:t> Child</a:t>
              </a:r>
              <a:endParaRPr lang="en-US" sz="54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Berlin Sans FB Demi" panose="020E0802020502020306" pitchFamily="34" charset="0"/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3C8BBB0D-5F23-5ABD-D51B-D8C26D8C5DD1}"/>
                </a:ext>
              </a:extLst>
            </p:cNvPr>
            <p:cNvSpPr txBox="1"/>
            <p:nvPr/>
          </p:nvSpPr>
          <p:spPr>
            <a:xfrm>
              <a:off x="349439" y="1234867"/>
              <a:ext cx="10336694" cy="2585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457200" indent="-457200">
                <a:spcBef>
                  <a:spcPts val="1800"/>
                </a:spcBef>
                <a:spcAft>
                  <a:spcPts val="1200"/>
                </a:spcAft>
                <a:buFont typeface="Wingdings" panose="05000000000000000000" pitchFamily="2" charset="2"/>
                <a:buChar char="q"/>
              </a:pPr>
              <a:r>
                <a:rPr lang="en-US" sz="2800" dirty="0">
                  <a:latin typeface="Book Antiqua" panose="02040602050305030304" pitchFamily="18" charset="0"/>
                </a:rPr>
                <a:t>React is designed with one-way data binding: data goes from top (parent) → down (child).</a:t>
              </a:r>
            </a:p>
            <a:p>
              <a:pPr marL="457200" indent="-457200">
                <a:spcBef>
                  <a:spcPts val="1800"/>
                </a:spcBef>
                <a:spcAft>
                  <a:spcPts val="1200"/>
                </a:spcAft>
                <a:buFont typeface="Wingdings" panose="05000000000000000000" pitchFamily="2" charset="2"/>
                <a:buChar char="q"/>
              </a:pPr>
              <a:r>
                <a:rPr lang="en-US" sz="2800" dirty="0">
                  <a:latin typeface="Book Antiqua" panose="02040602050305030304" pitchFamily="18" charset="0"/>
                </a:rPr>
                <a:t>This is the default and "natural" direction of data flow.</a:t>
              </a:r>
            </a:p>
            <a:p>
              <a:pPr marL="457200" indent="-457200">
                <a:spcBef>
                  <a:spcPts val="1800"/>
                </a:spcBef>
                <a:spcAft>
                  <a:spcPts val="1200"/>
                </a:spcAft>
                <a:buFont typeface="Wingdings" panose="05000000000000000000" pitchFamily="2" charset="2"/>
                <a:buChar char="q"/>
              </a:pPr>
              <a:r>
                <a:rPr lang="en-US" sz="2800" dirty="0">
                  <a:latin typeface="Book Antiqua" panose="02040602050305030304" pitchFamily="18" charset="0"/>
                </a:rPr>
                <a:t>Example: Props are the natural way of passing data.</a:t>
              </a:r>
              <a:endParaRPr lang="en-US" sz="2800" dirty="0"/>
            </a:p>
          </p:txBody>
        </p:sp>
      </p:grpSp>
    </p:spTree>
    <p:extLst>
      <p:ext uri="{BB962C8B-B14F-4D97-AF65-F5344CB8AC3E}">
        <p14:creationId xmlns:p14="http://schemas.microsoft.com/office/powerpoint/2010/main" val="34933167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6F058A-FBAA-7D38-F4C9-20E9FD1224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AABDEF14-5625-4E46-10B6-9285C3962542}"/>
              </a:ext>
            </a:extLst>
          </p:cNvPr>
          <p:cNvGrpSpPr/>
          <p:nvPr/>
        </p:nvGrpSpPr>
        <p:grpSpPr>
          <a:xfrm>
            <a:off x="737784" y="493667"/>
            <a:ext cx="10250759" cy="5723707"/>
            <a:chOff x="527811" y="473347"/>
            <a:chExt cx="10250759" cy="5723707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9F9C7D9A-9346-2C59-3B06-B81039C5B772}"/>
                </a:ext>
              </a:extLst>
            </p:cNvPr>
            <p:cNvGrpSpPr/>
            <p:nvPr/>
          </p:nvGrpSpPr>
          <p:grpSpPr>
            <a:xfrm>
              <a:off x="527811" y="473347"/>
              <a:ext cx="10250759" cy="4278087"/>
              <a:chOff x="295331" y="-152323"/>
              <a:chExt cx="10250759" cy="4278087"/>
            </a:xfrm>
          </p:grpSpPr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A3EB9751-4948-79BD-E67B-64956DCF86EF}"/>
                  </a:ext>
                </a:extLst>
              </p:cNvPr>
              <p:cNvSpPr/>
              <p:nvPr/>
            </p:nvSpPr>
            <p:spPr>
              <a:xfrm>
                <a:off x="295331" y="-152323"/>
                <a:ext cx="9533379" cy="923330"/>
              </a:xfrm>
              <a:prstGeom prst="rect">
                <a:avLst/>
              </a:prstGeom>
              <a:noFill/>
            </p:spPr>
            <p:txBody>
              <a:bodyPr wrap="none" lIns="91440" tIns="45720" rIns="91440" bIns="45720">
                <a:spAutoFit/>
                <a:scene3d>
                  <a:camera prst="orthographicFront"/>
                  <a:lightRig rig="threePt" dir="t"/>
                </a:scene3d>
                <a:sp3d extrusionH="57150">
                  <a:bevelT w="57150" h="38100" prst="artDeco"/>
                </a:sp3d>
              </a:bodyPr>
              <a:lstStyle/>
              <a:p>
                <a:pPr algn="ctr"/>
                <a:r>
                  <a:rPr lang="en-US" sz="5400" b="1" dirty="0">
                    <a:ln w="9525">
                      <a:solidFill>
                        <a:schemeClr val="bg1"/>
                      </a:solidFill>
                      <a:prstDash val="solid"/>
                    </a:ln>
                    <a:effectLst>
                      <a:outerShdw blurRad="12700" dist="38100" dir="2700000" algn="tl" rotWithShape="0">
                        <a:schemeClr val="bg1">
                          <a:lumMod val="50000"/>
                        </a:schemeClr>
                      </a:outerShdw>
                    </a:effectLst>
                    <a:latin typeface="Berlin Sans FB Demi" panose="020E0802020502020306" pitchFamily="34" charset="0"/>
                  </a:rPr>
                  <a:t>Forceful Flow : Child to Parent</a:t>
                </a:r>
              </a:p>
            </p:txBody>
          </p:sp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77B9102-9397-C1AC-CAF8-2DAFA14E0EC5}"/>
                  </a:ext>
                </a:extLst>
              </p:cNvPr>
              <p:cNvSpPr txBox="1"/>
              <p:nvPr/>
            </p:nvSpPr>
            <p:spPr>
              <a:xfrm>
                <a:off x="295331" y="1109554"/>
                <a:ext cx="10250759" cy="30162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spcBef>
                    <a:spcPts val="1800"/>
                  </a:spcBef>
                  <a:spcAft>
                    <a:spcPts val="1200"/>
                  </a:spcAft>
                  <a:buFont typeface="Wingdings" panose="05000000000000000000" pitchFamily="2" charset="2"/>
                  <a:buChar char="q"/>
                </a:pPr>
                <a:r>
                  <a:rPr lang="en-US" sz="2800" dirty="0">
                    <a:latin typeface="Book Antiqua" panose="02040602050305030304" pitchFamily="18" charset="0"/>
                  </a:rPr>
                  <a:t>Children can’t directly change the parent’s data (because props are read-only).</a:t>
                </a:r>
              </a:p>
              <a:p>
                <a:pPr marL="457200" indent="-457200">
                  <a:spcBef>
                    <a:spcPts val="1800"/>
                  </a:spcBef>
                  <a:spcAft>
                    <a:spcPts val="1200"/>
                  </a:spcAft>
                  <a:buFont typeface="Wingdings" panose="05000000000000000000" pitchFamily="2" charset="2"/>
                  <a:buChar char="q"/>
                </a:pPr>
                <a:r>
                  <a:rPr lang="en-US" sz="2800" dirty="0">
                    <a:latin typeface="Book Antiqua" panose="02040602050305030304" pitchFamily="18" charset="0"/>
                  </a:rPr>
                  <a:t>To send data back, we need to force a way → usually by passing down a callback function.</a:t>
                </a:r>
              </a:p>
              <a:p>
                <a:pPr marL="457200" indent="-457200">
                  <a:spcBef>
                    <a:spcPts val="1800"/>
                  </a:spcBef>
                  <a:spcAft>
                    <a:spcPts val="1200"/>
                  </a:spcAft>
                  <a:buFont typeface="Wingdings" panose="05000000000000000000" pitchFamily="2" charset="2"/>
                  <a:buChar char="q"/>
                </a:pPr>
                <a:r>
                  <a:rPr lang="en-US" sz="2800" dirty="0">
                    <a:latin typeface="Book Antiqua" panose="02040602050305030304" pitchFamily="18" charset="0"/>
                  </a:rPr>
                  <a:t>That’s why it feels "forceful" or "indirect".</a:t>
                </a:r>
                <a:endParaRPr lang="en-US" sz="2800" dirty="0"/>
              </a:p>
            </p:txBody>
          </p:sp>
        </p:grp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0056CC5A-F9D2-F64C-7F88-6546D1F4768E}"/>
                </a:ext>
              </a:extLst>
            </p:cNvPr>
            <p:cNvSpPr txBox="1"/>
            <p:nvPr/>
          </p:nvSpPr>
          <p:spPr>
            <a:xfrm>
              <a:off x="609989" y="5198355"/>
              <a:ext cx="8574784" cy="998699"/>
            </a:xfrm>
            <a:custGeom>
              <a:avLst/>
              <a:gdLst>
                <a:gd name="connsiteX0" fmla="*/ 0 w 8574784"/>
                <a:gd name="connsiteY0" fmla="*/ 0 h 998699"/>
                <a:gd name="connsiteX1" fmla="*/ 485904 w 8574784"/>
                <a:gd name="connsiteY1" fmla="*/ 0 h 998699"/>
                <a:gd name="connsiteX2" fmla="*/ 800313 w 8574784"/>
                <a:gd name="connsiteY2" fmla="*/ 0 h 998699"/>
                <a:gd name="connsiteX3" fmla="*/ 1543461 w 8574784"/>
                <a:gd name="connsiteY3" fmla="*/ 0 h 998699"/>
                <a:gd name="connsiteX4" fmla="*/ 2029366 w 8574784"/>
                <a:gd name="connsiteY4" fmla="*/ 0 h 998699"/>
                <a:gd name="connsiteX5" fmla="*/ 2515270 w 8574784"/>
                <a:gd name="connsiteY5" fmla="*/ 0 h 998699"/>
                <a:gd name="connsiteX6" fmla="*/ 3258418 w 8574784"/>
                <a:gd name="connsiteY6" fmla="*/ 0 h 998699"/>
                <a:gd name="connsiteX7" fmla="*/ 3658575 w 8574784"/>
                <a:gd name="connsiteY7" fmla="*/ 0 h 998699"/>
                <a:gd name="connsiteX8" fmla="*/ 4401722 w 8574784"/>
                <a:gd name="connsiteY8" fmla="*/ 0 h 998699"/>
                <a:gd name="connsiteX9" fmla="*/ 5144870 w 8574784"/>
                <a:gd name="connsiteY9" fmla="*/ 0 h 998699"/>
                <a:gd name="connsiteX10" fmla="*/ 5716523 w 8574784"/>
                <a:gd name="connsiteY10" fmla="*/ 0 h 998699"/>
                <a:gd name="connsiteX11" fmla="*/ 6459671 w 8574784"/>
                <a:gd name="connsiteY11" fmla="*/ 0 h 998699"/>
                <a:gd name="connsiteX12" fmla="*/ 6945575 w 8574784"/>
                <a:gd name="connsiteY12" fmla="*/ 0 h 998699"/>
                <a:gd name="connsiteX13" fmla="*/ 7431479 w 8574784"/>
                <a:gd name="connsiteY13" fmla="*/ 0 h 998699"/>
                <a:gd name="connsiteX14" fmla="*/ 8088880 w 8574784"/>
                <a:gd name="connsiteY14" fmla="*/ 0 h 998699"/>
                <a:gd name="connsiteX15" fmla="*/ 8574784 w 8574784"/>
                <a:gd name="connsiteY15" fmla="*/ 0 h 998699"/>
                <a:gd name="connsiteX16" fmla="*/ 8574784 w 8574784"/>
                <a:gd name="connsiteY16" fmla="*/ 519323 h 998699"/>
                <a:gd name="connsiteX17" fmla="*/ 8574784 w 8574784"/>
                <a:gd name="connsiteY17" fmla="*/ 998699 h 998699"/>
                <a:gd name="connsiteX18" fmla="*/ 7917384 w 8574784"/>
                <a:gd name="connsiteY18" fmla="*/ 998699 h 998699"/>
                <a:gd name="connsiteX19" fmla="*/ 7602975 w 8574784"/>
                <a:gd name="connsiteY19" fmla="*/ 998699 h 998699"/>
                <a:gd name="connsiteX20" fmla="*/ 7202819 w 8574784"/>
                <a:gd name="connsiteY20" fmla="*/ 998699 h 998699"/>
                <a:gd name="connsiteX21" fmla="*/ 6459671 w 8574784"/>
                <a:gd name="connsiteY21" fmla="*/ 998699 h 998699"/>
                <a:gd name="connsiteX22" fmla="*/ 5888018 w 8574784"/>
                <a:gd name="connsiteY22" fmla="*/ 998699 h 998699"/>
                <a:gd name="connsiteX23" fmla="*/ 5487862 w 8574784"/>
                <a:gd name="connsiteY23" fmla="*/ 998699 h 998699"/>
                <a:gd name="connsiteX24" fmla="*/ 4916209 w 8574784"/>
                <a:gd name="connsiteY24" fmla="*/ 998699 h 998699"/>
                <a:gd name="connsiteX25" fmla="*/ 4601801 w 8574784"/>
                <a:gd name="connsiteY25" fmla="*/ 998699 h 998699"/>
                <a:gd name="connsiteX26" fmla="*/ 4287392 w 8574784"/>
                <a:gd name="connsiteY26" fmla="*/ 998699 h 998699"/>
                <a:gd name="connsiteX27" fmla="*/ 3715740 w 8574784"/>
                <a:gd name="connsiteY27" fmla="*/ 998699 h 998699"/>
                <a:gd name="connsiteX28" fmla="*/ 3315583 w 8574784"/>
                <a:gd name="connsiteY28" fmla="*/ 998699 h 998699"/>
                <a:gd name="connsiteX29" fmla="*/ 2658183 w 8574784"/>
                <a:gd name="connsiteY29" fmla="*/ 998699 h 998699"/>
                <a:gd name="connsiteX30" fmla="*/ 2258026 w 8574784"/>
                <a:gd name="connsiteY30" fmla="*/ 998699 h 998699"/>
                <a:gd name="connsiteX31" fmla="*/ 1600626 w 8574784"/>
                <a:gd name="connsiteY31" fmla="*/ 998699 h 998699"/>
                <a:gd name="connsiteX32" fmla="*/ 1286218 w 8574784"/>
                <a:gd name="connsiteY32" fmla="*/ 998699 h 998699"/>
                <a:gd name="connsiteX33" fmla="*/ 628817 w 8574784"/>
                <a:gd name="connsiteY33" fmla="*/ 998699 h 998699"/>
                <a:gd name="connsiteX34" fmla="*/ 0 w 8574784"/>
                <a:gd name="connsiteY34" fmla="*/ 998699 h 998699"/>
                <a:gd name="connsiteX35" fmla="*/ 0 w 8574784"/>
                <a:gd name="connsiteY35" fmla="*/ 529310 h 998699"/>
                <a:gd name="connsiteX36" fmla="*/ 0 w 8574784"/>
                <a:gd name="connsiteY36" fmla="*/ 0 h 9986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8574784" h="998699" extrusionOk="0">
                  <a:moveTo>
                    <a:pt x="0" y="0"/>
                  </a:moveTo>
                  <a:cubicBezTo>
                    <a:pt x="181566" y="-8791"/>
                    <a:pt x="371772" y="18557"/>
                    <a:pt x="485904" y="0"/>
                  </a:cubicBezTo>
                  <a:cubicBezTo>
                    <a:pt x="600036" y="-18557"/>
                    <a:pt x="726216" y="20391"/>
                    <a:pt x="800313" y="0"/>
                  </a:cubicBezTo>
                  <a:cubicBezTo>
                    <a:pt x="874410" y="-20391"/>
                    <a:pt x="1367116" y="52276"/>
                    <a:pt x="1543461" y="0"/>
                  </a:cubicBezTo>
                  <a:cubicBezTo>
                    <a:pt x="1719806" y="-52276"/>
                    <a:pt x="1901835" y="19339"/>
                    <a:pt x="2029366" y="0"/>
                  </a:cubicBezTo>
                  <a:cubicBezTo>
                    <a:pt x="2156898" y="-19339"/>
                    <a:pt x="2369805" y="38269"/>
                    <a:pt x="2515270" y="0"/>
                  </a:cubicBezTo>
                  <a:cubicBezTo>
                    <a:pt x="2660735" y="-38269"/>
                    <a:pt x="2987742" y="27686"/>
                    <a:pt x="3258418" y="0"/>
                  </a:cubicBezTo>
                  <a:cubicBezTo>
                    <a:pt x="3529094" y="-27686"/>
                    <a:pt x="3504110" y="123"/>
                    <a:pt x="3658575" y="0"/>
                  </a:cubicBezTo>
                  <a:cubicBezTo>
                    <a:pt x="3813040" y="-123"/>
                    <a:pt x="4104661" y="1977"/>
                    <a:pt x="4401722" y="0"/>
                  </a:cubicBezTo>
                  <a:cubicBezTo>
                    <a:pt x="4698783" y="-1977"/>
                    <a:pt x="4940981" y="29133"/>
                    <a:pt x="5144870" y="0"/>
                  </a:cubicBezTo>
                  <a:cubicBezTo>
                    <a:pt x="5348759" y="-29133"/>
                    <a:pt x="5500306" y="57324"/>
                    <a:pt x="5716523" y="0"/>
                  </a:cubicBezTo>
                  <a:cubicBezTo>
                    <a:pt x="5932740" y="-57324"/>
                    <a:pt x="6124892" y="55235"/>
                    <a:pt x="6459671" y="0"/>
                  </a:cubicBezTo>
                  <a:cubicBezTo>
                    <a:pt x="6794450" y="-55235"/>
                    <a:pt x="6831952" y="12878"/>
                    <a:pt x="6945575" y="0"/>
                  </a:cubicBezTo>
                  <a:cubicBezTo>
                    <a:pt x="7059198" y="-12878"/>
                    <a:pt x="7193547" y="39511"/>
                    <a:pt x="7431479" y="0"/>
                  </a:cubicBezTo>
                  <a:cubicBezTo>
                    <a:pt x="7669411" y="-39511"/>
                    <a:pt x="7856464" y="68674"/>
                    <a:pt x="8088880" y="0"/>
                  </a:cubicBezTo>
                  <a:cubicBezTo>
                    <a:pt x="8321296" y="-68674"/>
                    <a:pt x="8345933" y="34940"/>
                    <a:pt x="8574784" y="0"/>
                  </a:cubicBezTo>
                  <a:cubicBezTo>
                    <a:pt x="8634827" y="248495"/>
                    <a:pt x="8566675" y="305821"/>
                    <a:pt x="8574784" y="519323"/>
                  </a:cubicBezTo>
                  <a:cubicBezTo>
                    <a:pt x="8582893" y="732825"/>
                    <a:pt x="8525349" y="760855"/>
                    <a:pt x="8574784" y="998699"/>
                  </a:cubicBezTo>
                  <a:cubicBezTo>
                    <a:pt x="8338599" y="1030886"/>
                    <a:pt x="8173760" y="935273"/>
                    <a:pt x="7917384" y="998699"/>
                  </a:cubicBezTo>
                  <a:cubicBezTo>
                    <a:pt x="7661008" y="1062125"/>
                    <a:pt x="7705796" y="966341"/>
                    <a:pt x="7602975" y="998699"/>
                  </a:cubicBezTo>
                  <a:cubicBezTo>
                    <a:pt x="7500154" y="1031057"/>
                    <a:pt x="7367779" y="979832"/>
                    <a:pt x="7202819" y="998699"/>
                  </a:cubicBezTo>
                  <a:cubicBezTo>
                    <a:pt x="7037859" y="1017566"/>
                    <a:pt x="6704054" y="950741"/>
                    <a:pt x="6459671" y="998699"/>
                  </a:cubicBezTo>
                  <a:cubicBezTo>
                    <a:pt x="6215288" y="1046657"/>
                    <a:pt x="6060216" y="960321"/>
                    <a:pt x="5888018" y="998699"/>
                  </a:cubicBezTo>
                  <a:cubicBezTo>
                    <a:pt x="5715820" y="1037077"/>
                    <a:pt x="5663864" y="987399"/>
                    <a:pt x="5487862" y="998699"/>
                  </a:cubicBezTo>
                  <a:cubicBezTo>
                    <a:pt x="5311860" y="1009999"/>
                    <a:pt x="5104512" y="994896"/>
                    <a:pt x="4916209" y="998699"/>
                  </a:cubicBezTo>
                  <a:cubicBezTo>
                    <a:pt x="4727906" y="1002502"/>
                    <a:pt x="4668927" y="988121"/>
                    <a:pt x="4601801" y="998699"/>
                  </a:cubicBezTo>
                  <a:cubicBezTo>
                    <a:pt x="4534675" y="1009277"/>
                    <a:pt x="4403688" y="971486"/>
                    <a:pt x="4287392" y="998699"/>
                  </a:cubicBezTo>
                  <a:cubicBezTo>
                    <a:pt x="4171096" y="1025912"/>
                    <a:pt x="3885898" y="993259"/>
                    <a:pt x="3715740" y="998699"/>
                  </a:cubicBezTo>
                  <a:cubicBezTo>
                    <a:pt x="3545582" y="1004139"/>
                    <a:pt x="3471515" y="951629"/>
                    <a:pt x="3315583" y="998699"/>
                  </a:cubicBezTo>
                  <a:cubicBezTo>
                    <a:pt x="3159651" y="1045769"/>
                    <a:pt x="2813015" y="973338"/>
                    <a:pt x="2658183" y="998699"/>
                  </a:cubicBezTo>
                  <a:cubicBezTo>
                    <a:pt x="2503351" y="1024060"/>
                    <a:pt x="2387612" y="952725"/>
                    <a:pt x="2258026" y="998699"/>
                  </a:cubicBezTo>
                  <a:cubicBezTo>
                    <a:pt x="2128440" y="1044673"/>
                    <a:pt x="1756275" y="977813"/>
                    <a:pt x="1600626" y="998699"/>
                  </a:cubicBezTo>
                  <a:cubicBezTo>
                    <a:pt x="1444977" y="1019585"/>
                    <a:pt x="1415700" y="982730"/>
                    <a:pt x="1286218" y="998699"/>
                  </a:cubicBezTo>
                  <a:cubicBezTo>
                    <a:pt x="1156736" y="1014668"/>
                    <a:pt x="778351" y="931950"/>
                    <a:pt x="628817" y="998699"/>
                  </a:cubicBezTo>
                  <a:cubicBezTo>
                    <a:pt x="479283" y="1065448"/>
                    <a:pt x="194815" y="972713"/>
                    <a:pt x="0" y="998699"/>
                  </a:cubicBezTo>
                  <a:cubicBezTo>
                    <a:pt x="-33601" y="808193"/>
                    <a:pt x="12511" y="717725"/>
                    <a:pt x="0" y="529310"/>
                  </a:cubicBezTo>
                  <a:cubicBezTo>
                    <a:pt x="-12511" y="340895"/>
                    <a:pt x="29714" y="130379"/>
                    <a:pt x="0" y="0"/>
                  </a:cubicBezTo>
                  <a:close/>
                </a:path>
              </a:pathLst>
            </a:custGeom>
            <a:noFill/>
            <a:ln>
              <a:solidFill>
                <a:srgbClr val="FFFF00"/>
              </a:solidFill>
              <a:extLst>
                <a:ext uri="{C807C97D-BFC1-408E-A445-0C87EB9F89A2}">
                  <ask:lineSketchStyleProps xmlns:ask="http://schemas.microsoft.com/office/drawing/2018/sketchyshapes" sd="1219033472">
                    <a:prstGeom prst="rect">
                      <a:avLst/>
                    </a:pr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wrap="none" lIns="252000" tIns="144000" rIns="252000" bIns="144000" rtlCol="0">
              <a:spAutoFit/>
            </a:bodyPr>
            <a:lstStyle/>
            <a:p>
              <a:pPr>
                <a:spcAft>
                  <a:spcPts val="1200"/>
                </a:spcAft>
              </a:pPr>
              <a:r>
                <a:rPr lang="en-US" b="1" dirty="0">
                  <a:solidFill>
                    <a:srgbClr val="FFFF00"/>
                  </a:solidFill>
                </a:rPr>
                <a:t>Note:</a:t>
              </a:r>
            </a:p>
            <a:p>
              <a:r>
                <a:rPr lang="en-US" dirty="0"/>
                <a:t>In React docs, we don’t officially call it ‘forceful flow’. It’s just for teaching purpose</a:t>
              </a:r>
              <a:endParaRPr lang="en-IN" dirty="0"/>
            </a:p>
          </p:txBody>
        </p:sp>
      </p:grpSp>
    </p:spTree>
    <p:extLst>
      <p:ext uri="{BB962C8B-B14F-4D97-AF65-F5344CB8AC3E}">
        <p14:creationId xmlns:p14="http://schemas.microsoft.com/office/powerpoint/2010/main" val="36038609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67777F-5C6E-BDEE-4402-C8D995F192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FACAFF1-F3A2-5068-6231-ABBA9C8BF377}"/>
              </a:ext>
            </a:extLst>
          </p:cNvPr>
          <p:cNvSpPr/>
          <p:nvPr/>
        </p:nvSpPr>
        <p:spPr>
          <a:xfrm>
            <a:off x="2541330" y="1259175"/>
            <a:ext cx="7109340" cy="433965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orthographicFront"/>
              <a:lightRig rig="threePt" dir="t"/>
            </a:scene3d>
            <a:sp3d extrusionH="57150">
              <a:bevelT w="57150" h="38100" prst="artDeco"/>
            </a:sp3d>
          </a:bodyPr>
          <a:lstStyle/>
          <a:p>
            <a:pPr algn="ctr"/>
            <a:r>
              <a:rPr lang="en-US" sz="138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Berlin Sans FB Demi" panose="020E0802020502020306" pitchFamily="34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7204666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late">
  <a:themeElements>
    <a:clrScheme name="Slate">
      <a:dk1>
        <a:sysClr val="windowText" lastClr="000000"/>
      </a:dk1>
      <a:lt1>
        <a:sysClr val="window" lastClr="FFFFFF"/>
      </a:lt1>
      <a:dk2>
        <a:srgbClr val="212123"/>
      </a:dk2>
      <a:lt2>
        <a:srgbClr val="DADADA"/>
      </a:lt2>
      <a:accent1>
        <a:srgbClr val="BC451B"/>
      </a:accent1>
      <a:accent2>
        <a:srgbClr val="D3BA68"/>
      </a:accent2>
      <a:accent3>
        <a:srgbClr val="BB8640"/>
      </a:accent3>
      <a:accent4>
        <a:srgbClr val="AD9277"/>
      </a:accent4>
      <a:accent5>
        <a:srgbClr val="A55A43"/>
      </a:accent5>
      <a:accent6>
        <a:srgbClr val="AD9D7B"/>
      </a:accent6>
      <a:hlink>
        <a:srgbClr val="E98052"/>
      </a:hlink>
      <a:folHlink>
        <a:srgbClr val="F4B69B"/>
      </a:folHlink>
    </a:clrScheme>
    <a:fontScheme name="Slate">
      <a:maj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Milk Glass">
      <a:fillStyleLst>
        <a:solidFill>
          <a:schemeClr val="phClr"/>
        </a:solidFill>
        <a:gradFill rotWithShape="1">
          <a:gsLst>
            <a:gs pos="0">
              <a:schemeClr val="phClr">
                <a:tint val="15000"/>
                <a:satMod val="250000"/>
              </a:schemeClr>
            </a:gs>
            <a:gs pos="49000">
              <a:schemeClr val="phClr">
                <a:tint val="50000"/>
                <a:satMod val="200000"/>
              </a:schemeClr>
            </a:gs>
            <a:gs pos="49100">
              <a:schemeClr val="phClr">
                <a:tint val="64000"/>
                <a:satMod val="160000"/>
              </a:schemeClr>
            </a:gs>
            <a:gs pos="92000">
              <a:schemeClr val="phClr">
                <a:tint val="50000"/>
                <a:satMod val="200000"/>
              </a:schemeClr>
            </a:gs>
            <a:gs pos="100000">
              <a:schemeClr val="phClr">
                <a:tint val="43000"/>
                <a:satMod val="190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74000"/>
              </a:schemeClr>
            </a:gs>
            <a:gs pos="49000">
              <a:schemeClr val="phClr">
                <a:tint val="96000"/>
                <a:shade val="84000"/>
                <a:satMod val="110000"/>
              </a:schemeClr>
            </a:gs>
            <a:gs pos="49100">
              <a:schemeClr val="phClr">
                <a:shade val="55000"/>
                <a:satMod val="150000"/>
              </a:schemeClr>
            </a:gs>
            <a:gs pos="92000">
              <a:schemeClr val="phClr">
                <a:tint val="98000"/>
                <a:shade val="90000"/>
                <a:satMod val="128000"/>
              </a:schemeClr>
            </a:gs>
            <a:gs pos="100000">
              <a:schemeClr val="phClr">
                <a:tint val="90000"/>
                <a:shade val="97000"/>
                <a:satMod val="128000"/>
              </a:schemeClr>
            </a:gs>
          </a:gsLst>
          <a:lin ang="5400000" scaled="1"/>
        </a:gradFill>
      </a:fillStyleLst>
      <a:lnStyleLst>
        <a:ln w="11430" cap="flat" cmpd="sng" algn="ctr">
          <a:solidFill>
            <a:schemeClr val="phClr"/>
          </a:solidFill>
          <a:prstDash val="solid"/>
        </a:ln>
        <a:ln w="40000" cap="flat" cmpd="sng" algn="ctr">
          <a:solidFill>
            <a:schemeClr val="phClr"/>
          </a:solidFill>
          <a:prstDash val="solid"/>
        </a:ln>
        <a:ln w="318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000" dir="5400000" rotWithShape="0">
              <a:schemeClr val="phClr">
                <a:shade val="30000"/>
                <a:satMod val="150000"/>
                <a:alpha val="38000"/>
              </a:schemeClr>
            </a:outerShdw>
          </a:effectLst>
        </a:effectStyle>
        <a:effectStyle>
          <a:effectLst>
            <a:outerShdw blurRad="39000" dist="25400" dir="5400000" rotWithShape="0">
              <a:schemeClr val="phClr">
                <a:shade val="33000"/>
                <a:alpha val="83000"/>
              </a:schemeClr>
            </a:outerShdw>
          </a:effectLst>
        </a:effectStyle>
        <a:effectStyle>
          <a:effectLst>
            <a:outerShdw blurRad="39000" dist="25400" dir="5400000" rotWithShape="0">
              <a:schemeClr val="phClr">
                <a:shade val="33000"/>
                <a:alpha val="83000"/>
              </a:schemeClr>
            </a:outerShdw>
          </a:effectLst>
          <a:scene3d>
            <a:camera prst="orthographicFront" fov="0">
              <a:rot lat="0" lon="0" rev="0"/>
            </a:camera>
            <a:lightRig rig="contrasting" dir="t">
              <a:rot lat="0" lon="0" rev="1500000"/>
            </a:lightRig>
          </a:scene3d>
          <a:sp3d extrusionH="127000" prstMaterial="powder">
            <a:bevelT w="50800" h="63500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ate" id="{C3F70B94-7CE9-428E-ADC1-3269CC2C3385}" vid="{3F2DE9A5-64E6-437C-A389-CC4477E817E8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TM04033929[[fn=Slate]]</Template>
  <TotalTime>439</TotalTime>
  <Words>172</Words>
  <Application>Microsoft Office PowerPoint</Application>
  <PresentationFormat>Widescreen</PresentationFormat>
  <Paragraphs>16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1" baseType="lpstr">
      <vt:lpstr>Berlin Sans FB Demi</vt:lpstr>
      <vt:lpstr>Book Antiqua</vt:lpstr>
      <vt:lpstr>Calisto MT</vt:lpstr>
      <vt:lpstr>Wingdings</vt:lpstr>
      <vt:lpstr>Wingdings 2</vt:lpstr>
      <vt:lpstr>Slate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Manas Kumar Lal</dc:creator>
  <cp:lastModifiedBy>Manas Kumar Lal</cp:lastModifiedBy>
  <cp:revision>104</cp:revision>
  <dcterms:created xsi:type="dcterms:W3CDTF">2025-07-03T20:58:50Z</dcterms:created>
  <dcterms:modified xsi:type="dcterms:W3CDTF">2025-09-28T11:42:08Z</dcterms:modified>
</cp:coreProperties>
</file>