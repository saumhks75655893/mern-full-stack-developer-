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8" r:id="rId3"/>
    <p:sldId id="269" r:id="rId4"/>
    <p:sldId id="261" r:id="rId5"/>
    <p:sldId id="263" r:id="rId6"/>
    <p:sldId id="273" r:id="rId7"/>
    <p:sldId id="275" r:id="rId8"/>
    <p:sldId id="277" r:id="rId9"/>
    <p:sldId id="279" r:id="rId10"/>
    <p:sldId id="260" r:id="rId11"/>
    <p:sldId id="258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69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8AE3467-E55E-5F0D-928B-5B48844CC49B}"/>
              </a:ext>
            </a:extLst>
          </p:cNvPr>
          <p:cNvGrpSpPr/>
          <p:nvPr/>
        </p:nvGrpSpPr>
        <p:grpSpPr>
          <a:xfrm>
            <a:off x="1134552" y="836776"/>
            <a:ext cx="5400837" cy="5184447"/>
            <a:chOff x="529536" y="209440"/>
            <a:chExt cx="5400837" cy="518444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D7D82A1-2804-8602-84FC-1F5F5B698A28}"/>
                </a:ext>
              </a:extLst>
            </p:cNvPr>
            <p:cNvSpPr/>
            <p:nvPr/>
          </p:nvSpPr>
          <p:spPr>
            <a:xfrm>
              <a:off x="529536" y="209440"/>
              <a:ext cx="540083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Basics Of REACT: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850AF48-B8CE-9A87-B2DF-AF84EFC66F14}"/>
                </a:ext>
              </a:extLst>
            </p:cNvPr>
            <p:cNvSpPr txBox="1"/>
            <p:nvPr/>
          </p:nvSpPr>
          <p:spPr>
            <a:xfrm>
              <a:off x="584538" y="1362014"/>
              <a:ext cx="4647480" cy="4031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JSX (JavaScript XML)</a:t>
              </a:r>
            </a:p>
            <a:p>
              <a:pPr>
                <a:spcAft>
                  <a:spcPts val="1200"/>
                </a:spcAft>
              </a:pPr>
              <a:r>
                <a:rPr lang="en-IN" sz="2800" dirty="0">
                  <a:latin typeface="Book Antiqua" panose="02040602050305030304" pitchFamily="18" charset="0"/>
                </a:rPr>
                <a:t>Components</a:t>
              </a:r>
            </a:p>
            <a:p>
              <a:pPr>
                <a:spcAft>
                  <a:spcPts val="1200"/>
                </a:spcAft>
              </a:pPr>
              <a:r>
                <a:rPr lang="en-IN" sz="2800" dirty="0">
                  <a:latin typeface="Book Antiqua" panose="02040602050305030304" pitchFamily="18" charset="0"/>
                </a:rPr>
                <a:t>Props (Properties)</a:t>
              </a:r>
            </a:p>
            <a:p>
              <a:pPr>
                <a:spcAft>
                  <a:spcPts val="1200"/>
                </a:spcAft>
              </a:pPr>
              <a:r>
                <a:rPr lang="en-IN" sz="2800" dirty="0">
                  <a:latin typeface="Book Antiqua" panose="02040602050305030304" pitchFamily="18" charset="0"/>
                </a:rPr>
                <a:t>State</a:t>
              </a:r>
            </a:p>
            <a:p>
              <a:pPr>
                <a:spcAft>
                  <a:spcPts val="1200"/>
                </a:spcAft>
              </a:pPr>
              <a:r>
                <a:rPr lang="en-IN" sz="2800" dirty="0">
                  <a:latin typeface="Book Antiqua" panose="02040602050305030304" pitchFamily="18" charset="0"/>
                </a:rPr>
                <a:t>Data Flow</a:t>
              </a:r>
            </a:p>
            <a:p>
              <a:pPr>
                <a:spcAft>
                  <a:spcPts val="1200"/>
                </a:spcAft>
              </a:pPr>
              <a:r>
                <a:rPr lang="en-IN" sz="2800" dirty="0">
                  <a:latin typeface="Book Antiqua" panose="02040602050305030304" pitchFamily="18" charset="0"/>
                </a:rPr>
                <a:t>Hooks</a:t>
              </a:r>
            </a:p>
            <a:p>
              <a:pPr>
                <a:spcAft>
                  <a:spcPts val="1200"/>
                </a:spcAft>
              </a:pPr>
              <a:r>
                <a:rPr lang="en-IN" sz="2800" dirty="0">
                  <a:latin typeface="Book Antiqua" panose="02040602050305030304" pitchFamily="18" charset="0"/>
                </a:rPr>
                <a:t>Virtual DOM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C99D6-3B2A-5829-5EC2-5DAED2A3C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90F3F73-2BA4-BC7A-B12B-5FDE0E9EFF0F}"/>
              </a:ext>
            </a:extLst>
          </p:cNvPr>
          <p:cNvGrpSpPr/>
          <p:nvPr/>
        </p:nvGrpSpPr>
        <p:grpSpPr>
          <a:xfrm>
            <a:off x="1237680" y="1242412"/>
            <a:ext cx="6627536" cy="3714636"/>
            <a:chOff x="584538" y="140689"/>
            <a:chExt cx="6627536" cy="371463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62DEC93-1289-30B7-2353-6662BB190225}"/>
                </a:ext>
              </a:extLst>
            </p:cNvPr>
            <p:cNvSpPr/>
            <p:nvPr/>
          </p:nvSpPr>
          <p:spPr>
            <a:xfrm>
              <a:off x="584538" y="140689"/>
              <a:ext cx="653095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JSX (JavaScript XML)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0280E1B-817D-031F-EFAC-56A99836E4A3}"/>
                </a:ext>
              </a:extLst>
            </p:cNvPr>
            <p:cNvSpPr txBox="1"/>
            <p:nvPr/>
          </p:nvSpPr>
          <p:spPr>
            <a:xfrm>
              <a:off x="584538" y="1423890"/>
              <a:ext cx="6627536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400"/>
                </a:spcAft>
              </a:pPr>
              <a:r>
                <a:rPr lang="en-IN" sz="2800" dirty="0"/>
                <a:t>HTML inside JavaScript.</a:t>
              </a:r>
            </a:p>
            <a:p>
              <a:pPr>
                <a:spcAft>
                  <a:spcPts val="2400"/>
                </a:spcAft>
              </a:pPr>
              <a:r>
                <a:rPr lang="en-IN" sz="2800" dirty="0">
                  <a:latin typeface="Book Antiqua" panose="02040602050305030304" pitchFamily="18" charset="0"/>
                </a:rPr>
                <a:t>JavaScript inside HTML.</a:t>
              </a:r>
              <a:endParaRPr lang="en-US" sz="2800" dirty="0">
                <a:latin typeface="Book Antiqua" panose="02040602050305030304" pitchFamily="18" charset="0"/>
              </a:endParaRPr>
            </a:p>
            <a:p>
              <a:pPr>
                <a:spcAft>
                  <a:spcPts val="24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React look like HTML but behave like JavaScript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5594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6BBA7-0875-F103-69A7-AA09ED1A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5099DF4-D59F-A9DB-7150-B5FFB9D8DE51}"/>
              </a:ext>
            </a:extLst>
          </p:cNvPr>
          <p:cNvGrpSpPr/>
          <p:nvPr/>
        </p:nvGrpSpPr>
        <p:grpSpPr>
          <a:xfrm>
            <a:off x="1182679" y="1441793"/>
            <a:ext cx="6675662" cy="2414457"/>
            <a:chOff x="536412" y="209441"/>
            <a:chExt cx="6675662" cy="241445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7F538D0-FEC0-6546-DA45-83216E55E6B9}"/>
                </a:ext>
              </a:extLst>
            </p:cNvPr>
            <p:cNvSpPr/>
            <p:nvPr/>
          </p:nvSpPr>
          <p:spPr>
            <a:xfrm>
              <a:off x="536412" y="209441"/>
              <a:ext cx="400782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Components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709C737-8ED6-082B-E4B1-0AD8EA5AA06D}"/>
                </a:ext>
              </a:extLst>
            </p:cNvPr>
            <p:cNvSpPr txBox="1"/>
            <p:nvPr/>
          </p:nvSpPr>
          <p:spPr>
            <a:xfrm>
              <a:off x="584538" y="1362014"/>
              <a:ext cx="6627536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4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A component is a reusable piece of UI.</a:t>
              </a:r>
            </a:p>
            <a:p>
              <a:pPr>
                <a:spcAft>
                  <a:spcPts val="24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one component can contain others.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1334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31448-C38C-1249-B704-B4DE902AF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6761D65-9E45-44D4-482D-7795B9A5A3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16" r="58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30741-1089-2BFA-0D1E-69D1BA8DC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84E8A-55FC-26C7-E15C-0FC433A745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62" r="13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8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5059F-79F0-325F-A762-A04638372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C1B4F9E-0190-02F5-AD5E-62B577853CE7}"/>
              </a:ext>
            </a:extLst>
          </p:cNvPr>
          <p:cNvGrpSpPr/>
          <p:nvPr/>
        </p:nvGrpSpPr>
        <p:grpSpPr>
          <a:xfrm>
            <a:off x="1327057" y="1194285"/>
            <a:ext cx="6627536" cy="4063664"/>
            <a:chOff x="584538" y="99437"/>
            <a:chExt cx="6627536" cy="406366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B18F050-33F5-E5C4-52BF-E72F8548A87E}"/>
                </a:ext>
              </a:extLst>
            </p:cNvPr>
            <p:cNvSpPr/>
            <p:nvPr/>
          </p:nvSpPr>
          <p:spPr>
            <a:xfrm>
              <a:off x="584538" y="99437"/>
              <a:ext cx="193033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Props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2F49ECA-DEB5-1BAA-91AE-42FB409FB43E}"/>
                </a:ext>
              </a:extLst>
            </p:cNvPr>
            <p:cNvSpPr txBox="1"/>
            <p:nvPr/>
          </p:nvSpPr>
          <p:spPr>
            <a:xfrm>
              <a:off x="584538" y="1423890"/>
              <a:ext cx="6627536" cy="2739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400"/>
                </a:spcAft>
              </a:pPr>
              <a:r>
                <a:rPr lang="en-IN" sz="2800" dirty="0"/>
                <a:t>Props = “properties”</a:t>
              </a:r>
            </a:p>
            <a:p>
              <a:pPr>
                <a:spcAft>
                  <a:spcPts val="24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Used for send data to a component.</a:t>
              </a:r>
            </a:p>
            <a:p>
              <a:pPr>
                <a:spcAft>
                  <a:spcPts val="24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Read Only</a:t>
              </a:r>
            </a:p>
            <a:p>
              <a:pPr>
                <a:spcAft>
                  <a:spcPts val="24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Similar to function parameter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5916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067C1-599A-F4C5-8D2E-9F965B6FF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53A715F-0333-AA57-6845-BC7017A63C56}"/>
              </a:ext>
            </a:extLst>
          </p:cNvPr>
          <p:cNvGrpSpPr/>
          <p:nvPr/>
        </p:nvGrpSpPr>
        <p:grpSpPr>
          <a:xfrm>
            <a:off x="1299557" y="1778676"/>
            <a:ext cx="7734440" cy="2455709"/>
            <a:chOff x="667041" y="195689"/>
            <a:chExt cx="7734440" cy="245570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CFA7F66-9540-4B3E-A784-7A8398BA2BDC}"/>
                </a:ext>
              </a:extLst>
            </p:cNvPr>
            <p:cNvSpPr/>
            <p:nvPr/>
          </p:nvSpPr>
          <p:spPr>
            <a:xfrm>
              <a:off x="667041" y="195689"/>
              <a:ext cx="174759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State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3E40534-341A-A639-2980-DA46A67BA370}"/>
                </a:ext>
              </a:extLst>
            </p:cNvPr>
            <p:cNvSpPr txBox="1"/>
            <p:nvPr/>
          </p:nvSpPr>
          <p:spPr>
            <a:xfrm>
              <a:off x="667041" y="1389514"/>
              <a:ext cx="7734440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400"/>
                </a:spcAft>
              </a:pPr>
              <a:r>
                <a:rPr lang="en-US" sz="2800" dirty="0"/>
                <a:t>State = local data for a component</a:t>
              </a:r>
            </a:p>
            <a:p>
              <a:pPr>
                <a:spcAft>
                  <a:spcPts val="24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Changing state updates UI, React will React.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270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BBA63-2246-099B-07B8-75D5CC6BD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2035DE5-E505-1FBB-82E7-C1E27B1587C0}"/>
              </a:ext>
            </a:extLst>
          </p:cNvPr>
          <p:cNvGrpSpPr/>
          <p:nvPr/>
        </p:nvGrpSpPr>
        <p:grpSpPr>
          <a:xfrm>
            <a:off x="1327057" y="1373040"/>
            <a:ext cx="7115674" cy="3146246"/>
            <a:chOff x="584538" y="278192"/>
            <a:chExt cx="7115674" cy="314624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36CB3F7-F2E2-93E9-6051-08B863DB6301}"/>
                </a:ext>
              </a:extLst>
            </p:cNvPr>
            <p:cNvSpPr/>
            <p:nvPr/>
          </p:nvSpPr>
          <p:spPr>
            <a:xfrm>
              <a:off x="584538" y="278192"/>
              <a:ext cx="3390672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Data Flow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AFBC924-0B37-70E7-60DB-71918B802CE8}"/>
                </a:ext>
              </a:extLst>
            </p:cNvPr>
            <p:cNvSpPr txBox="1"/>
            <p:nvPr/>
          </p:nvSpPr>
          <p:spPr>
            <a:xfrm>
              <a:off x="584538" y="1423890"/>
              <a:ext cx="7115674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400"/>
                </a:spcAft>
              </a:pPr>
              <a:r>
                <a:rPr lang="en-US" sz="2800" dirty="0"/>
                <a:t>React uses one-way data flow.</a:t>
              </a:r>
            </a:p>
            <a:p>
              <a:pPr>
                <a:spcAft>
                  <a:spcPts val="24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Data flows from parent to child via props.</a:t>
              </a:r>
            </a:p>
            <a:p>
              <a:pPr>
                <a:spcAft>
                  <a:spcPts val="2400"/>
                </a:spcAft>
              </a:pPr>
              <a:r>
                <a:rPr lang="en-US" sz="2800" dirty="0">
                  <a:latin typeface="Book Antiqua" panose="02040602050305030304" pitchFamily="18" charset="0"/>
                </a:rPr>
                <a:t>State is local to a component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3273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0174E-5AB4-ACED-F7C5-7FDF8C507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5DBB26-0B5D-01CA-03B8-5147D02FAC9A}"/>
              </a:ext>
            </a:extLst>
          </p:cNvPr>
          <p:cNvGrpSpPr/>
          <p:nvPr/>
        </p:nvGrpSpPr>
        <p:grpSpPr>
          <a:xfrm>
            <a:off x="1409558" y="1524295"/>
            <a:ext cx="7115674" cy="3030974"/>
            <a:chOff x="543286" y="374445"/>
            <a:chExt cx="7115674" cy="303097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405EC11-EF96-F121-6F30-A28EB0B9115B}"/>
                </a:ext>
              </a:extLst>
            </p:cNvPr>
            <p:cNvSpPr/>
            <p:nvPr/>
          </p:nvSpPr>
          <p:spPr>
            <a:xfrm>
              <a:off x="543286" y="374445"/>
              <a:ext cx="209544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Hooks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92635EE-DC46-2685-B86D-2033C6C650F4}"/>
                </a:ext>
              </a:extLst>
            </p:cNvPr>
            <p:cNvSpPr txBox="1"/>
            <p:nvPr/>
          </p:nvSpPr>
          <p:spPr>
            <a:xfrm>
              <a:off x="543286" y="1712648"/>
              <a:ext cx="7115674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400"/>
                </a:spcAft>
              </a:pPr>
              <a:r>
                <a:rPr lang="en-US" sz="2800" dirty="0"/>
                <a:t>Hooks let you use state, lifecycle, refs, and context in function components</a:t>
              </a:r>
            </a:p>
            <a:p>
              <a:pPr>
                <a:spcAft>
                  <a:spcPts val="2400"/>
                </a:spcAft>
              </a:pPr>
              <a:r>
                <a:rPr lang="en-US" sz="2800" dirty="0"/>
                <a:t>Only call hooks inside React functions</a:t>
              </a:r>
              <a:endParaRPr lang="en-US" sz="2800" dirty="0">
                <a:latin typeface="Book Antiqua" panose="020406020503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2849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06E05-3709-B58D-D3C0-B010F859D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A73A84C-3F48-F29F-3E5C-D628D0FDC76F}"/>
              </a:ext>
            </a:extLst>
          </p:cNvPr>
          <p:cNvGrpSpPr/>
          <p:nvPr/>
        </p:nvGrpSpPr>
        <p:grpSpPr>
          <a:xfrm>
            <a:off x="566248" y="382265"/>
            <a:ext cx="10678724" cy="5936033"/>
            <a:chOff x="676251" y="361639"/>
            <a:chExt cx="10678724" cy="593603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2E374B4-68DB-0B36-C806-6F5A52A31419}"/>
                </a:ext>
              </a:extLst>
            </p:cNvPr>
            <p:cNvSpPr/>
            <p:nvPr/>
          </p:nvSpPr>
          <p:spPr>
            <a:xfrm>
              <a:off x="676251" y="361639"/>
              <a:ext cx="637065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Working Of React </a:t>
              </a:r>
              <a:r>
                <a:rPr lang="en-US" sz="5400" b="1" dirty="0" err="1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Js</a:t>
              </a:r>
              <a:endPara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F56AE6D-0E64-385D-A2C6-6F731EA67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025" y="1540038"/>
              <a:ext cx="10517950" cy="4757634"/>
            </a:xfrm>
            <a:prstGeom prst="round2DiagRect">
              <a:avLst>
                <a:gd name="adj1" fmla="val 16667"/>
                <a:gd name="adj2" fmla="val 0"/>
              </a:avLst>
            </a:prstGeom>
            <a:ln w="889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28672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D0459-3210-7802-06B2-E879F0AD1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6C2008-B79D-5514-FF4E-4DD063290986}"/>
              </a:ext>
            </a:extLst>
          </p:cNvPr>
          <p:cNvSpPr/>
          <p:nvPr/>
        </p:nvSpPr>
        <p:spPr>
          <a:xfrm>
            <a:off x="681860" y="361639"/>
            <a:ext cx="63594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Features Of React </a:t>
            </a:r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Js</a:t>
            </a:r>
            <a:endParaRPr lang="en-US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erlin Sans FB Demi" panose="020E0802020502020306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51414EE-8579-0050-8AAC-38D645A2D0AD}"/>
              </a:ext>
            </a:extLst>
          </p:cNvPr>
          <p:cNvGrpSpPr/>
          <p:nvPr/>
        </p:nvGrpSpPr>
        <p:grpSpPr>
          <a:xfrm>
            <a:off x="892195" y="1467494"/>
            <a:ext cx="5054842" cy="4720175"/>
            <a:chOff x="7442408" y="2155213"/>
            <a:chExt cx="3810000" cy="352425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A8BBD8A-F01C-802F-973B-9DB25FFA78D1}"/>
                </a:ext>
              </a:extLst>
            </p:cNvPr>
            <p:cNvSpPr/>
            <p:nvPr/>
          </p:nvSpPr>
          <p:spPr>
            <a:xfrm>
              <a:off x="9828633" y="4383929"/>
              <a:ext cx="1011449" cy="92696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080393C-EBF8-F3E5-5639-BD6091C2F546}"/>
                </a:ext>
              </a:extLst>
            </p:cNvPr>
            <p:cNvSpPr/>
            <p:nvPr/>
          </p:nvSpPr>
          <p:spPr>
            <a:xfrm>
              <a:off x="8097227" y="2539304"/>
              <a:ext cx="661916" cy="7078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BB6523D-340C-70DF-B8A2-9E2A2ECF48E2}"/>
                </a:ext>
              </a:extLst>
            </p:cNvPr>
            <p:cNvSpPr/>
            <p:nvPr/>
          </p:nvSpPr>
          <p:spPr>
            <a:xfrm>
              <a:off x="9079808" y="2349465"/>
              <a:ext cx="1227579" cy="7078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5C6C6D0-46E1-F0A0-2679-B4DB7F1DE8E5}"/>
                </a:ext>
              </a:extLst>
            </p:cNvPr>
            <p:cNvSpPr/>
            <p:nvPr/>
          </p:nvSpPr>
          <p:spPr>
            <a:xfrm>
              <a:off x="8428185" y="4748089"/>
              <a:ext cx="1011448" cy="8342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4F5502E-0AC4-1A3A-580F-50FFC8702776}"/>
                </a:ext>
              </a:extLst>
            </p:cNvPr>
            <p:cNvSpPr/>
            <p:nvPr/>
          </p:nvSpPr>
          <p:spPr>
            <a:xfrm>
              <a:off x="8583747" y="3247190"/>
              <a:ext cx="1552554" cy="13110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9662D9-A58D-B226-4475-6571B0E1A48A}"/>
                </a:ext>
              </a:extLst>
            </p:cNvPr>
            <p:cNvSpPr/>
            <p:nvPr/>
          </p:nvSpPr>
          <p:spPr>
            <a:xfrm>
              <a:off x="7555877" y="3631280"/>
              <a:ext cx="914401" cy="92696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F83864C-8F83-3A42-B7A5-7FBED56F0183}"/>
                </a:ext>
              </a:extLst>
            </p:cNvPr>
            <p:cNvSpPr/>
            <p:nvPr/>
          </p:nvSpPr>
          <p:spPr>
            <a:xfrm>
              <a:off x="10237154" y="3075057"/>
              <a:ext cx="914401" cy="843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E6F87D3-F347-B1FD-028E-1ACD5ABD2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2408" y="2155213"/>
              <a:ext cx="3810000" cy="3524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4087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49669-C8DF-2355-3FF8-8F416328B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0660E3-82BE-FB68-3EB0-F4F2721F4C04}"/>
              </a:ext>
            </a:extLst>
          </p:cNvPr>
          <p:cNvSpPr/>
          <p:nvPr/>
        </p:nvSpPr>
        <p:spPr>
          <a:xfrm>
            <a:off x="2226191" y="483284"/>
            <a:ext cx="7739618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You Should Go For React</a:t>
            </a:r>
          </a:p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Only After</a:t>
            </a:r>
          </a:p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Mastering JavaScript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537FFF-2F2B-7593-C8D4-27F15C8C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673" y="3356934"/>
            <a:ext cx="9388654" cy="301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3742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282</TotalTime>
  <Words>156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Berlin Sans FB Demi</vt:lpstr>
      <vt:lpstr>Book Antiqua</vt:lpstr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Kumar Lal</dc:creator>
  <cp:lastModifiedBy>Manas Kumar Lal</cp:lastModifiedBy>
  <cp:revision>56</cp:revision>
  <dcterms:created xsi:type="dcterms:W3CDTF">2025-07-03T20:58:50Z</dcterms:created>
  <dcterms:modified xsi:type="dcterms:W3CDTF">2025-07-24T10:46:34Z</dcterms:modified>
</cp:coreProperties>
</file>