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66" r:id="rId2"/>
    <p:sldId id="314" r:id="rId3"/>
    <p:sldId id="315" r:id="rId4"/>
    <p:sldId id="292" r:id="rId5"/>
    <p:sldId id="321" r:id="rId6"/>
    <p:sldId id="316" r:id="rId7"/>
    <p:sldId id="323" r:id="rId8"/>
    <p:sldId id="324" r:id="rId9"/>
    <p:sldId id="325" r:id="rId10"/>
    <p:sldId id="326" r:id="rId11"/>
    <p:sldId id="320" r:id="rId12"/>
    <p:sldId id="330" r:id="rId13"/>
    <p:sldId id="332" r:id="rId14"/>
    <p:sldId id="333" r:id="rId15"/>
    <p:sldId id="336" r:id="rId16"/>
    <p:sldId id="331" r:id="rId17"/>
    <p:sldId id="31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5" autoAdjust="0"/>
    <p:restoredTop sz="94660"/>
  </p:normalViewPr>
  <p:slideViewPr>
    <p:cSldViewPr snapToGrid="0">
      <p:cViewPr varScale="1">
        <p:scale>
          <a:sx n="80" d="100"/>
          <a:sy n="80" d="100"/>
        </p:scale>
        <p:origin x="59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EEC0A7-5E88-49C8-86BE-5A895966D8E7}" type="datetimeFigureOut">
              <a:rPr lang="en-IN" smtClean="0"/>
              <a:t>09-10-2025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40B1A8-BDEA-4732-9714-BDE544A645A3}" type="slidenum">
              <a:rPr lang="en-IN" smtClean="0"/>
              <a:t>‹#›</a:t>
            </a:fld>
            <a:endParaRPr lang="en-IN"/>
          </a:p>
        </p:txBody>
      </p:sp>
    </p:spTree>
    <p:extLst>
      <p:ext uri="{BB962C8B-B14F-4D97-AF65-F5344CB8AC3E}">
        <p14:creationId xmlns:p14="http://schemas.microsoft.com/office/powerpoint/2010/main" val="1930899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40B1A8-BDEA-4732-9714-BDE544A645A3}" type="slidenum">
              <a:rPr lang="en-IN" smtClean="0"/>
              <a:t>12</a:t>
            </a:fld>
            <a:endParaRPr lang="en-IN"/>
          </a:p>
        </p:txBody>
      </p:sp>
    </p:spTree>
    <p:extLst>
      <p:ext uri="{BB962C8B-B14F-4D97-AF65-F5344CB8AC3E}">
        <p14:creationId xmlns:p14="http://schemas.microsoft.com/office/powerpoint/2010/main" val="1937817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82F96-F024-4238-2D0E-A7FF93101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DB647-76F4-63BC-A4E1-A5EB135D4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0B775-E831-0B97-B9AC-384D75F3E1C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AFDD23-7844-3451-20DD-0190B7A54ABD}"/>
              </a:ext>
            </a:extLst>
          </p:cNvPr>
          <p:cNvSpPr>
            <a:spLocks noGrp="1"/>
          </p:cNvSpPr>
          <p:nvPr>
            <p:ph type="sldNum" sz="quarter" idx="5"/>
          </p:nvPr>
        </p:nvSpPr>
        <p:spPr/>
        <p:txBody>
          <a:bodyPr/>
          <a:lstStyle/>
          <a:p>
            <a:fld id="{F440B1A8-BDEA-4732-9714-BDE544A645A3}" type="slidenum">
              <a:rPr lang="en-IN" smtClean="0"/>
              <a:t>13</a:t>
            </a:fld>
            <a:endParaRPr lang="en-IN"/>
          </a:p>
        </p:txBody>
      </p:sp>
    </p:spTree>
    <p:extLst>
      <p:ext uri="{BB962C8B-B14F-4D97-AF65-F5344CB8AC3E}">
        <p14:creationId xmlns:p14="http://schemas.microsoft.com/office/powerpoint/2010/main" val="61270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04AB-EFFD-DD24-A452-9F568A6690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7439A-0FAA-E8B0-C495-AE2C23E1A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038D8-51C6-F5B6-2546-E8E61D30D3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78F8A2-9163-2738-9A14-94D95023032E}"/>
              </a:ext>
            </a:extLst>
          </p:cNvPr>
          <p:cNvSpPr>
            <a:spLocks noGrp="1"/>
          </p:cNvSpPr>
          <p:nvPr>
            <p:ph type="sldNum" sz="quarter" idx="5"/>
          </p:nvPr>
        </p:nvSpPr>
        <p:spPr/>
        <p:txBody>
          <a:bodyPr/>
          <a:lstStyle/>
          <a:p>
            <a:fld id="{F440B1A8-BDEA-4732-9714-BDE544A645A3}" type="slidenum">
              <a:rPr lang="en-IN" smtClean="0"/>
              <a:t>14</a:t>
            </a:fld>
            <a:endParaRPr lang="en-IN"/>
          </a:p>
        </p:txBody>
      </p:sp>
    </p:spTree>
    <p:extLst>
      <p:ext uri="{BB962C8B-B14F-4D97-AF65-F5344CB8AC3E}">
        <p14:creationId xmlns:p14="http://schemas.microsoft.com/office/powerpoint/2010/main" val="3137437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D1A76-1C05-0086-0F87-42513B891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F554-9275-CDDB-0B1E-F6853FC97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01CEF-07E6-09BF-8DA4-7336C030254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7E4E715-B5A5-AAB8-B7BD-A62077914B03}"/>
              </a:ext>
            </a:extLst>
          </p:cNvPr>
          <p:cNvSpPr>
            <a:spLocks noGrp="1"/>
          </p:cNvSpPr>
          <p:nvPr>
            <p:ph type="sldNum" sz="quarter" idx="5"/>
          </p:nvPr>
        </p:nvSpPr>
        <p:spPr/>
        <p:txBody>
          <a:bodyPr/>
          <a:lstStyle/>
          <a:p>
            <a:fld id="{F440B1A8-BDEA-4732-9714-BDE544A645A3}" type="slidenum">
              <a:rPr lang="en-IN" smtClean="0"/>
              <a:t>15</a:t>
            </a:fld>
            <a:endParaRPr lang="en-IN"/>
          </a:p>
        </p:txBody>
      </p:sp>
    </p:spTree>
    <p:extLst>
      <p:ext uri="{BB962C8B-B14F-4D97-AF65-F5344CB8AC3E}">
        <p14:creationId xmlns:p14="http://schemas.microsoft.com/office/powerpoint/2010/main" val="35131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4191803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148782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170C16-CB02-44E1-8AF7-8DA3690E258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417394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737616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170C16-CB02-44E1-8AF7-8DA3690E2582}"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683553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170C16-CB02-44E1-8AF7-8DA3690E2582}"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25630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170C16-CB02-44E1-8AF7-8DA3690E2582}"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50563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671212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506015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92359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09718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705299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068881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170C16-CB02-44E1-8AF7-8DA3690E2582}"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720217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170C16-CB02-44E1-8AF7-8DA3690E2582}"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417654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1269429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455919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4170C16-CB02-44E1-8AF7-8DA3690E2582}" type="datetimeFigureOut">
              <a:rPr lang="en-IN" smtClean="0"/>
              <a:t>09-10-2025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C60AA61-56D5-4267-A2CA-7B717022D894}" type="slidenum">
              <a:rPr lang="en-IN" smtClean="0"/>
              <a:t>‹#›</a:t>
            </a:fld>
            <a:endParaRPr lang="en-IN"/>
          </a:p>
        </p:txBody>
      </p:sp>
    </p:spTree>
    <p:extLst>
      <p:ext uri="{BB962C8B-B14F-4D97-AF65-F5344CB8AC3E}">
        <p14:creationId xmlns:p14="http://schemas.microsoft.com/office/powerpoint/2010/main" val="30300178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3D259-E713-5A6D-29FD-7FA3E5815C0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34F5DFC-C246-5839-92FC-B4FEAD22E573}"/>
              </a:ext>
            </a:extLst>
          </p:cNvPr>
          <p:cNvSpPr/>
          <p:nvPr/>
        </p:nvSpPr>
        <p:spPr>
          <a:xfrm>
            <a:off x="1389423" y="1450035"/>
            <a:ext cx="9413154" cy="3785652"/>
          </a:xfrm>
          <a:prstGeom prst="rect">
            <a:avLst/>
          </a:prstGeom>
          <a:noFill/>
        </p:spPr>
        <p:txBody>
          <a:bodyPr wrap="none" lIns="91440" tIns="45720" rIns="91440" bIns="45720">
            <a:spAutoFit/>
            <a:scene3d>
              <a:camera prst="orthographicFront"/>
              <a:lightRig rig="threePt" dir="t"/>
            </a:scene3d>
            <a:sp3d extrusionH="57150">
              <a:bevelT w="57150" h="38100" prst="artDeco"/>
            </a:sp3d>
          </a:bodyPr>
          <a:lstStyle/>
          <a:p>
            <a:pPr algn="ctr"/>
            <a:r>
              <a:rPr lang="en-US" sz="80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State</a:t>
            </a:r>
          </a:p>
          <a:p>
            <a:pPr algn="ctr"/>
            <a:r>
              <a:rPr lang="en-US" sz="80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heart of React apps.</a:t>
            </a:r>
          </a:p>
          <a:p>
            <a:pPr algn="ctr"/>
            <a:r>
              <a:rPr lang="en-US" sz="80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a:t>
            </a:r>
          </a:p>
        </p:txBody>
      </p:sp>
    </p:spTree>
    <p:extLst>
      <p:ext uri="{BB962C8B-B14F-4D97-AF65-F5344CB8AC3E}">
        <p14:creationId xmlns:p14="http://schemas.microsoft.com/office/powerpoint/2010/main" val="954011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9BFD2-A654-7F51-22AD-33D432A3E22A}"/>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EEAE7AE5-1198-F0EC-DD2B-6E560CE50AA5}"/>
              </a:ext>
            </a:extLst>
          </p:cNvPr>
          <p:cNvGrpSpPr/>
          <p:nvPr/>
        </p:nvGrpSpPr>
        <p:grpSpPr>
          <a:xfrm>
            <a:off x="979780" y="938627"/>
            <a:ext cx="10232439" cy="4874730"/>
            <a:chOff x="1104312" y="1075496"/>
            <a:chExt cx="10232439" cy="4874730"/>
          </a:xfrm>
        </p:grpSpPr>
        <p:pic>
          <p:nvPicPr>
            <p:cNvPr id="3" name="Picture 2">
              <a:extLst>
                <a:ext uri="{FF2B5EF4-FFF2-40B4-BE49-F238E27FC236}">
                  <a16:creationId xmlns:a16="http://schemas.microsoft.com/office/drawing/2014/main" id="{DF0159C1-B0DF-4BAE-9A6A-7DF0D370E916}"/>
                </a:ext>
              </a:extLst>
            </p:cNvPr>
            <p:cNvPicPr>
              <a:picLocks noChangeAspect="1"/>
            </p:cNvPicPr>
            <p:nvPr/>
          </p:nvPicPr>
          <p:blipFill>
            <a:blip r:embed="rId2">
              <a:extLst>
                <a:ext uri="{28A0092B-C50C-407E-A947-70E740481C1C}">
                  <a14:useLocalDpi xmlns:a14="http://schemas.microsoft.com/office/drawing/2010/main" val="0"/>
                </a:ext>
              </a:extLst>
            </a:blip>
            <a:srcRect r="55115"/>
            <a:stretch>
              <a:fillRect/>
            </a:stretch>
          </p:blipFill>
          <p:spPr>
            <a:xfrm>
              <a:off x="1104312" y="1075496"/>
              <a:ext cx="5034087" cy="4874730"/>
            </a:xfrm>
            <a:prstGeom prst="rect">
              <a:avLst/>
            </a:prstGeom>
          </p:spPr>
        </p:pic>
        <p:cxnSp>
          <p:nvCxnSpPr>
            <p:cNvPr id="5" name="Straight Arrow Connector 4">
              <a:extLst>
                <a:ext uri="{FF2B5EF4-FFF2-40B4-BE49-F238E27FC236}">
                  <a16:creationId xmlns:a16="http://schemas.microsoft.com/office/drawing/2014/main" id="{D53D2FFB-CB5A-2DA5-9774-4EC8D514AFC2}"/>
                </a:ext>
              </a:extLst>
            </p:cNvPr>
            <p:cNvCxnSpPr>
              <a:cxnSpLocks/>
              <a:endCxn id="6" idx="2"/>
            </p:cNvCxnSpPr>
            <p:nvPr/>
          </p:nvCxnSpPr>
          <p:spPr>
            <a:xfrm flipV="1">
              <a:off x="2425148" y="3601278"/>
              <a:ext cx="5558260" cy="11893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CE42024-A97F-CD67-735C-B55EA5080E10}"/>
                </a:ext>
              </a:extLst>
            </p:cNvPr>
            <p:cNvSpPr/>
            <p:nvPr/>
          </p:nvSpPr>
          <p:spPr>
            <a:xfrm>
              <a:off x="6732104" y="2277839"/>
              <a:ext cx="2502608" cy="1323439"/>
            </a:xfrm>
            <a:prstGeom prst="rect">
              <a:avLst/>
            </a:prstGeom>
            <a:noFill/>
          </p:spPr>
          <p:txBody>
            <a:bodyPr wrap="none" lIns="91440" tIns="45720" rIns="91440" bIns="45720">
              <a:spAutoFit/>
              <a:scene3d>
                <a:camera prst="orthographicFront"/>
                <a:lightRig rig="threePt" dir="t"/>
              </a:scene3d>
              <a:sp3d extrusionH="57150">
                <a:bevelT w="57150" h="38100" prst="artDeco"/>
              </a:sp3d>
            </a:bodyPr>
            <a:lstStyle/>
            <a:p>
              <a:pPr algn="ctr"/>
              <a:r>
                <a:rPr lang="en-US" sz="80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State</a:t>
              </a:r>
            </a:p>
          </p:txBody>
        </p:sp>
        <p:cxnSp>
          <p:nvCxnSpPr>
            <p:cNvPr id="8" name="Straight Arrow Connector 7">
              <a:extLst>
                <a:ext uri="{FF2B5EF4-FFF2-40B4-BE49-F238E27FC236}">
                  <a16:creationId xmlns:a16="http://schemas.microsoft.com/office/drawing/2014/main" id="{4382E0EB-E46D-6C56-9E46-6463224F9584}"/>
                </a:ext>
              </a:extLst>
            </p:cNvPr>
            <p:cNvCxnSpPr>
              <a:cxnSpLocks/>
              <a:stCxn id="6" idx="1"/>
            </p:cNvCxnSpPr>
            <p:nvPr/>
          </p:nvCxnSpPr>
          <p:spPr>
            <a:xfrm flipH="1" flipV="1">
              <a:off x="3140765" y="2007704"/>
              <a:ext cx="3591339" cy="9318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C7DE3CC-91C7-4025-630E-A0BDC6B32C72}"/>
                </a:ext>
              </a:extLst>
            </p:cNvPr>
            <p:cNvSpPr txBox="1"/>
            <p:nvPr/>
          </p:nvSpPr>
          <p:spPr>
            <a:xfrm>
              <a:off x="8196952" y="3815018"/>
              <a:ext cx="3139799" cy="1384995"/>
            </a:xfrm>
            <a:prstGeom prst="rect">
              <a:avLst/>
            </a:prstGeom>
            <a:noFill/>
          </p:spPr>
          <p:txBody>
            <a:bodyPr wrap="square" rtlCol="0">
              <a:spAutoFit/>
            </a:bodyPr>
            <a:lstStyle/>
            <a:p>
              <a:pPr>
                <a:spcBef>
                  <a:spcPts val="1800"/>
                </a:spcBef>
                <a:spcAft>
                  <a:spcPts val="1200"/>
                </a:spcAft>
              </a:pPr>
              <a:r>
                <a:rPr lang="en-US" sz="2800" dirty="0">
                  <a:latin typeface="Book Antiqua" panose="02040602050305030304" pitchFamily="18" charset="0"/>
                </a:rPr>
                <a:t>change in state directly leads to a change in the UI</a:t>
              </a:r>
              <a:endParaRPr lang="en-US" sz="2800" dirty="0"/>
            </a:p>
          </p:txBody>
        </p:sp>
      </p:grpSp>
    </p:spTree>
    <p:extLst>
      <p:ext uri="{BB962C8B-B14F-4D97-AF65-F5344CB8AC3E}">
        <p14:creationId xmlns:p14="http://schemas.microsoft.com/office/powerpoint/2010/main" val="4063797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E14B3-C050-8FCA-2DA9-CC8CE71B7B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7E63B2-13C3-AB28-1055-0F41DBA7CD36}"/>
              </a:ext>
            </a:extLst>
          </p:cNvPr>
          <p:cNvPicPr>
            <a:picLocks noChangeAspect="1"/>
          </p:cNvPicPr>
          <p:nvPr/>
        </p:nvPicPr>
        <p:blipFill>
          <a:blip r:embed="rId2">
            <a:extLst>
              <a:ext uri="{28A0092B-C50C-407E-A947-70E740481C1C}">
                <a14:useLocalDpi xmlns:a14="http://schemas.microsoft.com/office/drawing/2010/main" val="0"/>
              </a:ext>
            </a:extLst>
          </a:blip>
          <a:srcRect t="21641" b="22109"/>
          <a:stretch>
            <a:fillRect/>
          </a:stretch>
        </p:blipFill>
        <p:spPr>
          <a:xfrm>
            <a:off x="0" y="0"/>
            <a:ext cx="12192000" cy="6858000"/>
          </a:xfrm>
          <a:prstGeom prst="rect">
            <a:avLst/>
          </a:prstGeom>
        </p:spPr>
      </p:pic>
    </p:spTree>
    <p:extLst>
      <p:ext uri="{BB962C8B-B14F-4D97-AF65-F5344CB8AC3E}">
        <p14:creationId xmlns:p14="http://schemas.microsoft.com/office/powerpoint/2010/main" val="4088696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5173B-6EF0-D4C1-7B89-4721CAA30AB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901D26D-CC3E-75EF-6909-58903D3981F6}"/>
              </a:ext>
            </a:extLst>
          </p:cNvPr>
          <p:cNvGrpSpPr/>
          <p:nvPr/>
        </p:nvGrpSpPr>
        <p:grpSpPr>
          <a:xfrm>
            <a:off x="1168389" y="1254570"/>
            <a:ext cx="7906858" cy="3858220"/>
            <a:chOff x="458352" y="312283"/>
            <a:chExt cx="8309716" cy="3858220"/>
          </a:xfrm>
        </p:grpSpPr>
        <p:sp>
          <p:nvSpPr>
            <p:cNvPr id="6" name="Rectangle 5">
              <a:extLst>
                <a:ext uri="{FF2B5EF4-FFF2-40B4-BE49-F238E27FC236}">
                  <a16:creationId xmlns:a16="http://schemas.microsoft.com/office/drawing/2014/main" id="{F86A0EC1-6979-313A-5B63-E3368F52FE5E}"/>
                </a:ext>
              </a:extLst>
            </p:cNvPr>
            <p:cNvSpPr/>
            <p:nvPr/>
          </p:nvSpPr>
          <p:spPr>
            <a:xfrm>
              <a:off x="458352" y="312283"/>
              <a:ext cx="7838107" cy="830997"/>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48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Why Do We Need State?</a:t>
              </a:r>
            </a:p>
          </p:txBody>
        </p:sp>
        <p:sp>
          <p:nvSpPr>
            <p:cNvPr id="7" name="TextBox 6">
              <a:extLst>
                <a:ext uri="{FF2B5EF4-FFF2-40B4-BE49-F238E27FC236}">
                  <a16:creationId xmlns:a16="http://schemas.microsoft.com/office/drawing/2014/main" id="{E0D3711D-F9EF-D324-E486-EB72C365F24F}"/>
                </a:ext>
              </a:extLst>
            </p:cNvPr>
            <p:cNvSpPr txBox="1"/>
            <p:nvPr/>
          </p:nvSpPr>
          <p:spPr>
            <a:xfrm>
              <a:off x="458352" y="1692902"/>
              <a:ext cx="8309716" cy="2477601"/>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Dynamic UI.</a:t>
              </a:r>
            </a:p>
            <a:p>
              <a:pPr marL="457200" indent="-457200">
                <a:spcBef>
                  <a:spcPts val="1800"/>
                </a:spcBef>
                <a:spcAft>
                  <a:spcPts val="1200"/>
                </a:spcAft>
                <a:buFont typeface="Wingdings" panose="05000000000000000000" pitchFamily="2" charset="2"/>
                <a:buChar char="q"/>
              </a:pPr>
              <a:r>
                <a:rPr lang="en-US" sz="2000" dirty="0">
                  <a:solidFill>
                    <a:srgbClr val="FFFF00"/>
                  </a:solidFill>
                  <a:latin typeface="Book Antiqua" panose="02040602050305030304" pitchFamily="18" charset="0"/>
                </a:rPr>
                <a:t>Example: </a:t>
              </a:r>
              <a:r>
                <a:rPr lang="en-US" sz="2000" dirty="0">
                  <a:latin typeface="Book Antiqua" panose="02040602050305030304" pitchFamily="18" charset="0"/>
                </a:rPr>
                <a:t>In a counter button :</a:t>
              </a:r>
            </a:p>
            <a:p>
              <a:pPr marL="2316163" indent="-342900">
                <a:spcBef>
                  <a:spcPts val="1800"/>
                </a:spcBef>
                <a:spcAft>
                  <a:spcPts val="1200"/>
                </a:spcAft>
                <a:buFont typeface="Courier New" panose="02070309020205020404" pitchFamily="49" charset="0"/>
                <a:buChar char="o"/>
              </a:pPr>
              <a:r>
                <a:rPr lang="en-US" sz="2000" dirty="0">
                  <a:latin typeface="Book Antiqua" panose="02040602050305030304" pitchFamily="18" charset="0"/>
                </a:rPr>
                <a:t>without state, UI won’t update when clicked.</a:t>
              </a:r>
            </a:p>
            <a:p>
              <a:pPr marL="2316163" indent="-342900">
                <a:spcBef>
                  <a:spcPts val="1800"/>
                </a:spcBef>
                <a:spcAft>
                  <a:spcPts val="1200"/>
                </a:spcAft>
                <a:buFont typeface="Courier New" panose="02070309020205020404" pitchFamily="49" charset="0"/>
                <a:buChar char="o"/>
              </a:pPr>
              <a:r>
                <a:rPr lang="en-US" sz="2000" dirty="0"/>
                <a:t>With state, UI will update when clicked.</a:t>
              </a:r>
            </a:p>
          </p:txBody>
        </p:sp>
      </p:grpSp>
    </p:spTree>
    <p:extLst>
      <p:ext uri="{BB962C8B-B14F-4D97-AF65-F5344CB8AC3E}">
        <p14:creationId xmlns:p14="http://schemas.microsoft.com/office/powerpoint/2010/main" val="2892116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0223-8F11-C227-09BE-7D068A5F465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AF7B60E2-9920-ED73-C4CD-487DCDCC8891}"/>
              </a:ext>
            </a:extLst>
          </p:cNvPr>
          <p:cNvGrpSpPr/>
          <p:nvPr/>
        </p:nvGrpSpPr>
        <p:grpSpPr>
          <a:xfrm>
            <a:off x="582616" y="298918"/>
            <a:ext cx="8793758" cy="6080935"/>
            <a:chOff x="520739" y="223291"/>
            <a:chExt cx="8793758" cy="6080935"/>
          </a:xfrm>
        </p:grpSpPr>
        <p:sp>
          <p:nvSpPr>
            <p:cNvPr id="4" name="TextBox 3">
              <a:extLst>
                <a:ext uri="{FF2B5EF4-FFF2-40B4-BE49-F238E27FC236}">
                  <a16:creationId xmlns:a16="http://schemas.microsoft.com/office/drawing/2014/main" id="{0056CC5A-F9D2-F64C-7F88-6546D1F4768E}"/>
                </a:ext>
              </a:extLst>
            </p:cNvPr>
            <p:cNvSpPr txBox="1"/>
            <p:nvPr/>
          </p:nvSpPr>
          <p:spPr>
            <a:xfrm>
              <a:off x="1051904" y="5028528"/>
              <a:ext cx="7301449" cy="1275698"/>
            </a:xfrm>
            <a:custGeom>
              <a:avLst/>
              <a:gdLst>
                <a:gd name="connsiteX0" fmla="*/ 0 w 7301449"/>
                <a:gd name="connsiteY0" fmla="*/ 0 h 1275698"/>
                <a:gd name="connsiteX1" fmla="*/ 488635 w 7301449"/>
                <a:gd name="connsiteY1" fmla="*/ 0 h 1275698"/>
                <a:gd name="connsiteX2" fmla="*/ 831242 w 7301449"/>
                <a:gd name="connsiteY2" fmla="*/ 0 h 1275698"/>
                <a:gd name="connsiteX3" fmla="*/ 1538921 w 7301449"/>
                <a:gd name="connsiteY3" fmla="*/ 0 h 1275698"/>
                <a:gd name="connsiteX4" fmla="*/ 2027556 w 7301449"/>
                <a:gd name="connsiteY4" fmla="*/ 0 h 1275698"/>
                <a:gd name="connsiteX5" fmla="*/ 2516192 w 7301449"/>
                <a:gd name="connsiteY5" fmla="*/ 0 h 1275698"/>
                <a:gd name="connsiteX6" fmla="*/ 3223871 w 7301449"/>
                <a:gd name="connsiteY6" fmla="*/ 0 h 1275698"/>
                <a:gd name="connsiteX7" fmla="*/ 3639492 w 7301449"/>
                <a:gd name="connsiteY7" fmla="*/ 0 h 1275698"/>
                <a:gd name="connsiteX8" fmla="*/ 4347170 w 7301449"/>
                <a:gd name="connsiteY8" fmla="*/ 0 h 1275698"/>
                <a:gd name="connsiteX9" fmla="*/ 5054849 w 7301449"/>
                <a:gd name="connsiteY9" fmla="*/ 0 h 1275698"/>
                <a:gd name="connsiteX10" fmla="*/ 5616499 w 7301449"/>
                <a:gd name="connsiteY10" fmla="*/ 0 h 1275698"/>
                <a:gd name="connsiteX11" fmla="*/ 6324178 w 7301449"/>
                <a:gd name="connsiteY11" fmla="*/ 0 h 1275698"/>
                <a:gd name="connsiteX12" fmla="*/ 6812814 w 7301449"/>
                <a:gd name="connsiteY12" fmla="*/ 0 h 1275698"/>
                <a:gd name="connsiteX13" fmla="*/ 7301449 w 7301449"/>
                <a:gd name="connsiteY13" fmla="*/ 0 h 1275698"/>
                <a:gd name="connsiteX14" fmla="*/ 7301449 w 7301449"/>
                <a:gd name="connsiteY14" fmla="*/ 437990 h 1275698"/>
                <a:gd name="connsiteX15" fmla="*/ 7301449 w 7301449"/>
                <a:gd name="connsiteY15" fmla="*/ 863222 h 1275698"/>
                <a:gd name="connsiteX16" fmla="*/ 7301449 w 7301449"/>
                <a:gd name="connsiteY16" fmla="*/ 1275698 h 1275698"/>
                <a:gd name="connsiteX17" fmla="*/ 6666785 w 7301449"/>
                <a:gd name="connsiteY17" fmla="*/ 1275698 h 1275698"/>
                <a:gd name="connsiteX18" fmla="*/ 6105135 w 7301449"/>
                <a:gd name="connsiteY18" fmla="*/ 1275698 h 1275698"/>
                <a:gd name="connsiteX19" fmla="*/ 5762528 w 7301449"/>
                <a:gd name="connsiteY19" fmla="*/ 1275698 h 1275698"/>
                <a:gd name="connsiteX20" fmla="*/ 5346907 w 7301449"/>
                <a:gd name="connsiteY20" fmla="*/ 1275698 h 1275698"/>
                <a:gd name="connsiteX21" fmla="*/ 4639228 w 7301449"/>
                <a:gd name="connsiteY21" fmla="*/ 1275698 h 1275698"/>
                <a:gd name="connsiteX22" fmla="*/ 4077578 w 7301449"/>
                <a:gd name="connsiteY22" fmla="*/ 1275698 h 1275698"/>
                <a:gd name="connsiteX23" fmla="*/ 3661957 w 7301449"/>
                <a:gd name="connsiteY23" fmla="*/ 1275698 h 1275698"/>
                <a:gd name="connsiteX24" fmla="*/ 3100308 w 7301449"/>
                <a:gd name="connsiteY24" fmla="*/ 1275698 h 1275698"/>
                <a:gd name="connsiteX25" fmla="*/ 2757701 w 7301449"/>
                <a:gd name="connsiteY25" fmla="*/ 1275698 h 1275698"/>
                <a:gd name="connsiteX26" fmla="*/ 2415095 w 7301449"/>
                <a:gd name="connsiteY26" fmla="*/ 1275698 h 1275698"/>
                <a:gd name="connsiteX27" fmla="*/ 1853445 w 7301449"/>
                <a:gd name="connsiteY27" fmla="*/ 1275698 h 1275698"/>
                <a:gd name="connsiteX28" fmla="*/ 1437824 w 7301449"/>
                <a:gd name="connsiteY28" fmla="*/ 1275698 h 1275698"/>
                <a:gd name="connsiteX29" fmla="*/ 803159 w 7301449"/>
                <a:gd name="connsiteY29" fmla="*/ 1275698 h 1275698"/>
                <a:gd name="connsiteX30" fmla="*/ 0 w 7301449"/>
                <a:gd name="connsiteY30" fmla="*/ 1275698 h 1275698"/>
                <a:gd name="connsiteX31" fmla="*/ 0 w 7301449"/>
                <a:gd name="connsiteY31" fmla="*/ 837708 h 1275698"/>
                <a:gd name="connsiteX32" fmla="*/ 0 w 7301449"/>
                <a:gd name="connsiteY32" fmla="*/ 399719 h 1275698"/>
                <a:gd name="connsiteX33" fmla="*/ 0 w 7301449"/>
                <a:gd name="connsiteY33" fmla="*/ 0 h 127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301449" h="1275698" extrusionOk="0">
                  <a:moveTo>
                    <a:pt x="0" y="0"/>
                  </a:moveTo>
                  <a:cubicBezTo>
                    <a:pt x="206116" y="-53049"/>
                    <a:pt x="366761" y="40495"/>
                    <a:pt x="488635" y="0"/>
                  </a:cubicBezTo>
                  <a:cubicBezTo>
                    <a:pt x="610509" y="-40495"/>
                    <a:pt x="754964" y="3954"/>
                    <a:pt x="831242" y="0"/>
                  </a:cubicBezTo>
                  <a:cubicBezTo>
                    <a:pt x="907520" y="-3954"/>
                    <a:pt x="1395899" y="54415"/>
                    <a:pt x="1538921" y="0"/>
                  </a:cubicBezTo>
                  <a:cubicBezTo>
                    <a:pt x="1681943" y="-54415"/>
                    <a:pt x="1895680" y="18025"/>
                    <a:pt x="2027556" y="0"/>
                  </a:cubicBezTo>
                  <a:cubicBezTo>
                    <a:pt x="2159432" y="-18025"/>
                    <a:pt x="2344323" y="31238"/>
                    <a:pt x="2516192" y="0"/>
                  </a:cubicBezTo>
                  <a:cubicBezTo>
                    <a:pt x="2688061" y="-31238"/>
                    <a:pt x="3030628" y="57011"/>
                    <a:pt x="3223871" y="0"/>
                  </a:cubicBezTo>
                  <a:cubicBezTo>
                    <a:pt x="3417114" y="-57011"/>
                    <a:pt x="3534404" y="15525"/>
                    <a:pt x="3639492" y="0"/>
                  </a:cubicBezTo>
                  <a:cubicBezTo>
                    <a:pt x="3744580" y="-15525"/>
                    <a:pt x="4105160" y="82675"/>
                    <a:pt x="4347170" y="0"/>
                  </a:cubicBezTo>
                  <a:cubicBezTo>
                    <a:pt x="4589180" y="-82675"/>
                    <a:pt x="4806633" y="4464"/>
                    <a:pt x="5054849" y="0"/>
                  </a:cubicBezTo>
                  <a:cubicBezTo>
                    <a:pt x="5303065" y="-4464"/>
                    <a:pt x="5457478" y="32509"/>
                    <a:pt x="5616499" y="0"/>
                  </a:cubicBezTo>
                  <a:cubicBezTo>
                    <a:pt x="5775520" y="-32509"/>
                    <a:pt x="6088186" y="40947"/>
                    <a:pt x="6324178" y="0"/>
                  </a:cubicBezTo>
                  <a:cubicBezTo>
                    <a:pt x="6560170" y="-40947"/>
                    <a:pt x="6710027" y="10010"/>
                    <a:pt x="6812814" y="0"/>
                  </a:cubicBezTo>
                  <a:cubicBezTo>
                    <a:pt x="6915601" y="-10010"/>
                    <a:pt x="7172294" y="33109"/>
                    <a:pt x="7301449" y="0"/>
                  </a:cubicBezTo>
                  <a:cubicBezTo>
                    <a:pt x="7338410" y="114227"/>
                    <a:pt x="7255928" y="344503"/>
                    <a:pt x="7301449" y="437990"/>
                  </a:cubicBezTo>
                  <a:cubicBezTo>
                    <a:pt x="7346970" y="531477"/>
                    <a:pt x="7261867" y="753921"/>
                    <a:pt x="7301449" y="863222"/>
                  </a:cubicBezTo>
                  <a:cubicBezTo>
                    <a:pt x="7341031" y="972523"/>
                    <a:pt x="7286355" y="1076813"/>
                    <a:pt x="7301449" y="1275698"/>
                  </a:cubicBezTo>
                  <a:cubicBezTo>
                    <a:pt x="7136605" y="1297921"/>
                    <a:pt x="6842374" y="1255327"/>
                    <a:pt x="6666785" y="1275698"/>
                  </a:cubicBezTo>
                  <a:cubicBezTo>
                    <a:pt x="6491196" y="1296069"/>
                    <a:pt x="6220736" y="1272932"/>
                    <a:pt x="6105135" y="1275698"/>
                  </a:cubicBezTo>
                  <a:cubicBezTo>
                    <a:pt x="5989534" y="1278464"/>
                    <a:pt x="5907247" y="1249523"/>
                    <a:pt x="5762528" y="1275698"/>
                  </a:cubicBezTo>
                  <a:cubicBezTo>
                    <a:pt x="5617809" y="1301873"/>
                    <a:pt x="5436473" y="1248590"/>
                    <a:pt x="5346907" y="1275698"/>
                  </a:cubicBezTo>
                  <a:cubicBezTo>
                    <a:pt x="5257341" y="1302806"/>
                    <a:pt x="4931538" y="1194620"/>
                    <a:pt x="4639228" y="1275698"/>
                  </a:cubicBezTo>
                  <a:cubicBezTo>
                    <a:pt x="4346918" y="1356776"/>
                    <a:pt x="4336939" y="1262529"/>
                    <a:pt x="4077578" y="1275698"/>
                  </a:cubicBezTo>
                  <a:cubicBezTo>
                    <a:pt x="3818217" y="1288867"/>
                    <a:pt x="3853778" y="1226204"/>
                    <a:pt x="3661957" y="1275698"/>
                  </a:cubicBezTo>
                  <a:cubicBezTo>
                    <a:pt x="3470136" y="1325192"/>
                    <a:pt x="3243288" y="1215850"/>
                    <a:pt x="3100308" y="1275698"/>
                  </a:cubicBezTo>
                  <a:cubicBezTo>
                    <a:pt x="2957328" y="1335546"/>
                    <a:pt x="2915998" y="1262730"/>
                    <a:pt x="2757701" y="1275698"/>
                  </a:cubicBezTo>
                  <a:cubicBezTo>
                    <a:pt x="2599404" y="1288666"/>
                    <a:pt x="2539015" y="1254515"/>
                    <a:pt x="2415095" y="1275698"/>
                  </a:cubicBezTo>
                  <a:cubicBezTo>
                    <a:pt x="2291175" y="1296881"/>
                    <a:pt x="2044999" y="1272988"/>
                    <a:pt x="1853445" y="1275698"/>
                  </a:cubicBezTo>
                  <a:cubicBezTo>
                    <a:pt x="1661891" y="1278408"/>
                    <a:pt x="1630333" y="1233604"/>
                    <a:pt x="1437824" y="1275698"/>
                  </a:cubicBezTo>
                  <a:cubicBezTo>
                    <a:pt x="1245315" y="1317792"/>
                    <a:pt x="1058701" y="1259849"/>
                    <a:pt x="803159" y="1275698"/>
                  </a:cubicBezTo>
                  <a:cubicBezTo>
                    <a:pt x="547618" y="1291547"/>
                    <a:pt x="335001" y="1275110"/>
                    <a:pt x="0" y="1275698"/>
                  </a:cubicBezTo>
                  <a:cubicBezTo>
                    <a:pt x="-39104" y="1068037"/>
                    <a:pt x="39285" y="943025"/>
                    <a:pt x="0" y="837708"/>
                  </a:cubicBezTo>
                  <a:cubicBezTo>
                    <a:pt x="-39285" y="732391"/>
                    <a:pt x="15587" y="519694"/>
                    <a:pt x="0" y="399719"/>
                  </a:cubicBezTo>
                  <a:cubicBezTo>
                    <a:pt x="-15587" y="279744"/>
                    <a:pt x="14301" y="144190"/>
                    <a:pt x="0" y="0"/>
                  </a:cubicBezTo>
                  <a:close/>
                </a:path>
              </a:pathLst>
            </a:custGeom>
            <a:noFill/>
            <a:ln>
              <a:solidFill>
                <a:srgbClr val="FFFF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lIns="252000" tIns="144000" rIns="252000" bIns="144000" rtlCol="0">
              <a:spAutoFit/>
            </a:bodyPr>
            <a:lstStyle/>
            <a:p>
              <a:pPr>
                <a:spcAft>
                  <a:spcPts val="1200"/>
                </a:spcAft>
              </a:pPr>
              <a:r>
                <a:rPr lang="en-US" b="1" dirty="0">
                  <a:solidFill>
                    <a:srgbClr val="FFFF00"/>
                  </a:solidFill>
                </a:rPr>
                <a:t>Note:</a:t>
              </a:r>
            </a:p>
            <a:p>
              <a:r>
                <a:rPr lang="en-US" dirty="0"/>
                <a:t>Never modify state directly (count = count + 1 ❌). Directly mutating the variable won’t trigger re-render.</a:t>
              </a:r>
              <a:endParaRPr lang="en-IN" dirty="0"/>
            </a:p>
          </p:txBody>
        </p:sp>
        <p:grpSp>
          <p:nvGrpSpPr>
            <p:cNvPr id="3" name="Group 2">
              <a:extLst>
                <a:ext uri="{FF2B5EF4-FFF2-40B4-BE49-F238E27FC236}">
                  <a16:creationId xmlns:a16="http://schemas.microsoft.com/office/drawing/2014/main" id="{ABAE4D20-21E3-1105-0D9B-4C4400220588}"/>
                </a:ext>
              </a:extLst>
            </p:cNvPr>
            <p:cNvGrpSpPr/>
            <p:nvPr/>
          </p:nvGrpSpPr>
          <p:grpSpPr>
            <a:xfrm>
              <a:off x="520739" y="223291"/>
              <a:ext cx="8793758" cy="4599374"/>
              <a:chOff x="520739" y="223291"/>
              <a:chExt cx="8793758" cy="4599374"/>
            </a:xfrm>
          </p:grpSpPr>
          <p:grpSp>
            <p:nvGrpSpPr>
              <p:cNvPr id="2" name="Group 1">
                <a:extLst>
                  <a:ext uri="{FF2B5EF4-FFF2-40B4-BE49-F238E27FC236}">
                    <a16:creationId xmlns:a16="http://schemas.microsoft.com/office/drawing/2014/main" id="{B1F5ACC3-56B3-7FE4-0F17-C4E8844469CD}"/>
                  </a:ext>
                </a:extLst>
              </p:cNvPr>
              <p:cNvGrpSpPr/>
              <p:nvPr/>
            </p:nvGrpSpPr>
            <p:grpSpPr>
              <a:xfrm>
                <a:off x="520739" y="223291"/>
                <a:ext cx="8793758" cy="4599374"/>
                <a:chOff x="458352" y="312283"/>
                <a:chExt cx="9241804" cy="4599374"/>
              </a:xfrm>
            </p:grpSpPr>
            <p:sp>
              <p:nvSpPr>
                <p:cNvPr id="6" name="Rectangle 5">
                  <a:extLst>
                    <a:ext uri="{FF2B5EF4-FFF2-40B4-BE49-F238E27FC236}">
                      <a16:creationId xmlns:a16="http://schemas.microsoft.com/office/drawing/2014/main" id="{963525D4-BF04-73E0-5AA7-C4C7D97807C5}"/>
                    </a:ext>
                  </a:extLst>
                </p:cNvPr>
                <p:cNvSpPr/>
                <p:nvPr/>
              </p:nvSpPr>
              <p:spPr>
                <a:xfrm>
                  <a:off x="458352" y="312283"/>
                  <a:ext cx="9241804" cy="830997"/>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48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Understanding useState Hook</a:t>
                  </a:r>
                </a:p>
              </p:txBody>
            </p:sp>
            <p:sp>
              <p:nvSpPr>
                <p:cNvPr id="7" name="TextBox 6">
                  <a:extLst>
                    <a:ext uri="{FF2B5EF4-FFF2-40B4-BE49-F238E27FC236}">
                      <a16:creationId xmlns:a16="http://schemas.microsoft.com/office/drawing/2014/main" id="{3AED7149-56D2-5998-27CC-047E29A9CB62}"/>
                    </a:ext>
                  </a:extLst>
                </p:cNvPr>
                <p:cNvSpPr txBox="1"/>
                <p:nvPr/>
              </p:nvSpPr>
              <p:spPr>
                <a:xfrm>
                  <a:off x="458352" y="1349143"/>
                  <a:ext cx="7790935" cy="3562514"/>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solidFill>
                        <a:srgbClr val="FFFF00"/>
                      </a:solidFill>
                      <a:latin typeface="Book Antiqua" panose="02040602050305030304" pitchFamily="18" charset="0"/>
                    </a:rPr>
                    <a:t>Syntax &amp; </a:t>
                  </a:r>
                  <a:r>
                    <a:rPr lang="en-US" sz="2000" dirty="0" err="1">
                      <a:solidFill>
                        <a:srgbClr val="FFFF00"/>
                      </a:solidFill>
                      <a:latin typeface="Book Antiqua" panose="02040602050305030304" pitchFamily="18" charset="0"/>
                    </a:rPr>
                    <a:t>destructuring</a:t>
                  </a:r>
                  <a:r>
                    <a:rPr lang="en-US" sz="2000" dirty="0">
                      <a:solidFill>
                        <a:srgbClr val="FFFF00"/>
                      </a:solidFill>
                      <a:latin typeface="Book Antiqua" panose="02040602050305030304" pitchFamily="18" charset="0"/>
                    </a:rPr>
                    <a:t>:</a:t>
                  </a:r>
                </a:p>
                <a:p>
                  <a:pPr>
                    <a:spcBef>
                      <a:spcPts val="1800"/>
                    </a:spcBef>
                    <a:spcAft>
                      <a:spcPts val="1200"/>
                    </a:spcAft>
                  </a:pPr>
                  <a:endParaRPr lang="en-US" sz="300" dirty="0">
                    <a:solidFill>
                      <a:srgbClr val="FFFF00"/>
                    </a:solidFill>
                    <a:latin typeface="Book Antiqua" panose="02040602050305030304" pitchFamily="18" charset="0"/>
                  </a:endParaRPr>
                </a:p>
                <a:p>
                  <a:pPr marL="457200" indent="-457200">
                    <a:spcBef>
                      <a:spcPts val="1800"/>
                    </a:spcBef>
                    <a:spcAft>
                      <a:spcPts val="1200"/>
                    </a:spcAft>
                    <a:buFont typeface="Wingdings" panose="05000000000000000000" pitchFamily="2" charset="2"/>
                    <a:buChar char="q"/>
                  </a:pPr>
                  <a:r>
                    <a:rPr lang="en-US" sz="2000" dirty="0">
                      <a:solidFill>
                        <a:srgbClr val="FFFF00"/>
                      </a:solidFill>
                      <a:latin typeface="Book Antiqua" panose="02040602050305030304" pitchFamily="18" charset="0"/>
                    </a:rPr>
                    <a:t>State variable: </a:t>
                  </a:r>
                  <a:r>
                    <a:rPr lang="en-US" sz="2000" dirty="0">
                      <a:latin typeface="Book Antiqua" panose="02040602050305030304" pitchFamily="18" charset="0"/>
                    </a:rPr>
                    <a:t>A state variable is a special variable in React that holds data that changes over time and should trigger a re-render of the component when it changes.</a:t>
                  </a:r>
                </a:p>
                <a:p>
                  <a:pPr marL="457200" indent="-457200">
                    <a:spcBef>
                      <a:spcPts val="1800"/>
                    </a:spcBef>
                    <a:spcAft>
                      <a:spcPts val="1200"/>
                    </a:spcAft>
                    <a:buFont typeface="Wingdings" panose="05000000000000000000" pitchFamily="2" charset="2"/>
                    <a:buChar char="q"/>
                  </a:pPr>
                  <a:r>
                    <a:rPr lang="en-US" sz="2000" dirty="0">
                      <a:solidFill>
                        <a:srgbClr val="FFFF00"/>
                      </a:solidFill>
                    </a:rPr>
                    <a:t>State updater function: </a:t>
                  </a:r>
                  <a:r>
                    <a:rPr lang="en-US" sz="2000" dirty="0"/>
                    <a:t>Requests React to update the state and re-render the component. Ensures changes are tracked by </a:t>
                  </a:r>
                  <a:r>
                    <a:rPr lang="en-US" sz="2000" dirty="0" err="1"/>
                    <a:t>React’s</a:t>
                  </a:r>
                  <a:r>
                    <a:rPr lang="en-US" sz="2000" dirty="0"/>
                    <a:t> internal system.</a:t>
                  </a:r>
                </a:p>
              </p:txBody>
            </p:sp>
          </p:grpSp>
          <p:pic>
            <p:nvPicPr>
              <p:cNvPr id="5" name="Picture 4">
                <a:extLst>
                  <a:ext uri="{FF2B5EF4-FFF2-40B4-BE49-F238E27FC236}">
                    <a16:creationId xmlns:a16="http://schemas.microsoft.com/office/drawing/2014/main" id="{BFCE79DF-DAC2-1CD7-082B-53054EB5E1DD}"/>
                  </a:ext>
                </a:extLst>
              </p:cNvPr>
              <p:cNvPicPr>
                <a:picLocks noChangeAspect="1"/>
              </p:cNvPicPr>
              <p:nvPr/>
            </p:nvPicPr>
            <p:blipFill>
              <a:blip r:embed="rId2">
                <a:extLst>
                  <a:ext uri="{28A0092B-C50C-407E-A947-70E740481C1C}">
                    <a14:useLocalDpi xmlns:a14="http://schemas.microsoft.com/office/drawing/2010/main" val="0"/>
                  </a:ext>
                </a:extLst>
              </a:blip>
              <a:srcRect l="16889" t="51586" r="12488" b="31353"/>
              <a:stretch>
                <a:fillRect/>
              </a:stretch>
            </p:blipFill>
            <p:spPr>
              <a:xfrm>
                <a:off x="1051904" y="1760050"/>
                <a:ext cx="4812631" cy="435988"/>
              </a:xfrm>
              <a:prstGeom prst="rect">
                <a:avLst/>
              </a:prstGeom>
            </p:spPr>
          </p:pic>
        </p:grpSp>
      </p:grpSp>
    </p:spTree>
    <p:extLst>
      <p:ext uri="{BB962C8B-B14F-4D97-AF65-F5344CB8AC3E}">
        <p14:creationId xmlns:p14="http://schemas.microsoft.com/office/powerpoint/2010/main" val="1308257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8341F-88C3-30B0-45DC-B96102D7402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BEAFA26-ECE5-5318-B805-C49A2D383C7C}"/>
              </a:ext>
            </a:extLst>
          </p:cNvPr>
          <p:cNvGrpSpPr/>
          <p:nvPr/>
        </p:nvGrpSpPr>
        <p:grpSpPr>
          <a:xfrm>
            <a:off x="1367769" y="1852710"/>
            <a:ext cx="5610547" cy="2184468"/>
            <a:chOff x="458352" y="312283"/>
            <a:chExt cx="5610547" cy="2184468"/>
          </a:xfrm>
        </p:grpSpPr>
        <p:sp>
          <p:nvSpPr>
            <p:cNvPr id="6" name="Rectangle 5">
              <a:extLst>
                <a:ext uri="{FF2B5EF4-FFF2-40B4-BE49-F238E27FC236}">
                  <a16:creationId xmlns:a16="http://schemas.microsoft.com/office/drawing/2014/main" id="{71157710-E5F2-6340-459F-90AEED96A954}"/>
                </a:ext>
              </a:extLst>
            </p:cNvPr>
            <p:cNvSpPr/>
            <p:nvPr/>
          </p:nvSpPr>
          <p:spPr>
            <a:xfrm>
              <a:off x="458352" y="312283"/>
              <a:ext cx="5129283"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Initial State Possibilities</a:t>
              </a:r>
            </a:p>
          </p:txBody>
        </p:sp>
        <p:sp>
          <p:nvSpPr>
            <p:cNvPr id="7" name="TextBox 6">
              <a:extLst>
                <a:ext uri="{FF2B5EF4-FFF2-40B4-BE49-F238E27FC236}">
                  <a16:creationId xmlns:a16="http://schemas.microsoft.com/office/drawing/2014/main" id="{CAAC9F3B-6B84-9E68-9064-05EA46438890}"/>
                </a:ext>
              </a:extLst>
            </p:cNvPr>
            <p:cNvSpPr txBox="1"/>
            <p:nvPr/>
          </p:nvSpPr>
          <p:spPr>
            <a:xfrm>
              <a:off x="458352" y="1404144"/>
              <a:ext cx="5610547" cy="1092607"/>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Primitive values (number, string, boolean).</a:t>
              </a:r>
            </a:p>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Complex values (object, array).</a:t>
              </a:r>
              <a:endParaRPr lang="en-US" sz="2000" dirty="0"/>
            </a:p>
          </p:txBody>
        </p:sp>
      </p:grpSp>
    </p:spTree>
    <p:extLst>
      <p:ext uri="{BB962C8B-B14F-4D97-AF65-F5344CB8AC3E}">
        <p14:creationId xmlns:p14="http://schemas.microsoft.com/office/powerpoint/2010/main" val="109609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0C71-B067-89E0-278A-8A510F8204CC}"/>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3C92DDD4-6983-F057-5DD2-0D2DC42D8E04}"/>
              </a:ext>
            </a:extLst>
          </p:cNvPr>
          <p:cNvGrpSpPr/>
          <p:nvPr/>
        </p:nvGrpSpPr>
        <p:grpSpPr>
          <a:xfrm>
            <a:off x="726994" y="883310"/>
            <a:ext cx="10065625" cy="4875876"/>
            <a:chOff x="520739" y="353920"/>
            <a:chExt cx="10065625" cy="4875876"/>
          </a:xfrm>
        </p:grpSpPr>
        <p:grpSp>
          <p:nvGrpSpPr>
            <p:cNvPr id="2" name="Group 1">
              <a:extLst>
                <a:ext uri="{FF2B5EF4-FFF2-40B4-BE49-F238E27FC236}">
                  <a16:creationId xmlns:a16="http://schemas.microsoft.com/office/drawing/2014/main" id="{21E13BAE-4CC9-4C48-5F79-130EFA52B55A}"/>
                </a:ext>
              </a:extLst>
            </p:cNvPr>
            <p:cNvGrpSpPr/>
            <p:nvPr/>
          </p:nvGrpSpPr>
          <p:grpSpPr>
            <a:xfrm>
              <a:off x="520739" y="353920"/>
              <a:ext cx="8793758" cy="4875876"/>
              <a:chOff x="458352" y="312283"/>
              <a:chExt cx="9241804" cy="4875876"/>
            </a:xfrm>
          </p:grpSpPr>
          <p:sp>
            <p:nvSpPr>
              <p:cNvPr id="6" name="Rectangle 5">
                <a:extLst>
                  <a:ext uri="{FF2B5EF4-FFF2-40B4-BE49-F238E27FC236}">
                    <a16:creationId xmlns:a16="http://schemas.microsoft.com/office/drawing/2014/main" id="{09BC6803-3343-3941-6983-9861CA78AC77}"/>
                  </a:ext>
                </a:extLst>
              </p:cNvPr>
              <p:cNvSpPr/>
              <p:nvPr/>
            </p:nvSpPr>
            <p:spPr>
              <a:xfrm>
                <a:off x="458352" y="312283"/>
                <a:ext cx="9241804" cy="830997"/>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48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Updating State: </a:t>
                </a:r>
              </a:p>
            </p:txBody>
          </p:sp>
          <p:sp>
            <p:nvSpPr>
              <p:cNvPr id="7" name="TextBox 6">
                <a:extLst>
                  <a:ext uri="{FF2B5EF4-FFF2-40B4-BE49-F238E27FC236}">
                    <a16:creationId xmlns:a16="http://schemas.microsoft.com/office/drawing/2014/main" id="{F84BAF9B-8335-2606-4E35-7642FF25CEBB}"/>
                  </a:ext>
                </a:extLst>
              </p:cNvPr>
              <p:cNvSpPr txBox="1"/>
              <p:nvPr/>
            </p:nvSpPr>
            <p:spPr>
              <a:xfrm>
                <a:off x="458352" y="1417896"/>
                <a:ext cx="9163777" cy="3770263"/>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Direct updates:</a:t>
                </a:r>
              </a:p>
              <a:p>
                <a:pPr marL="457200" indent="-457200">
                  <a:spcBef>
                    <a:spcPts val="1800"/>
                  </a:spcBef>
                  <a:spcAft>
                    <a:spcPts val="1200"/>
                  </a:spcAft>
                  <a:buFont typeface="Wingdings" panose="05000000000000000000" pitchFamily="2" charset="2"/>
                  <a:buChar char="q"/>
                </a:pPr>
                <a:endParaRPr lang="en-US" sz="1600" dirty="0">
                  <a:solidFill>
                    <a:srgbClr val="FFFF00"/>
                  </a:solidFill>
                  <a:latin typeface="Book Antiqua" panose="02040602050305030304" pitchFamily="18" charset="0"/>
                </a:endParaRPr>
              </a:p>
              <a:p>
                <a:pPr marL="457200" indent="-457200">
                  <a:spcBef>
                    <a:spcPts val="1800"/>
                  </a:spcBef>
                  <a:spcAft>
                    <a:spcPts val="1200"/>
                  </a:spcAft>
                  <a:buFont typeface="Wingdings" panose="05000000000000000000" pitchFamily="2" charset="2"/>
                  <a:buChar char="q"/>
                </a:pPr>
                <a:r>
                  <a:rPr lang="en-US" sz="2000" dirty="0"/>
                  <a:t>Functional updates (when depending on previous state):</a:t>
                </a:r>
              </a:p>
              <a:p>
                <a:pPr marL="457200" indent="-457200">
                  <a:spcBef>
                    <a:spcPts val="1800"/>
                  </a:spcBef>
                  <a:spcAft>
                    <a:spcPts val="1200"/>
                  </a:spcAft>
                  <a:buFont typeface="Wingdings" panose="05000000000000000000" pitchFamily="2" charset="2"/>
                  <a:buChar char="q"/>
                </a:pPr>
                <a:endParaRPr lang="en-US" dirty="0">
                  <a:solidFill>
                    <a:srgbClr val="FFFF00"/>
                  </a:solidFill>
                </a:endParaRPr>
              </a:p>
              <a:p>
                <a:pPr marL="457200" indent="-457200">
                  <a:spcBef>
                    <a:spcPts val="1800"/>
                  </a:spcBef>
                  <a:spcAft>
                    <a:spcPts val="1200"/>
                  </a:spcAft>
                  <a:buFont typeface="Wingdings" panose="05000000000000000000" pitchFamily="2" charset="2"/>
                  <a:buChar char="q"/>
                </a:pPr>
                <a:r>
                  <a:rPr lang="en-US" sz="2000" dirty="0"/>
                  <a:t>Updating arrays &amp; objects (use spread operator, immutability concept).</a:t>
                </a:r>
              </a:p>
              <a:p>
                <a:pPr marL="457200" indent="-457200">
                  <a:spcBef>
                    <a:spcPts val="1800"/>
                  </a:spcBef>
                  <a:spcAft>
                    <a:spcPts val="1200"/>
                  </a:spcAft>
                  <a:buFont typeface="Wingdings" panose="05000000000000000000" pitchFamily="2" charset="2"/>
                  <a:buChar char="q"/>
                </a:pPr>
                <a:r>
                  <a:rPr lang="en-US" sz="2000" dirty="0"/>
                  <a:t>Common mistakes: mutating directly (push, </a:t>
                </a:r>
                <a:r>
                  <a:rPr lang="en-US" sz="2000" dirty="0" err="1"/>
                  <a:t>user.age</a:t>
                </a:r>
                <a:r>
                  <a:rPr lang="en-US" sz="2000" dirty="0"/>
                  <a:t> = 22).</a:t>
                </a:r>
              </a:p>
            </p:txBody>
          </p:sp>
        </p:grpSp>
        <p:sp>
          <p:nvSpPr>
            <p:cNvPr id="4" name="TextBox 3">
              <a:extLst>
                <a:ext uri="{FF2B5EF4-FFF2-40B4-BE49-F238E27FC236}">
                  <a16:creationId xmlns:a16="http://schemas.microsoft.com/office/drawing/2014/main" id="{31DA53FF-854B-879B-1B7C-E1A93CDE4EBE}"/>
                </a:ext>
              </a:extLst>
            </p:cNvPr>
            <p:cNvSpPr txBox="1"/>
            <p:nvPr/>
          </p:nvSpPr>
          <p:spPr>
            <a:xfrm>
              <a:off x="4792006" y="1354236"/>
              <a:ext cx="5794358" cy="1275698"/>
            </a:xfrm>
            <a:custGeom>
              <a:avLst/>
              <a:gdLst>
                <a:gd name="connsiteX0" fmla="*/ 0 w 5794358"/>
                <a:gd name="connsiteY0" fmla="*/ 0 h 1275698"/>
                <a:gd name="connsiteX1" fmla="*/ 521492 w 5794358"/>
                <a:gd name="connsiteY1" fmla="*/ 0 h 1275698"/>
                <a:gd name="connsiteX2" fmla="*/ 927097 w 5794358"/>
                <a:gd name="connsiteY2" fmla="*/ 0 h 1275698"/>
                <a:gd name="connsiteX3" fmla="*/ 1622420 w 5794358"/>
                <a:gd name="connsiteY3" fmla="*/ 0 h 1275698"/>
                <a:gd name="connsiteX4" fmla="*/ 2143912 w 5794358"/>
                <a:gd name="connsiteY4" fmla="*/ 0 h 1275698"/>
                <a:gd name="connsiteX5" fmla="*/ 2665405 w 5794358"/>
                <a:gd name="connsiteY5" fmla="*/ 0 h 1275698"/>
                <a:gd name="connsiteX6" fmla="*/ 3360728 w 5794358"/>
                <a:gd name="connsiteY6" fmla="*/ 0 h 1275698"/>
                <a:gd name="connsiteX7" fmla="*/ 3824276 w 5794358"/>
                <a:gd name="connsiteY7" fmla="*/ 0 h 1275698"/>
                <a:gd name="connsiteX8" fmla="*/ 4519599 w 5794358"/>
                <a:gd name="connsiteY8" fmla="*/ 0 h 1275698"/>
                <a:gd name="connsiteX9" fmla="*/ 5214922 w 5794358"/>
                <a:gd name="connsiteY9" fmla="*/ 0 h 1275698"/>
                <a:gd name="connsiteX10" fmla="*/ 5794358 w 5794358"/>
                <a:gd name="connsiteY10" fmla="*/ 0 h 1275698"/>
                <a:gd name="connsiteX11" fmla="*/ 5794358 w 5794358"/>
                <a:gd name="connsiteY11" fmla="*/ 450747 h 1275698"/>
                <a:gd name="connsiteX12" fmla="*/ 5794358 w 5794358"/>
                <a:gd name="connsiteY12" fmla="*/ 888736 h 1275698"/>
                <a:gd name="connsiteX13" fmla="*/ 5794358 w 5794358"/>
                <a:gd name="connsiteY13" fmla="*/ 1275698 h 1275698"/>
                <a:gd name="connsiteX14" fmla="*/ 5214922 w 5794358"/>
                <a:gd name="connsiteY14" fmla="*/ 1275698 h 1275698"/>
                <a:gd name="connsiteX15" fmla="*/ 4751374 w 5794358"/>
                <a:gd name="connsiteY15" fmla="*/ 1275698 h 1275698"/>
                <a:gd name="connsiteX16" fmla="*/ 4171938 w 5794358"/>
                <a:gd name="connsiteY16" fmla="*/ 1275698 h 1275698"/>
                <a:gd name="connsiteX17" fmla="*/ 3476615 w 5794358"/>
                <a:gd name="connsiteY17" fmla="*/ 1275698 h 1275698"/>
                <a:gd name="connsiteX18" fmla="*/ 2897179 w 5794358"/>
                <a:gd name="connsiteY18" fmla="*/ 1275698 h 1275698"/>
                <a:gd name="connsiteX19" fmla="*/ 2491574 w 5794358"/>
                <a:gd name="connsiteY19" fmla="*/ 1275698 h 1275698"/>
                <a:gd name="connsiteX20" fmla="*/ 2028025 w 5794358"/>
                <a:gd name="connsiteY20" fmla="*/ 1275698 h 1275698"/>
                <a:gd name="connsiteX21" fmla="*/ 1332702 w 5794358"/>
                <a:gd name="connsiteY21" fmla="*/ 1275698 h 1275698"/>
                <a:gd name="connsiteX22" fmla="*/ 753267 w 5794358"/>
                <a:gd name="connsiteY22" fmla="*/ 1275698 h 1275698"/>
                <a:gd name="connsiteX23" fmla="*/ 0 w 5794358"/>
                <a:gd name="connsiteY23" fmla="*/ 1275698 h 1275698"/>
                <a:gd name="connsiteX24" fmla="*/ 0 w 5794358"/>
                <a:gd name="connsiteY24" fmla="*/ 850465 h 1275698"/>
                <a:gd name="connsiteX25" fmla="*/ 0 w 5794358"/>
                <a:gd name="connsiteY25" fmla="*/ 463504 h 1275698"/>
                <a:gd name="connsiteX26" fmla="*/ 0 w 5794358"/>
                <a:gd name="connsiteY26" fmla="*/ 0 h 127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94358" h="1275698" extrusionOk="0">
                  <a:moveTo>
                    <a:pt x="0" y="0"/>
                  </a:moveTo>
                  <a:cubicBezTo>
                    <a:pt x="175358" y="-61265"/>
                    <a:pt x="302440" y="5138"/>
                    <a:pt x="521492" y="0"/>
                  </a:cubicBezTo>
                  <a:cubicBezTo>
                    <a:pt x="740544" y="-5138"/>
                    <a:pt x="729675" y="18793"/>
                    <a:pt x="927097" y="0"/>
                  </a:cubicBezTo>
                  <a:cubicBezTo>
                    <a:pt x="1124519" y="-18793"/>
                    <a:pt x="1298768" y="4154"/>
                    <a:pt x="1622420" y="0"/>
                  </a:cubicBezTo>
                  <a:cubicBezTo>
                    <a:pt x="1946072" y="-4154"/>
                    <a:pt x="1993813" y="51376"/>
                    <a:pt x="2143912" y="0"/>
                  </a:cubicBezTo>
                  <a:cubicBezTo>
                    <a:pt x="2294011" y="-51376"/>
                    <a:pt x="2483759" y="52146"/>
                    <a:pt x="2665405" y="0"/>
                  </a:cubicBezTo>
                  <a:cubicBezTo>
                    <a:pt x="2847051" y="-52146"/>
                    <a:pt x="3195884" y="22858"/>
                    <a:pt x="3360728" y="0"/>
                  </a:cubicBezTo>
                  <a:cubicBezTo>
                    <a:pt x="3525572" y="-22858"/>
                    <a:pt x="3595472" y="21575"/>
                    <a:pt x="3824276" y="0"/>
                  </a:cubicBezTo>
                  <a:cubicBezTo>
                    <a:pt x="4053080" y="-21575"/>
                    <a:pt x="4327839" y="64544"/>
                    <a:pt x="4519599" y="0"/>
                  </a:cubicBezTo>
                  <a:cubicBezTo>
                    <a:pt x="4711359" y="-64544"/>
                    <a:pt x="4994448" y="27968"/>
                    <a:pt x="5214922" y="0"/>
                  </a:cubicBezTo>
                  <a:cubicBezTo>
                    <a:pt x="5435396" y="-27968"/>
                    <a:pt x="5518384" y="63429"/>
                    <a:pt x="5794358" y="0"/>
                  </a:cubicBezTo>
                  <a:cubicBezTo>
                    <a:pt x="5809542" y="127628"/>
                    <a:pt x="5769834" y="347573"/>
                    <a:pt x="5794358" y="450747"/>
                  </a:cubicBezTo>
                  <a:cubicBezTo>
                    <a:pt x="5818882" y="553921"/>
                    <a:pt x="5762211" y="795086"/>
                    <a:pt x="5794358" y="888736"/>
                  </a:cubicBezTo>
                  <a:cubicBezTo>
                    <a:pt x="5826505" y="982386"/>
                    <a:pt x="5754406" y="1134352"/>
                    <a:pt x="5794358" y="1275698"/>
                  </a:cubicBezTo>
                  <a:cubicBezTo>
                    <a:pt x="5617793" y="1336277"/>
                    <a:pt x="5487228" y="1252061"/>
                    <a:pt x="5214922" y="1275698"/>
                  </a:cubicBezTo>
                  <a:cubicBezTo>
                    <a:pt x="4942616" y="1299335"/>
                    <a:pt x="4857756" y="1234464"/>
                    <a:pt x="4751374" y="1275698"/>
                  </a:cubicBezTo>
                  <a:cubicBezTo>
                    <a:pt x="4644992" y="1316932"/>
                    <a:pt x="4338649" y="1212864"/>
                    <a:pt x="4171938" y="1275698"/>
                  </a:cubicBezTo>
                  <a:cubicBezTo>
                    <a:pt x="4005227" y="1338532"/>
                    <a:pt x="3801040" y="1194310"/>
                    <a:pt x="3476615" y="1275698"/>
                  </a:cubicBezTo>
                  <a:cubicBezTo>
                    <a:pt x="3152190" y="1357086"/>
                    <a:pt x="3117444" y="1217552"/>
                    <a:pt x="2897179" y="1275698"/>
                  </a:cubicBezTo>
                  <a:cubicBezTo>
                    <a:pt x="2676914" y="1333844"/>
                    <a:pt x="2683443" y="1255327"/>
                    <a:pt x="2491574" y="1275698"/>
                  </a:cubicBezTo>
                  <a:cubicBezTo>
                    <a:pt x="2299705" y="1296069"/>
                    <a:pt x="2155983" y="1268347"/>
                    <a:pt x="2028025" y="1275698"/>
                  </a:cubicBezTo>
                  <a:cubicBezTo>
                    <a:pt x="1900067" y="1283049"/>
                    <a:pt x="1517912" y="1216906"/>
                    <a:pt x="1332702" y="1275698"/>
                  </a:cubicBezTo>
                  <a:cubicBezTo>
                    <a:pt x="1147492" y="1334490"/>
                    <a:pt x="1005795" y="1248407"/>
                    <a:pt x="753267" y="1275698"/>
                  </a:cubicBezTo>
                  <a:cubicBezTo>
                    <a:pt x="500739" y="1302989"/>
                    <a:pt x="350696" y="1217550"/>
                    <a:pt x="0" y="1275698"/>
                  </a:cubicBezTo>
                  <a:cubicBezTo>
                    <a:pt x="-18682" y="1160526"/>
                    <a:pt x="12461" y="1062797"/>
                    <a:pt x="0" y="850465"/>
                  </a:cubicBezTo>
                  <a:cubicBezTo>
                    <a:pt x="-12461" y="638133"/>
                    <a:pt x="31219" y="557563"/>
                    <a:pt x="0" y="463504"/>
                  </a:cubicBezTo>
                  <a:cubicBezTo>
                    <a:pt x="-31219" y="369445"/>
                    <a:pt x="23700" y="105904"/>
                    <a:pt x="0" y="0"/>
                  </a:cubicBezTo>
                  <a:close/>
                </a:path>
              </a:pathLst>
            </a:custGeom>
            <a:noFill/>
            <a:ln>
              <a:solidFill>
                <a:srgbClr val="FFFF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lIns="252000" tIns="144000" rIns="252000" bIns="144000" rtlCol="0">
              <a:spAutoFit/>
            </a:bodyPr>
            <a:lstStyle/>
            <a:p>
              <a:pPr>
                <a:spcAft>
                  <a:spcPts val="1200"/>
                </a:spcAft>
              </a:pPr>
              <a:r>
                <a:rPr lang="en-US" b="1" dirty="0">
                  <a:solidFill>
                    <a:srgbClr val="FFFF00"/>
                  </a:solidFill>
                </a:rPr>
                <a:t>Note:</a:t>
              </a:r>
            </a:p>
            <a:p>
              <a:r>
                <a:rPr lang="en-US" dirty="0"/>
                <a:t>Never modify state directly (count = count + 1 ❌). Directly mutating the variable won’t trigger re-render.</a:t>
              </a:r>
              <a:endParaRPr lang="en-IN" dirty="0"/>
            </a:p>
          </p:txBody>
        </p:sp>
        <p:pic>
          <p:nvPicPr>
            <p:cNvPr id="9" name="Picture 8">
              <a:extLst>
                <a:ext uri="{FF2B5EF4-FFF2-40B4-BE49-F238E27FC236}">
                  <a16:creationId xmlns:a16="http://schemas.microsoft.com/office/drawing/2014/main" id="{2D82E7B6-9486-F520-ED7F-4C068864AA11}"/>
                </a:ext>
              </a:extLst>
            </p:cNvPr>
            <p:cNvPicPr>
              <a:picLocks noChangeAspect="1"/>
            </p:cNvPicPr>
            <p:nvPr/>
          </p:nvPicPr>
          <p:blipFill>
            <a:blip r:embed="rId2">
              <a:extLst>
                <a:ext uri="{28A0092B-C50C-407E-A947-70E740481C1C}">
                  <a14:useLocalDpi xmlns:a14="http://schemas.microsoft.com/office/drawing/2010/main" val="0"/>
                </a:ext>
              </a:extLst>
            </a:blip>
            <a:srcRect l="25422" t="50000" r="18292" b="30357"/>
            <a:stretch>
              <a:fillRect/>
            </a:stretch>
          </p:blipFill>
          <p:spPr>
            <a:xfrm>
              <a:off x="1065653" y="1992085"/>
              <a:ext cx="2708825" cy="516493"/>
            </a:xfrm>
            <a:prstGeom prst="rect">
              <a:avLst/>
            </a:prstGeom>
          </p:spPr>
        </p:pic>
        <p:pic>
          <p:nvPicPr>
            <p:cNvPr id="11" name="Picture 10">
              <a:extLst>
                <a:ext uri="{FF2B5EF4-FFF2-40B4-BE49-F238E27FC236}">
                  <a16:creationId xmlns:a16="http://schemas.microsoft.com/office/drawing/2014/main" id="{8DACC454-E119-0F48-0AAB-1831A1B47428}"/>
                </a:ext>
              </a:extLst>
            </p:cNvPr>
            <p:cNvPicPr>
              <a:picLocks noChangeAspect="1"/>
            </p:cNvPicPr>
            <p:nvPr/>
          </p:nvPicPr>
          <p:blipFill>
            <a:blip r:embed="rId3">
              <a:extLst>
                <a:ext uri="{28A0092B-C50C-407E-A947-70E740481C1C}">
                  <a14:useLocalDpi xmlns:a14="http://schemas.microsoft.com/office/drawing/2010/main" val="0"/>
                </a:ext>
              </a:extLst>
            </a:blip>
            <a:srcRect l="20736" t="50000" r="14687" b="30357"/>
            <a:stretch>
              <a:fillRect/>
            </a:stretch>
          </p:blipFill>
          <p:spPr>
            <a:xfrm>
              <a:off x="1088570" y="3329195"/>
              <a:ext cx="3726353" cy="525351"/>
            </a:xfrm>
            <a:prstGeom prst="rect">
              <a:avLst/>
            </a:prstGeom>
          </p:spPr>
        </p:pic>
      </p:grpSp>
    </p:spTree>
    <p:extLst>
      <p:ext uri="{BB962C8B-B14F-4D97-AF65-F5344CB8AC3E}">
        <p14:creationId xmlns:p14="http://schemas.microsoft.com/office/powerpoint/2010/main" val="2015952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1C123-36C6-C0AD-FFCB-105DFCC6931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7573B2C-7D1C-67D7-CA2F-C103FD1EF8DF}"/>
              </a:ext>
            </a:extLst>
          </p:cNvPr>
          <p:cNvGrpSpPr/>
          <p:nvPr/>
        </p:nvGrpSpPr>
        <p:grpSpPr>
          <a:xfrm>
            <a:off x="590873" y="567051"/>
            <a:ext cx="10461439" cy="5723898"/>
            <a:chOff x="458352" y="312283"/>
            <a:chExt cx="10461439" cy="5723898"/>
          </a:xfrm>
        </p:grpSpPr>
        <p:sp>
          <p:nvSpPr>
            <p:cNvPr id="6" name="Rectangle 5">
              <a:extLst>
                <a:ext uri="{FF2B5EF4-FFF2-40B4-BE49-F238E27FC236}">
                  <a16:creationId xmlns:a16="http://schemas.microsoft.com/office/drawing/2014/main" id="{A2A31C7F-7EAD-5FF1-5BCE-C82071755536}"/>
                </a:ext>
              </a:extLst>
            </p:cNvPr>
            <p:cNvSpPr/>
            <p:nvPr/>
          </p:nvSpPr>
          <p:spPr>
            <a:xfrm>
              <a:off x="458352" y="312283"/>
              <a:ext cx="10461439"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how React components are rendered and updated</a:t>
              </a:r>
            </a:p>
          </p:txBody>
        </p:sp>
        <p:sp>
          <p:nvSpPr>
            <p:cNvPr id="7" name="TextBox 6">
              <a:extLst>
                <a:ext uri="{FF2B5EF4-FFF2-40B4-BE49-F238E27FC236}">
                  <a16:creationId xmlns:a16="http://schemas.microsoft.com/office/drawing/2014/main" id="{294E4181-3C0B-0393-1AE9-DF149D780B7C}"/>
                </a:ext>
              </a:extLst>
            </p:cNvPr>
            <p:cNvSpPr txBox="1"/>
            <p:nvPr/>
          </p:nvSpPr>
          <p:spPr>
            <a:xfrm>
              <a:off x="458352" y="1404144"/>
              <a:ext cx="10461439" cy="4632037"/>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solidFill>
                    <a:srgbClr val="FFFF00"/>
                  </a:solidFill>
                  <a:latin typeface="Book Antiqua" panose="02040602050305030304" pitchFamily="18" charset="0"/>
                </a:rPr>
                <a:t>State Declaration: </a:t>
              </a:r>
              <a:r>
                <a:rPr lang="en-US" sz="2000" dirty="0">
                  <a:latin typeface="Book Antiqua" panose="02040602050305030304" pitchFamily="18" charset="0"/>
                </a:rPr>
                <a:t>Components in React manage their data using "state." In functional components, this is typically done using the useState hook.</a:t>
              </a:r>
            </a:p>
            <a:p>
              <a:pPr marL="457200" indent="-457200">
                <a:spcBef>
                  <a:spcPts val="1800"/>
                </a:spcBef>
                <a:spcAft>
                  <a:spcPts val="1200"/>
                </a:spcAft>
                <a:buFont typeface="Wingdings" panose="05000000000000000000" pitchFamily="2" charset="2"/>
                <a:buChar char="q"/>
              </a:pPr>
              <a:r>
                <a:rPr lang="en-US" sz="2000" dirty="0">
                  <a:solidFill>
                    <a:srgbClr val="FFFF00"/>
                  </a:solidFill>
                </a:rPr>
                <a:t>Updating State: </a:t>
              </a:r>
              <a:r>
                <a:rPr lang="en-US" sz="2000" dirty="0"/>
                <a:t>When an event occurs (e.g., a user clicks a button, data is fetched), you use the state's updater function (e.g., </a:t>
              </a:r>
              <a:r>
                <a:rPr lang="en-US" sz="2000" dirty="0" err="1"/>
                <a:t>setCount</a:t>
              </a:r>
              <a:r>
                <a:rPr lang="en-US" sz="2000" dirty="0"/>
                <a:t>) to change the state value.</a:t>
              </a:r>
            </a:p>
            <a:p>
              <a:pPr marL="457200" indent="-457200">
                <a:spcBef>
                  <a:spcPts val="1800"/>
                </a:spcBef>
                <a:spcAft>
                  <a:spcPts val="1200"/>
                </a:spcAft>
                <a:buFont typeface="Wingdings" panose="05000000000000000000" pitchFamily="2" charset="2"/>
                <a:buChar char="q"/>
              </a:pPr>
              <a:r>
                <a:rPr lang="en-US" sz="2000" dirty="0">
                  <a:solidFill>
                    <a:srgbClr val="FFFF00"/>
                  </a:solidFill>
                </a:rPr>
                <a:t>Re-rendering: </a:t>
              </a:r>
              <a:r>
                <a:rPr lang="en-US" sz="2000" dirty="0"/>
                <a:t>When the state is updated using its setter function, React detects this change. It then queues a re-render of the component where the state was updated, and any child components that depend on that state.</a:t>
              </a:r>
            </a:p>
            <a:p>
              <a:pPr marL="457200" indent="-457200">
                <a:spcBef>
                  <a:spcPts val="1800"/>
                </a:spcBef>
                <a:spcAft>
                  <a:spcPts val="1200"/>
                </a:spcAft>
                <a:buFont typeface="Wingdings" panose="05000000000000000000" pitchFamily="2" charset="2"/>
                <a:buChar char="q"/>
              </a:pPr>
              <a:r>
                <a:rPr lang="en-US" sz="2000" dirty="0">
                  <a:solidFill>
                    <a:srgbClr val="FFFF00"/>
                  </a:solidFill>
                </a:rPr>
                <a:t>UI Update: </a:t>
              </a:r>
              <a:r>
                <a:rPr lang="en-US" sz="2000" dirty="0"/>
                <a:t>During the re-render, React re-executes the component's render logic (the JSX). It compares the new virtual DOM tree with the previous one and efficiently updates only the necessary parts of the actual DOM to reflect the new state. This ensures that the UI accurately displays the current state values.</a:t>
              </a:r>
            </a:p>
          </p:txBody>
        </p:sp>
      </p:grpSp>
    </p:spTree>
    <p:extLst>
      <p:ext uri="{BB962C8B-B14F-4D97-AF65-F5344CB8AC3E}">
        <p14:creationId xmlns:p14="http://schemas.microsoft.com/office/powerpoint/2010/main" val="1651849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9E135-C645-B0BB-4B72-D989CF801A5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9F76DAA-1E97-5DD9-B566-36371E259B43}"/>
              </a:ext>
            </a:extLst>
          </p:cNvPr>
          <p:cNvGrpSpPr/>
          <p:nvPr/>
        </p:nvGrpSpPr>
        <p:grpSpPr>
          <a:xfrm>
            <a:off x="659023" y="515632"/>
            <a:ext cx="6504922" cy="5826736"/>
            <a:chOff x="458351" y="312283"/>
            <a:chExt cx="7009222" cy="5826736"/>
          </a:xfrm>
        </p:grpSpPr>
        <p:sp>
          <p:nvSpPr>
            <p:cNvPr id="6" name="Rectangle 5">
              <a:extLst>
                <a:ext uri="{FF2B5EF4-FFF2-40B4-BE49-F238E27FC236}">
                  <a16:creationId xmlns:a16="http://schemas.microsoft.com/office/drawing/2014/main" id="{D32A7CE2-2D56-97BA-A839-C37DCCED6896}"/>
                </a:ext>
              </a:extLst>
            </p:cNvPr>
            <p:cNvSpPr/>
            <p:nvPr/>
          </p:nvSpPr>
          <p:spPr>
            <a:xfrm>
              <a:off x="458352" y="312283"/>
              <a:ext cx="5490542"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Memory (Storage)</a:t>
              </a:r>
            </a:p>
          </p:txBody>
        </p:sp>
        <p:sp>
          <p:nvSpPr>
            <p:cNvPr id="7" name="TextBox 6">
              <a:extLst>
                <a:ext uri="{FF2B5EF4-FFF2-40B4-BE49-F238E27FC236}">
                  <a16:creationId xmlns:a16="http://schemas.microsoft.com/office/drawing/2014/main" id="{3A434610-351B-2566-0081-25B1CFD63062}"/>
                </a:ext>
              </a:extLst>
            </p:cNvPr>
            <p:cNvSpPr txBox="1"/>
            <p:nvPr/>
          </p:nvSpPr>
          <p:spPr>
            <a:xfrm>
              <a:off x="458351" y="1122261"/>
              <a:ext cx="7009222" cy="5016758"/>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Each component instance has its own independent state, even if it’s the same component used multiple times.</a:t>
              </a:r>
            </a:p>
            <a:p>
              <a:pPr>
                <a:spcBef>
                  <a:spcPts val="1800"/>
                </a:spcBef>
                <a:spcAft>
                  <a:spcPts val="1200"/>
                </a:spcAft>
              </a:pPr>
              <a:r>
                <a:rPr lang="en-US" sz="2000" b="1" dirty="0">
                  <a:solidFill>
                    <a:srgbClr val="FFFF00"/>
                  </a:solidFill>
                </a:rPr>
                <a:t>Why It Works Like This ?</a:t>
              </a:r>
              <a:endParaRPr lang="en-US" sz="2000" b="1" dirty="0">
                <a:solidFill>
                  <a:srgbClr val="FFFF00"/>
                </a:solidFill>
                <a:latin typeface="Book Antiqua" panose="02040602050305030304" pitchFamily="18" charset="0"/>
              </a:endParaRPr>
            </a:p>
            <a:p>
              <a:pPr marL="457200" indent="-457200">
                <a:spcBef>
                  <a:spcPts val="1800"/>
                </a:spcBef>
                <a:spcAft>
                  <a:spcPts val="1200"/>
                </a:spcAft>
                <a:buFont typeface="Wingdings" panose="05000000000000000000" pitchFamily="2" charset="2"/>
                <a:buChar char="q"/>
              </a:pPr>
              <a:r>
                <a:rPr lang="en-US" sz="2000" dirty="0"/>
                <a:t>React doesn’t attach state to the component function itself.</a:t>
              </a:r>
            </a:p>
            <a:p>
              <a:pPr marL="457200" indent="-457200">
                <a:spcBef>
                  <a:spcPts val="1800"/>
                </a:spcBef>
                <a:spcAft>
                  <a:spcPts val="1200"/>
                </a:spcAft>
                <a:buFont typeface="Wingdings" panose="05000000000000000000" pitchFamily="2" charset="2"/>
                <a:buChar char="q"/>
              </a:pPr>
              <a:r>
                <a:rPr lang="en-US" sz="2000" dirty="0"/>
                <a:t>Instead, React keeps a state “bucket” for each component instance in the tree.</a:t>
              </a:r>
            </a:p>
            <a:p>
              <a:pPr marL="457200" indent="-457200">
                <a:spcBef>
                  <a:spcPts val="1800"/>
                </a:spcBef>
                <a:spcAft>
                  <a:spcPts val="1200"/>
                </a:spcAft>
                <a:buFont typeface="Wingdings" panose="05000000000000000000" pitchFamily="2" charset="2"/>
                <a:buChar char="q"/>
              </a:pPr>
              <a:r>
                <a:rPr lang="en-US" sz="2000" dirty="0"/>
                <a:t>When React re-renders, it matches components using their position in the tree and gives them back their own state memory.</a:t>
              </a:r>
            </a:p>
          </p:txBody>
        </p:sp>
      </p:grpSp>
      <p:pic>
        <p:nvPicPr>
          <p:cNvPr id="4" name="Picture 3">
            <a:extLst>
              <a:ext uri="{FF2B5EF4-FFF2-40B4-BE49-F238E27FC236}">
                <a16:creationId xmlns:a16="http://schemas.microsoft.com/office/drawing/2014/main" id="{14BAF28D-DF1B-DA44-249F-BFEBEFF9EF9B}"/>
              </a:ext>
            </a:extLst>
          </p:cNvPr>
          <p:cNvPicPr>
            <a:picLocks noChangeAspect="1"/>
          </p:cNvPicPr>
          <p:nvPr/>
        </p:nvPicPr>
        <p:blipFill>
          <a:blip r:embed="rId2">
            <a:extLst>
              <a:ext uri="{28A0092B-C50C-407E-A947-70E740481C1C}">
                <a14:useLocalDpi xmlns:a14="http://schemas.microsoft.com/office/drawing/2010/main" val="0"/>
              </a:ext>
            </a:extLst>
          </a:blip>
          <a:srcRect t="10927" b="15085"/>
          <a:stretch>
            <a:fillRect/>
          </a:stretch>
        </p:blipFill>
        <p:spPr>
          <a:xfrm>
            <a:off x="7694482" y="515632"/>
            <a:ext cx="3939985" cy="4372627"/>
          </a:xfrm>
          <a:prstGeom prst="rect">
            <a:avLst/>
          </a:prstGeom>
        </p:spPr>
      </p:pic>
    </p:spTree>
    <p:extLst>
      <p:ext uri="{BB962C8B-B14F-4D97-AF65-F5344CB8AC3E}">
        <p14:creationId xmlns:p14="http://schemas.microsoft.com/office/powerpoint/2010/main" val="1692172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9365C-F65F-7EA5-6E7E-FA6CEF48819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1B18C490-0DEB-DA73-B33E-169C7C8308B3}"/>
              </a:ext>
            </a:extLst>
          </p:cNvPr>
          <p:cNvGrpSpPr/>
          <p:nvPr/>
        </p:nvGrpSpPr>
        <p:grpSpPr>
          <a:xfrm>
            <a:off x="1085885" y="1391426"/>
            <a:ext cx="9309400" cy="3410690"/>
            <a:chOff x="790253" y="972039"/>
            <a:chExt cx="9309400" cy="3410690"/>
          </a:xfrm>
        </p:grpSpPr>
        <p:grpSp>
          <p:nvGrpSpPr>
            <p:cNvPr id="2" name="Group 1">
              <a:extLst>
                <a:ext uri="{FF2B5EF4-FFF2-40B4-BE49-F238E27FC236}">
                  <a16:creationId xmlns:a16="http://schemas.microsoft.com/office/drawing/2014/main" id="{71A51611-A3C8-E69D-E174-E58A82F866C2}"/>
                </a:ext>
              </a:extLst>
            </p:cNvPr>
            <p:cNvGrpSpPr/>
            <p:nvPr/>
          </p:nvGrpSpPr>
          <p:grpSpPr>
            <a:xfrm>
              <a:off x="790253" y="972039"/>
              <a:ext cx="9309400" cy="3410690"/>
              <a:chOff x="458352" y="312283"/>
              <a:chExt cx="9309400" cy="3410690"/>
            </a:xfrm>
          </p:grpSpPr>
          <p:sp>
            <p:nvSpPr>
              <p:cNvPr id="6" name="Rectangle 5">
                <a:extLst>
                  <a:ext uri="{FF2B5EF4-FFF2-40B4-BE49-F238E27FC236}">
                    <a16:creationId xmlns:a16="http://schemas.microsoft.com/office/drawing/2014/main" id="{2AFB7C7D-E635-2F37-8640-65E914948D79}"/>
                  </a:ext>
                </a:extLst>
              </p:cNvPr>
              <p:cNvSpPr/>
              <p:nvPr/>
            </p:nvSpPr>
            <p:spPr>
              <a:xfrm>
                <a:off x="458352" y="312283"/>
                <a:ext cx="6346193"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Keyed Components</a:t>
                </a:r>
              </a:p>
            </p:txBody>
          </p:sp>
          <p:sp>
            <p:nvSpPr>
              <p:cNvPr id="7" name="TextBox 6">
                <a:extLst>
                  <a:ext uri="{FF2B5EF4-FFF2-40B4-BE49-F238E27FC236}">
                    <a16:creationId xmlns:a16="http://schemas.microsoft.com/office/drawing/2014/main" id="{3A881153-0DE2-794F-7687-17C36539AAF0}"/>
                  </a:ext>
                </a:extLst>
              </p:cNvPr>
              <p:cNvSpPr txBox="1"/>
              <p:nvPr/>
            </p:nvSpPr>
            <p:spPr>
              <a:xfrm>
                <a:off x="458352" y="1122261"/>
                <a:ext cx="9309400" cy="2600712"/>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If you render components in a list:</a:t>
                </a:r>
              </a:p>
              <a:p>
                <a:pPr marL="457200" indent="-457200">
                  <a:spcBef>
                    <a:spcPts val="1800"/>
                  </a:spcBef>
                  <a:spcAft>
                    <a:spcPts val="1200"/>
                  </a:spcAft>
                  <a:buFont typeface="Wingdings" panose="05000000000000000000" pitchFamily="2" charset="2"/>
                  <a:buChar char="q"/>
                </a:pPr>
                <a:endParaRPr lang="en-US" sz="2800" dirty="0">
                  <a:latin typeface="Book Antiqua" panose="02040602050305030304" pitchFamily="18" charset="0"/>
                </a:endParaRPr>
              </a:p>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React uses the key prop to decide which state belongs to which component.</a:t>
                </a:r>
              </a:p>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If key changes → React treats it as a new component with a fresh state.</a:t>
                </a:r>
                <a:endParaRPr lang="en-US" sz="2000" dirty="0"/>
              </a:p>
            </p:txBody>
          </p:sp>
        </p:grpSp>
        <p:pic>
          <p:nvPicPr>
            <p:cNvPr id="4" name="Picture 3">
              <a:extLst>
                <a:ext uri="{FF2B5EF4-FFF2-40B4-BE49-F238E27FC236}">
                  <a16:creationId xmlns:a16="http://schemas.microsoft.com/office/drawing/2014/main" id="{586119D9-0C30-9E01-71CB-47B090639162}"/>
                </a:ext>
              </a:extLst>
            </p:cNvPr>
            <p:cNvPicPr>
              <a:picLocks noChangeAspect="1"/>
            </p:cNvPicPr>
            <p:nvPr/>
          </p:nvPicPr>
          <p:blipFill>
            <a:blip r:embed="rId2">
              <a:extLst>
                <a:ext uri="{28A0092B-C50C-407E-A947-70E740481C1C}">
                  <a14:useLocalDpi xmlns:a14="http://schemas.microsoft.com/office/drawing/2010/main" val="0"/>
                </a:ext>
              </a:extLst>
            </a:blip>
            <a:srcRect l="15443" t="50000" r="10651" b="31253"/>
            <a:stretch>
              <a:fillRect/>
            </a:stretch>
          </p:blipFill>
          <p:spPr>
            <a:xfrm>
              <a:off x="1325318" y="2308433"/>
              <a:ext cx="6567397" cy="547565"/>
            </a:xfrm>
            <a:prstGeom prst="rect">
              <a:avLst/>
            </a:prstGeom>
          </p:spPr>
        </p:pic>
      </p:grpSp>
    </p:spTree>
    <p:extLst>
      <p:ext uri="{BB962C8B-B14F-4D97-AF65-F5344CB8AC3E}">
        <p14:creationId xmlns:p14="http://schemas.microsoft.com/office/powerpoint/2010/main" val="3659784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0E32-7225-BFA8-866D-C7B5C32A1DD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E052B0E-8100-AED8-0C0B-5B6F01EF120D}"/>
              </a:ext>
            </a:extLst>
          </p:cNvPr>
          <p:cNvSpPr/>
          <p:nvPr/>
        </p:nvSpPr>
        <p:spPr>
          <a:xfrm>
            <a:off x="1341310" y="2354601"/>
            <a:ext cx="9509380" cy="1569660"/>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9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Common Pitfalls</a:t>
            </a:r>
          </a:p>
        </p:txBody>
      </p:sp>
    </p:spTree>
    <p:extLst>
      <p:ext uri="{BB962C8B-B14F-4D97-AF65-F5344CB8AC3E}">
        <p14:creationId xmlns:p14="http://schemas.microsoft.com/office/powerpoint/2010/main" val="3581444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4AAC-1236-BEE3-AE73-B6D1B593B870}"/>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B2FE580-0C64-96BB-A683-DDADF7C2A3F8}"/>
              </a:ext>
            </a:extLst>
          </p:cNvPr>
          <p:cNvGrpSpPr/>
          <p:nvPr/>
        </p:nvGrpSpPr>
        <p:grpSpPr>
          <a:xfrm>
            <a:off x="858404" y="1082691"/>
            <a:ext cx="9573375" cy="4486212"/>
            <a:chOff x="652148" y="628928"/>
            <a:chExt cx="9573375" cy="4486212"/>
          </a:xfrm>
        </p:grpSpPr>
        <p:sp>
          <p:nvSpPr>
            <p:cNvPr id="6" name="Rectangle 5">
              <a:extLst>
                <a:ext uri="{FF2B5EF4-FFF2-40B4-BE49-F238E27FC236}">
                  <a16:creationId xmlns:a16="http://schemas.microsoft.com/office/drawing/2014/main" id="{F533AC09-3BDB-BE09-FC40-696FDF0E807F}"/>
                </a:ext>
              </a:extLst>
            </p:cNvPr>
            <p:cNvSpPr/>
            <p:nvPr/>
          </p:nvSpPr>
          <p:spPr>
            <a:xfrm>
              <a:off x="652149" y="628928"/>
              <a:ext cx="8945612"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1. Async Nature of State Updates</a:t>
              </a:r>
            </a:p>
          </p:txBody>
        </p:sp>
        <p:sp>
          <p:nvSpPr>
            <p:cNvPr id="7" name="TextBox 6">
              <a:extLst>
                <a:ext uri="{FF2B5EF4-FFF2-40B4-BE49-F238E27FC236}">
                  <a16:creationId xmlns:a16="http://schemas.microsoft.com/office/drawing/2014/main" id="{5087CAEE-C09F-D950-34C9-670A63060CFE}"/>
                </a:ext>
              </a:extLst>
            </p:cNvPr>
            <p:cNvSpPr txBox="1"/>
            <p:nvPr/>
          </p:nvSpPr>
          <p:spPr>
            <a:xfrm>
              <a:off x="652148" y="1687859"/>
              <a:ext cx="9573375" cy="707886"/>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Updating state doesn’t happen immediately; React schedules it and re-renders later.</a:t>
              </a:r>
              <a:endParaRPr lang="en-US" sz="2000" dirty="0"/>
            </a:p>
          </p:txBody>
        </p:sp>
        <p:pic>
          <p:nvPicPr>
            <p:cNvPr id="4" name="Picture 3">
              <a:extLst>
                <a:ext uri="{FF2B5EF4-FFF2-40B4-BE49-F238E27FC236}">
                  <a16:creationId xmlns:a16="http://schemas.microsoft.com/office/drawing/2014/main" id="{89FF136E-CA74-AADB-1668-D6AB90E2297A}"/>
                </a:ext>
              </a:extLst>
            </p:cNvPr>
            <p:cNvPicPr>
              <a:picLocks noChangeAspect="1"/>
            </p:cNvPicPr>
            <p:nvPr/>
          </p:nvPicPr>
          <p:blipFill>
            <a:blip r:embed="rId3">
              <a:extLst>
                <a:ext uri="{28A0092B-C50C-407E-A947-70E740481C1C}">
                  <a14:useLocalDpi xmlns:a14="http://schemas.microsoft.com/office/drawing/2010/main" val="0"/>
                </a:ext>
              </a:extLst>
            </a:blip>
            <a:srcRect l="12434" t="31712" r="8965" b="18039"/>
            <a:stretch>
              <a:fillRect/>
            </a:stretch>
          </p:blipFill>
          <p:spPr>
            <a:xfrm>
              <a:off x="1196281" y="2626322"/>
              <a:ext cx="8669612" cy="2488818"/>
            </a:xfrm>
            <a:prstGeom prst="rect">
              <a:avLst/>
            </a:prstGeom>
          </p:spPr>
        </p:pic>
      </p:grpSp>
    </p:spTree>
    <p:extLst>
      <p:ext uri="{BB962C8B-B14F-4D97-AF65-F5344CB8AC3E}">
        <p14:creationId xmlns:p14="http://schemas.microsoft.com/office/powerpoint/2010/main" val="3627134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09102-FEC5-1E69-3AB4-1C849D49B3B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6EBC439-C9A5-1C30-DCAC-C745E6E1BAE9}"/>
              </a:ext>
            </a:extLst>
          </p:cNvPr>
          <p:cNvGrpSpPr/>
          <p:nvPr/>
        </p:nvGrpSpPr>
        <p:grpSpPr>
          <a:xfrm>
            <a:off x="631524" y="621641"/>
            <a:ext cx="9399373" cy="5508037"/>
            <a:chOff x="652150" y="821810"/>
            <a:chExt cx="9399373" cy="5508037"/>
          </a:xfrm>
        </p:grpSpPr>
        <p:sp>
          <p:nvSpPr>
            <p:cNvPr id="6" name="Rectangle 5">
              <a:extLst>
                <a:ext uri="{FF2B5EF4-FFF2-40B4-BE49-F238E27FC236}">
                  <a16:creationId xmlns:a16="http://schemas.microsoft.com/office/drawing/2014/main" id="{312B2FA7-DB73-33AF-3226-A4E78B443F0D}"/>
                </a:ext>
              </a:extLst>
            </p:cNvPr>
            <p:cNvSpPr/>
            <p:nvPr/>
          </p:nvSpPr>
          <p:spPr>
            <a:xfrm>
              <a:off x="652150" y="821810"/>
              <a:ext cx="4614244"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Batching of Updates</a:t>
              </a:r>
            </a:p>
          </p:txBody>
        </p:sp>
        <p:sp>
          <p:nvSpPr>
            <p:cNvPr id="7" name="TextBox 6">
              <a:extLst>
                <a:ext uri="{FF2B5EF4-FFF2-40B4-BE49-F238E27FC236}">
                  <a16:creationId xmlns:a16="http://schemas.microsoft.com/office/drawing/2014/main" id="{EBEED67A-F536-D9AC-287E-2405D882D5E3}"/>
                </a:ext>
              </a:extLst>
            </p:cNvPr>
            <p:cNvSpPr txBox="1"/>
            <p:nvPr/>
          </p:nvSpPr>
          <p:spPr>
            <a:xfrm>
              <a:off x="652150" y="1755165"/>
              <a:ext cx="8945612" cy="707886"/>
            </a:xfrm>
            <a:prstGeom prst="rect">
              <a:avLst/>
            </a:prstGeom>
            <a:noFill/>
          </p:spPr>
          <p:txBody>
            <a:bodyPr wrap="square" rtlCol="0">
              <a:spAutoFit/>
            </a:bodyPr>
            <a:lstStyle/>
            <a:p>
              <a:pPr marL="457200" indent="-457200">
                <a:spcBef>
                  <a:spcPts val="1800"/>
                </a:spcBef>
                <a:spcAft>
                  <a:spcPts val="1200"/>
                </a:spcAft>
                <a:buFont typeface="Wingdings" panose="05000000000000000000" pitchFamily="2" charset="2"/>
                <a:buChar char="q"/>
              </a:pPr>
              <a:r>
                <a:rPr lang="en-US" sz="2000" dirty="0">
                  <a:latin typeface="Book Antiqua" panose="02040602050305030304" pitchFamily="18" charset="0"/>
                </a:rPr>
                <a:t>React batches multiple state updates in the same event to improve performance (avoids unnecessary re-renders).</a:t>
              </a:r>
              <a:endParaRPr lang="en-US" sz="2000" dirty="0"/>
            </a:p>
          </p:txBody>
        </p:sp>
        <p:pic>
          <p:nvPicPr>
            <p:cNvPr id="5" name="Picture 4">
              <a:extLst>
                <a:ext uri="{FF2B5EF4-FFF2-40B4-BE49-F238E27FC236}">
                  <a16:creationId xmlns:a16="http://schemas.microsoft.com/office/drawing/2014/main" id="{57C3E0BD-043F-6DD0-73FC-7BEFDA96DB16}"/>
                </a:ext>
              </a:extLst>
            </p:cNvPr>
            <p:cNvPicPr>
              <a:picLocks noChangeAspect="1"/>
            </p:cNvPicPr>
            <p:nvPr/>
          </p:nvPicPr>
          <p:blipFill>
            <a:blip r:embed="rId3">
              <a:extLst>
                <a:ext uri="{28A0092B-C50C-407E-A947-70E740481C1C}">
                  <a14:useLocalDpi xmlns:a14="http://schemas.microsoft.com/office/drawing/2010/main" val="0"/>
                </a:ext>
              </a:extLst>
            </a:blip>
            <a:srcRect l="16644" t="29982" r="12815" b="16465"/>
            <a:stretch>
              <a:fillRect/>
            </a:stretch>
          </p:blipFill>
          <p:spPr>
            <a:xfrm>
              <a:off x="1175658" y="2750075"/>
              <a:ext cx="5369521" cy="2584862"/>
            </a:xfrm>
            <a:prstGeom prst="rect">
              <a:avLst/>
            </a:prstGeom>
          </p:spPr>
        </p:pic>
        <p:sp>
          <p:nvSpPr>
            <p:cNvPr id="9" name="TextBox 8">
              <a:extLst>
                <a:ext uri="{FF2B5EF4-FFF2-40B4-BE49-F238E27FC236}">
                  <a16:creationId xmlns:a16="http://schemas.microsoft.com/office/drawing/2014/main" id="{975BC882-11EB-5AEB-1442-67989644BFC4}"/>
                </a:ext>
              </a:extLst>
            </p:cNvPr>
            <p:cNvSpPr txBox="1"/>
            <p:nvPr/>
          </p:nvSpPr>
          <p:spPr>
            <a:xfrm>
              <a:off x="1105911" y="5621961"/>
              <a:ext cx="8945612" cy="707886"/>
            </a:xfrm>
            <a:prstGeom prst="rect">
              <a:avLst/>
            </a:prstGeom>
            <a:noFill/>
          </p:spPr>
          <p:txBody>
            <a:bodyPr wrap="square" rtlCol="0">
              <a:spAutoFit/>
            </a:bodyPr>
            <a:lstStyle/>
            <a:p>
              <a:pPr>
                <a:spcBef>
                  <a:spcPts val="1800"/>
                </a:spcBef>
                <a:spcAft>
                  <a:spcPts val="1200"/>
                </a:spcAft>
              </a:pPr>
              <a:r>
                <a:rPr lang="en-US" sz="2000" dirty="0">
                  <a:latin typeface="Book Antiqua" panose="02040602050305030304" pitchFamily="18" charset="0"/>
                </a:rPr>
                <a:t>Here, count will increase only by 1, not 3 (because React batches them, and each line uses old count).</a:t>
              </a:r>
              <a:endParaRPr lang="en-US" sz="2000" dirty="0"/>
            </a:p>
          </p:txBody>
        </p:sp>
      </p:grpSp>
    </p:spTree>
    <p:extLst>
      <p:ext uri="{BB962C8B-B14F-4D97-AF65-F5344CB8AC3E}">
        <p14:creationId xmlns:p14="http://schemas.microsoft.com/office/powerpoint/2010/main" val="3765282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58FB6-57C7-0013-8E97-2617AEDB2F1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1002D83-6341-F1D6-5AC8-224D1B671EF1}"/>
              </a:ext>
            </a:extLst>
          </p:cNvPr>
          <p:cNvSpPr txBox="1"/>
          <p:nvPr/>
        </p:nvSpPr>
        <p:spPr>
          <a:xfrm>
            <a:off x="947782" y="1343814"/>
            <a:ext cx="9860013" cy="4170372"/>
          </a:xfrm>
          <a:prstGeom prst="rect">
            <a:avLst/>
          </a:prstGeom>
          <a:noFill/>
        </p:spPr>
        <p:txBody>
          <a:bodyPr wrap="square" rtlCol="0">
            <a:spAutoFit/>
          </a:bodyPr>
          <a:lstStyle/>
          <a:p>
            <a:pPr>
              <a:spcBef>
                <a:spcPts val="1800"/>
              </a:spcBef>
              <a:spcAft>
                <a:spcPts val="1200"/>
              </a:spcAft>
            </a:pPr>
            <a:r>
              <a:rPr lang="en-US" sz="2000" b="1" dirty="0">
                <a:solidFill>
                  <a:srgbClr val="FFFF00"/>
                </a:solidFill>
                <a:latin typeface="Book Antiqua" panose="02040602050305030304" pitchFamily="18" charset="0"/>
              </a:rPr>
              <a:t>How React Schedules It ?</a:t>
            </a:r>
          </a:p>
          <a:p>
            <a:pPr>
              <a:spcBef>
                <a:spcPts val="1800"/>
              </a:spcBef>
              <a:spcAft>
                <a:spcPts val="1200"/>
              </a:spcAft>
            </a:pPr>
            <a:r>
              <a:rPr lang="en-US" sz="2000" dirty="0"/>
              <a:t>When you call </a:t>
            </a:r>
            <a:r>
              <a:rPr lang="en-US" sz="2000" dirty="0" err="1"/>
              <a:t>setState</a:t>
            </a:r>
            <a:r>
              <a:rPr lang="en-US" sz="2000" dirty="0"/>
              <a:t>:</a:t>
            </a:r>
          </a:p>
          <a:p>
            <a:pPr marL="457200" indent="-457200">
              <a:spcBef>
                <a:spcPts val="1800"/>
              </a:spcBef>
              <a:spcAft>
                <a:spcPts val="1200"/>
              </a:spcAft>
              <a:buFont typeface="Wingdings" panose="05000000000000000000" pitchFamily="2" charset="2"/>
              <a:buChar char="q"/>
            </a:pPr>
            <a:r>
              <a:rPr lang="en-US" sz="2000" dirty="0"/>
              <a:t>React adds the update to an internal queue.</a:t>
            </a:r>
          </a:p>
          <a:p>
            <a:pPr marL="457200" indent="-457200">
              <a:spcBef>
                <a:spcPts val="1800"/>
              </a:spcBef>
              <a:spcAft>
                <a:spcPts val="1200"/>
              </a:spcAft>
              <a:buFont typeface="Wingdings" panose="05000000000000000000" pitchFamily="2" charset="2"/>
              <a:buChar char="q"/>
            </a:pPr>
            <a:r>
              <a:rPr lang="en-US" sz="2000" dirty="0"/>
              <a:t>React waits until the current event handler finishes (so it can batch multiple updates).</a:t>
            </a:r>
          </a:p>
          <a:p>
            <a:pPr marL="457200" indent="-457200">
              <a:spcBef>
                <a:spcPts val="1800"/>
              </a:spcBef>
              <a:spcAft>
                <a:spcPts val="1200"/>
              </a:spcAft>
              <a:buFont typeface="Wingdings" panose="05000000000000000000" pitchFamily="2" charset="2"/>
              <a:buChar char="q"/>
            </a:pPr>
            <a:r>
              <a:rPr lang="en-US" sz="2000" dirty="0"/>
              <a:t>Then React decides when to re-render the component.</a:t>
            </a:r>
          </a:p>
          <a:p>
            <a:pPr marL="457200" indent="-457200">
              <a:spcBef>
                <a:spcPts val="1800"/>
              </a:spcBef>
              <a:spcAft>
                <a:spcPts val="1200"/>
              </a:spcAft>
              <a:buFont typeface="Wingdings" panose="05000000000000000000" pitchFamily="2" charset="2"/>
              <a:buChar char="q"/>
            </a:pPr>
            <a:r>
              <a:rPr lang="en-US" sz="2000" dirty="0"/>
              <a:t>During render, React reconciles (diffs) the new virtual DOM with the old one and updates only what changed.</a:t>
            </a:r>
          </a:p>
        </p:txBody>
      </p:sp>
    </p:spTree>
    <p:extLst>
      <p:ext uri="{BB962C8B-B14F-4D97-AF65-F5344CB8AC3E}">
        <p14:creationId xmlns:p14="http://schemas.microsoft.com/office/powerpoint/2010/main" val="3544701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91960-1C24-2B69-20C4-930671742E5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BE3EB8E-B6AF-DF8B-808E-4A353D6979ED}"/>
              </a:ext>
            </a:extLst>
          </p:cNvPr>
          <p:cNvSpPr/>
          <p:nvPr/>
        </p:nvSpPr>
        <p:spPr>
          <a:xfrm>
            <a:off x="1195288" y="1445002"/>
            <a:ext cx="7384945" cy="646331"/>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36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Solution (Use Functional Update)</a:t>
            </a:r>
          </a:p>
        </p:txBody>
      </p:sp>
      <p:pic>
        <p:nvPicPr>
          <p:cNvPr id="3" name="Picture 2">
            <a:extLst>
              <a:ext uri="{FF2B5EF4-FFF2-40B4-BE49-F238E27FC236}">
                <a16:creationId xmlns:a16="http://schemas.microsoft.com/office/drawing/2014/main" id="{54F6B87C-13C3-0441-F161-F0C138907A62}"/>
              </a:ext>
            </a:extLst>
          </p:cNvPr>
          <p:cNvPicPr>
            <a:picLocks noChangeAspect="1"/>
          </p:cNvPicPr>
          <p:nvPr/>
        </p:nvPicPr>
        <p:blipFill>
          <a:blip r:embed="rId3">
            <a:extLst>
              <a:ext uri="{28A0092B-C50C-407E-A947-70E740481C1C}">
                <a14:useLocalDpi xmlns:a14="http://schemas.microsoft.com/office/drawing/2010/main" val="0"/>
              </a:ext>
            </a:extLst>
          </a:blip>
          <a:srcRect l="20533" t="37198" r="14687" b="21997"/>
          <a:stretch>
            <a:fillRect/>
          </a:stretch>
        </p:blipFill>
        <p:spPr>
          <a:xfrm>
            <a:off x="1247348" y="2473348"/>
            <a:ext cx="5255266" cy="2064276"/>
          </a:xfrm>
          <a:prstGeom prst="rect">
            <a:avLst/>
          </a:prstGeom>
        </p:spPr>
      </p:pic>
    </p:spTree>
    <p:extLst>
      <p:ext uri="{BB962C8B-B14F-4D97-AF65-F5344CB8AC3E}">
        <p14:creationId xmlns:p14="http://schemas.microsoft.com/office/powerpoint/2010/main" val="2938986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AAC7-DE48-4818-E83D-3404791E8B3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29951DF-F318-F513-BDDD-DE1484B16CC0}"/>
              </a:ext>
            </a:extLst>
          </p:cNvPr>
          <p:cNvSpPr/>
          <p:nvPr/>
        </p:nvSpPr>
        <p:spPr>
          <a:xfrm>
            <a:off x="2027186" y="1921464"/>
            <a:ext cx="8168718" cy="2308324"/>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r>
              <a:rPr lang="en-US" sz="72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Why we can’t use </a:t>
            </a:r>
            <a:r>
              <a:rPr lang="en-US" sz="7200" b="1" dirty="0" err="1">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setCount</a:t>
            </a:r>
            <a:r>
              <a:rPr lang="en-US" sz="72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(count++)?</a:t>
            </a:r>
          </a:p>
        </p:txBody>
      </p:sp>
    </p:spTree>
    <p:extLst>
      <p:ext uri="{BB962C8B-B14F-4D97-AF65-F5344CB8AC3E}">
        <p14:creationId xmlns:p14="http://schemas.microsoft.com/office/powerpoint/2010/main" val="3397867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1DEB-18E7-5965-8DAF-3F835ABC22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AC84B9-4F01-C36B-EF4F-1CEB400338F0}"/>
              </a:ext>
            </a:extLst>
          </p:cNvPr>
          <p:cNvSpPr/>
          <p:nvPr/>
        </p:nvSpPr>
        <p:spPr>
          <a:xfrm>
            <a:off x="2541330" y="1259175"/>
            <a:ext cx="7109340" cy="4339650"/>
          </a:xfrm>
          <a:prstGeom prst="rect">
            <a:avLst/>
          </a:prstGeom>
          <a:noFill/>
        </p:spPr>
        <p:txBody>
          <a:bodyPr wrap="square" lIns="91440" tIns="45720" rIns="91440" bIns="45720">
            <a:spAutoFit/>
            <a:scene3d>
              <a:camera prst="orthographicFront"/>
              <a:lightRig rig="threePt" dir="t"/>
            </a:scene3d>
            <a:sp3d extrusionH="57150">
              <a:bevelT w="57150" h="38100" prst="artDeco"/>
            </a:sp3d>
          </a:bodyPr>
          <a:lstStyle/>
          <a:p>
            <a:pPr algn="ctr"/>
            <a:r>
              <a:rPr lang="en-US" sz="13800" b="1" dirty="0">
                <a:ln w="9525">
                  <a:solidFill>
                    <a:schemeClr val="bg1"/>
                  </a:solidFill>
                  <a:prstDash val="solid"/>
                </a:ln>
                <a:effectLst>
                  <a:outerShdw blurRad="12700" dist="38100" dir="2700000" algn="tl" rotWithShape="0">
                    <a:schemeClr val="bg1">
                      <a:lumMod val="50000"/>
                    </a:schemeClr>
                  </a:outerShdw>
                </a:effectLst>
                <a:latin typeface="Berlin Sans FB Demi" panose="020E0802020502020306" pitchFamily="34" charset="0"/>
              </a:rPr>
              <a:t>Thank You</a:t>
            </a:r>
          </a:p>
        </p:txBody>
      </p:sp>
    </p:spTree>
    <p:extLst>
      <p:ext uri="{BB962C8B-B14F-4D97-AF65-F5344CB8AC3E}">
        <p14:creationId xmlns:p14="http://schemas.microsoft.com/office/powerpoint/2010/main" val="2461338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ilk Glass">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636</TotalTime>
  <Words>661</Words>
  <Application>Microsoft Office PowerPoint</Application>
  <PresentationFormat>Widescreen</PresentationFormat>
  <Paragraphs>64</Paragraphs>
  <Slides>17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Berlin Sans FB Demi</vt:lpstr>
      <vt:lpstr>Book Antiqua</vt:lpstr>
      <vt:lpstr>Calibri</vt:lpstr>
      <vt:lpstr>Calisto MT</vt:lpstr>
      <vt:lpstr>Courier New</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Kumar Lal</dc:creator>
  <cp:lastModifiedBy>Manas Kumar Lal</cp:lastModifiedBy>
  <cp:revision>148</cp:revision>
  <dcterms:created xsi:type="dcterms:W3CDTF">2025-07-03T20:58:50Z</dcterms:created>
  <dcterms:modified xsi:type="dcterms:W3CDTF">2025-10-09T04:39:41Z</dcterms:modified>
</cp:coreProperties>
</file>