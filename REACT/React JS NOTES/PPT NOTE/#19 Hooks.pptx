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92" r:id="rId3"/>
    <p:sldId id="321" r:id="rId4"/>
    <p:sldId id="328" r:id="rId5"/>
    <p:sldId id="330" r:id="rId6"/>
    <p:sldId id="331" r:id="rId7"/>
    <p:sldId id="31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EEC0A7-5E88-49C8-86BE-5A895966D8E7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0B1A8-BDEA-4732-9714-BDE544A645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899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82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94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6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5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6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212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15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9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18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052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881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217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654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429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91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170C16-CB02-44E1-8AF7-8DA3690E2582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60AA61-56D5-4267-A2CA-7B717022D8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17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259-E713-5A6D-29FD-7FA3E581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4F5DFC-C246-5839-92FC-B4FEAD22E573}"/>
              </a:ext>
            </a:extLst>
          </p:cNvPr>
          <p:cNvSpPr/>
          <p:nvPr/>
        </p:nvSpPr>
        <p:spPr>
          <a:xfrm>
            <a:off x="2876207" y="1878015"/>
            <a:ext cx="6439585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6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Hooks</a:t>
            </a:r>
          </a:p>
        </p:txBody>
      </p:sp>
    </p:spTree>
    <p:extLst>
      <p:ext uri="{BB962C8B-B14F-4D97-AF65-F5344CB8AC3E}">
        <p14:creationId xmlns:p14="http://schemas.microsoft.com/office/powerpoint/2010/main" val="95401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173B-6EF0-D4C1-7B89-4721CAA30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D3711D-F9EF-D324-E486-EB72C365F24F}"/>
              </a:ext>
            </a:extLst>
          </p:cNvPr>
          <p:cNvSpPr txBox="1"/>
          <p:nvPr/>
        </p:nvSpPr>
        <p:spPr>
          <a:xfrm>
            <a:off x="854063" y="843677"/>
            <a:ext cx="986156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Book Antiqua" panose="02040602050305030304" pitchFamily="18" charset="0"/>
              </a:rPr>
              <a:t>Hooks are one of the most powerful features in React.</a:t>
            </a:r>
          </a:p>
          <a:p>
            <a:pPr marL="457200" indent="-457200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Book Antiqua" panose="02040602050305030304" pitchFamily="18" charset="0"/>
              </a:rPr>
              <a:t>They were introduced in React 16.8 to let us use state and lifecycle methods inside functional components — without writing a class.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FFFF00"/>
                </a:solidFill>
              </a:rPr>
              <a:t>Before hooks:</a:t>
            </a:r>
          </a:p>
          <a:p>
            <a:pPr marL="457200" indent="-457200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Functional components were stateless.</a:t>
            </a:r>
          </a:p>
          <a:p>
            <a:pPr marL="457200" indent="-457200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We used class components for state &amp; lifecycle.</a:t>
            </a:r>
          </a:p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FFFF00"/>
                </a:solidFill>
              </a:rPr>
              <a:t>After hooks:</a:t>
            </a:r>
          </a:p>
          <a:p>
            <a:pPr marL="457200" indent="-457200"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/>
              <a:t>Functional components can now manage state, handle side effects, and reuse logic easily.</a:t>
            </a:r>
          </a:p>
        </p:txBody>
      </p:sp>
    </p:spTree>
    <p:extLst>
      <p:ext uri="{BB962C8B-B14F-4D97-AF65-F5344CB8AC3E}">
        <p14:creationId xmlns:p14="http://schemas.microsoft.com/office/powerpoint/2010/main" val="289211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0223-8F11-C227-09BE-7D068A5F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1F5ACC3-56B3-7FE4-0F17-C4E8844469CD}"/>
              </a:ext>
            </a:extLst>
          </p:cNvPr>
          <p:cNvGrpSpPr/>
          <p:nvPr/>
        </p:nvGrpSpPr>
        <p:grpSpPr>
          <a:xfrm>
            <a:off x="887416" y="748439"/>
            <a:ext cx="8961434" cy="5361121"/>
            <a:chOff x="458352" y="312283"/>
            <a:chExt cx="9418023" cy="536112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63525D4-BF04-73E0-5AA7-C4C7D97807C5}"/>
                </a:ext>
              </a:extLst>
            </p:cNvPr>
            <p:cNvSpPr/>
            <p:nvPr/>
          </p:nvSpPr>
          <p:spPr>
            <a:xfrm>
              <a:off x="458352" y="312283"/>
              <a:ext cx="6244757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What is a Hook?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D7149-56D2-5998-27CC-047E29A9CB62}"/>
                </a:ext>
              </a:extLst>
            </p:cNvPr>
            <p:cNvSpPr txBox="1"/>
            <p:nvPr/>
          </p:nvSpPr>
          <p:spPr>
            <a:xfrm>
              <a:off x="458352" y="1349143"/>
              <a:ext cx="9418023" cy="4324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>
                  <a:latin typeface="Book Antiqua" panose="02040602050305030304" pitchFamily="18" charset="0"/>
                </a:rPr>
                <a:t>A hook is a special function provided by React.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>
                  <a:latin typeface="Book Antiqua" panose="02040602050305030304" pitchFamily="18" charset="0"/>
                </a:rPr>
                <a:t>It lets you "hook into" React features like state, lifecycle, context, refs, etc.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>
                  <a:latin typeface="Book Antiqua" panose="02040602050305030304" pitchFamily="18" charset="0"/>
                </a:rPr>
                <a:t>Hooks must start with “use” (e.g., useState, useEffect).</a:t>
              </a:r>
            </a:p>
            <a:p>
              <a:pPr>
                <a:spcBef>
                  <a:spcPts val="1800"/>
                </a:spcBef>
                <a:spcAft>
                  <a:spcPts val="600"/>
                </a:spcAft>
              </a:pPr>
              <a:r>
                <a:rPr lang="en-US" sz="2000" b="1" dirty="0">
                  <a:solidFill>
                    <a:srgbClr val="FFFF00"/>
                  </a:solidFill>
                </a:rPr>
                <a:t>Rules of Hooks: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Only call hooks at the top level of your component (not inside loops/conditions).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Only call hooks from:</a:t>
              </a:r>
            </a:p>
            <a:p>
              <a:pPr marL="914400" lvl="1" indent="-457200">
                <a:spcBef>
                  <a:spcPts val="600"/>
                </a:spcBef>
                <a:buFont typeface="Courier New" panose="02070309020205020404" pitchFamily="49" charset="0"/>
                <a:buChar char="o"/>
              </a:pPr>
              <a:r>
                <a:rPr lang="en-US" sz="2000" dirty="0"/>
                <a:t>React function components</a:t>
              </a:r>
            </a:p>
            <a:p>
              <a:pPr marL="914400" lvl="1" indent="-457200">
                <a:spcBef>
                  <a:spcPts val="600"/>
                </a:spcBef>
                <a:buFont typeface="Courier New" panose="02070309020205020404" pitchFamily="49" charset="0"/>
                <a:buChar char="o"/>
              </a:pPr>
              <a:r>
                <a:rPr lang="en-US" sz="2000" dirty="0"/>
                <a:t>Custom hooks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57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42EB0-9826-EC5B-D26F-7EA59FCA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62F905A-3785-ADEE-10C2-2DFC83359239}"/>
              </a:ext>
            </a:extLst>
          </p:cNvPr>
          <p:cNvGrpSpPr/>
          <p:nvPr/>
        </p:nvGrpSpPr>
        <p:grpSpPr>
          <a:xfrm>
            <a:off x="887416" y="748439"/>
            <a:ext cx="9113834" cy="5207232"/>
            <a:chOff x="458352" y="312283"/>
            <a:chExt cx="9578188" cy="52072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CD5A12-7656-03D4-BC3D-8C63A8E3D5A4}"/>
                </a:ext>
              </a:extLst>
            </p:cNvPr>
            <p:cNvSpPr/>
            <p:nvPr/>
          </p:nvSpPr>
          <p:spPr>
            <a:xfrm>
              <a:off x="458352" y="312283"/>
              <a:ext cx="957818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Commonly Used Built-in Hooks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487EA3-EBF5-F40E-477D-F503C739EDDE}"/>
                </a:ext>
              </a:extLst>
            </p:cNvPr>
            <p:cNvSpPr txBox="1"/>
            <p:nvPr/>
          </p:nvSpPr>
          <p:spPr>
            <a:xfrm>
              <a:off x="458352" y="1349143"/>
              <a:ext cx="9418023" cy="4170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>
                  <a:latin typeface="Book Antiqua" panose="02040602050305030304" pitchFamily="18" charset="0"/>
                </a:rPr>
                <a:t>useState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IN" sz="2000" dirty="0" err="1"/>
                <a:t>useEffect</a:t>
              </a:r>
              <a:endParaRPr lang="en-IN" sz="2000" dirty="0"/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IN" sz="2000" dirty="0" err="1"/>
                <a:t>useRef</a:t>
              </a:r>
              <a:endParaRPr lang="en-IN" sz="2000" dirty="0"/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IN" sz="2000" dirty="0" err="1"/>
                <a:t>useReducer</a:t>
              </a:r>
              <a:endParaRPr lang="en-IN" sz="2000" dirty="0"/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IN" sz="2000" dirty="0" err="1"/>
                <a:t>useMemo</a:t>
              </a:r>
              <a:endParaRPr lang="en-IN" sz="2000" dirty="0"/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IN" sz="2000" dirty="0" err="1"/>
                <a:t>useCallback</a:t>
              </a:r>
              <a:endParaRPr lang="en-IN" sz="2000" dirty="0"/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IN" sz="2000" dirty="0" err="1"/>
                <a:t>useLayoutEffect</a:t>
              </a:r>
              <a:endParaRPr lang="en-IN" sz="2000" dirty="0"/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IN" sz="2000" dirty="0" err="1"/>
                <a:t>useContex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5340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9D2FA-002E-3FBC-C4AF-F71890DD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B7FDF66-E6CF-82AD-8B25-E4BDD0109B7A}"/>
              </a:ext>
            </a:extLst>
          </p:cNvPr>
          <p:cNvGrpSpPr/>
          <p:nvPr/>
        </p:nvGrpSpPr>
        <p:grpSpPr>
          <a:xfrm>
            <a:off x="849316" y="720236"/>
            <a:ext cx="8961434" cy="5284177"/>
            <a:chOff x="458352" y="312283"/>
            <a:chExt cx="9418023" cy="528417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FFAE0B-CA6F-92BF-3839-68A899800D49}"/>
                </a:ext>
              </a:extLst>
            </p:cNvPr>
            <p:cNvSpPr/>
            <p:nvPr/>
          </p:nvSpPr>
          <p:spPr>
            <a:xfrm>
              <a:off x="458352" y="312283"/>
              <a:ext cx="6244757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57150" h="38100" prst="artDeco"/>
              </a:sp3d>
            </a:bodyPr>
            <a:lstStyle/>
            <a:p>
              <a:r>
                <a:rPr lang="en-US" sz="48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  <a:latin typeface="Berlin Sans FB Demi" panose="020E0802020502020306" pitchFamily="34" charset="0"/>
                </a:rPr>
                <a:t>useEffect Hook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E19396-667A-AB23-BFD2-F85A86F44E68}"/>
                </a:ext>
              </a:extLst>
            </p:cNvPr>
            <p:cNvSpPr txBox="1"/>
            <p:nvPr/>
          </p:nvSpPr>
          <p:spPr>
            <a:xfrm>
              <a:off x="458352" y="1349143"/>
              <a:ext cx="9418023" cy="42473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>
                  <a:latin typeface="Book Antiqua" panose="02040602050305030304" pitchFamily="18" charset="0"/>
                </a:rPr>
                <a:t>If useState is for managing state, then useEffect is for managing side effects in React.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A side effect means any code that affects something outside </a:t>
              </a:r>
              <a:r>
                <a:rPr lang="en-US" sz="2000" dirty="0" err="1"/>
                <a:t>React’s</a:t>
              </a:r>
              <a:r>
                <a:rPr lang="en-US" sz="2000" dirty="0"/>
                <a:t> render cycle.</a:t>
              </a:r>
            </a:p>
            <a:p>
              <a:pPr>
                <a:spcBef>
                  <a:spcPts val="1200"/>
                </a:spcBef>
                <a:spcAft>
                  <a:spcPts val="600"/>
                </a:spcAft>
              </a:pPr>
              <a:r>
                <a:rPr lang="en-US" sz="2000" dirty="0"/>
                <a:t>Examples: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Fetching data from an API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Setting up event listeners (like resize, scroll)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Working with timers (setInterval, setTimeout)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/>
                <a:t>Updating the browser’s DOM or title manually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695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E5DB8-D51A-8016-7075-BD3242E1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13DDA04-8852-CA02-A13A-2B851A4D3897}"/>
              </a:ext>
            </a:extLst>
          </p:cNvPr>
          <p:cNvGrpSpPr/>
          <p:nvPr/>
        </p:nvGrpSpPr>
        <p:grpSpPr>
          <a:xfrm>
            <a:off x="858841" y="1233689"/>
            <a:ext cx="8494710" cy="4390621"/>
            <a:chOff x="744541" y="1057679"/>
            <a:chExt cx="8961434" cy="43906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8FAAD6-09A7-0DBF-F9FE-C46DF9FAEA37}"/>
                </a:ext>
              </a:extLst>
            </p:cNvPr>
            <p:cNvSpPr txBox="1"/>
            <p:nvPr/>
          </p:nvSpPr>
          <p:spPr>
            <a:xfrm>
              <a:off x="744541" y="1057679"/>
              <a:ext cx="8961434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>
                  <a:latin typeface="Book Antiqua" panose="02040602050305030304" pitchFamily="18" charset="0"/>
                </a:rPr>
                <a:t>Normally, React components should only return UI, but side effects let us interact with the outside world.</a:t>
              </a:r>
            </a:p>
            <a:p>
              <a:pPr marL="457200" indent="-457200">
                <a:spcBef>
                  <a:spcPts val="12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en-US" sz="2000" dirty="0">
                  <a:latin typeface="Book Antiqua" panose="02040602050305030304" pitchFamily="18" charset="0"/>
                </a:rPr>
                <a:t>useEffect is a React hook that lets us perform side effects in functional components.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6BFB0A1-4B9B-B63F-B628-7453F6640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65" t="30384" r="13588" b="17692"/>
            <a:stretch>
              <a:fillRect/>
            </a:stretch>
          </p:blipFill>
          <p:spPr>
            <a:xfrm>
              <a:off x="1326070" y="2876550"/>
              <a:ext cx="4876800" cy="2571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1433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1DEB-18E7-5965-8DAF-3F835ABC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AC84B9-4F01-C36B-EF4F-1CEB400338F0}"/>
              </a:ext>
            </a:extLst>
          </p:cNvPr>
          <p:cNvSpPr/>
          <p:nvPr/>
        </p:nvSpPr>
        <p:spPr>
          <a:xfrm>
            <a:off x="2541330" y="1259175"/>
            <a:ext cx="7109340" cy="43396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pPr algn="ctr"/>
            <a:r>
              <a:rPr lang="en-US" sz="138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erlin Sans FB Demi" panose="020E0802020502020306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3384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lk Glass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702</TotalTime>
  <Words>267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Berlin Sans FB Demi</vt:lpstr>
      <vt:lpstr>Book Antiqua</vt:lpstr>
      <vt:lpstr>Calibri</vt:lpstr>
      <vt:lpstr>Calisto MT</vt:lpstr>
      <vt:lpstr>Courier New</vt:lpstr>
      <vt:lpstr>Wingdings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Manas Kumar Lal</dc:creator>
  <cp:lastModifiedBy>Manas Kumar Lal</cp:lastModifiedBy>
  <cp:revision>160</cp:revision>
  <dcterms:created xsi:type="dcterms:W3CDTF">2025-07-03T20:58:50Z</dcterms:created>
  <dcterms:modified xsi:type="dcterms:W3CDTF">2025-10-09T04:37:24Z</dcterms:modified>
</cp:coreProperties>
</file>