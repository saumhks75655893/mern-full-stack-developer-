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66" r:id="rId2"/>
    <p:sldId id="292" r:id="rId3"/>
    <p:sldId id="321" r:id="rId4"/>
    <p:sldId id="334" r:id="rId5"/>
    <p:sldId id="340" r:id="rId6"/>
    <p:sldId id="329" r:id="rId7"/>
    <p:sldId id="332" r:id="rId8"/>
    <p:sldId id="341" r:id="rId9"/>
    <p:sldId id="344" r:id="rId10"/>
    <p:sldId id="346" r:id="rId11"/>
    <p:sldId id="352" r:id="rId12"/>
    <p:sldId id="355" r:id="rId13"/>
    <p:sldId id="348" r:id="rId14"/>
    <p:sldId id="349" r:id="rId15"/>
    <p:sldId id="31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0B1A8-BDEA-4732-9714-BDE544A645A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035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FDED-B15B-0A36-1CD1-BADD0EBB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B82AB-427D-8969-BB42-EEE4D999B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F1AEF-AA08-C51E-EAD8-D02CECFD1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1CD61-6A58-5D0F-610D-A8325728E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0B1A8-BDEA-4732-9714-BDE544A645A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5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47EF-666A-88EC-7662-4EF4CEDA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54E301-8330-F79F-A864-B22903F54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31696-1407-66B8-332B-FD9934C0D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5D973-413B-75B0-D0C6-4E0215306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0B1A8-BDEA-4732-9714-BDE544A645A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903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A1196-76D2-48B8-3752-0CB53FDB2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6BD8C-8B2D-4C86-5C21-7947F12E4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CEC6B-468A-BA74-8F34-F1D357C66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1A2F0-74FB-A5BC-B6F8-D7AE71F78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0B1A8-BDEA-4732-9714-BDE544A645A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261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970A9-6078-1E91-9C5E-206ABF9CA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35B22-2077-206C-AA3D-8B4B4E8C2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78E2E-5541-E68A-3436-E8E6D99A4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C000F-1A06-FE08-1D70-B2D7E3607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0B1A8-BDEA-4732-9714-BDE544A645A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868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2155-7B5D-AC0A-9D19-7E8A3B3C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03D15-4A0B-DAEF-F71E-A3DC45BAA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8BCD2-7F74-D1B4-8F3A-4DA3F2EA6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5E36B-BD0C-8842-1D78-5EDF28962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0B1A8-BDEA-4732-9714-BDE544A645A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491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9FBB9-2ABE-B976-0E22-57032281B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E0B38-A347-11CA-9A5F-BB6356F92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7435F-7767-9297-31CF-8CE57E70B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D15D8-58D3-2D76-BFBD-6D371E5CC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0B1A8-BDEA-4732-9714-BDE544A645A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014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1322349" y="1493005"/>
            <a:ext cx="9547301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Conditional</a:t>
            </a:r>
          </a:p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Rendering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173B-6EF0-D4C1-7B89-4721CAA30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D3711D-F9EF-D324-E486-EB72C365F24F}"/>
              </a:ext>
            </a:extLst>
          </p:cNvPr>
          <p:cNvSpPr txBox="1"/>
          <p:nvPr/>
        </p:nvSpPr>
        <p:spPr>
          <a:xfrm>
            <a:off x="1789088" y="1737451"/>
            <a:ext cx="7306785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30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Book Antiqua" panose="02040602050305030304" pitchFamily="18" charset="0"/>
              </a:rPr>
              <a:t>React doesn’t have if/else statements inside JSX.</a:t>
            </a:r>
          </a:p>
          <a:p>
            <a:pPr marL="457200" indent="-457200">
              <a:spcBef>
                <a:spcPts val="30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Book Antiqua" panose="02040602050305030304" pitchFamily="18" charset="0"/>
              </a:rPr>
              <a:t>Instead, we use conditional rendering to decide what to show.</a:t>
            </a:r>
          </a:p>
          <a:p>
            <a:pPr marL="457200" indent="-457200">
              <a:spcBef>
                <a:spcPts val="30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Conditional rendering means displaying UI elements based on certain conditions or states.</a:t>
            </a:r>
          </a:p>
        </p:txBody>
      </p:sp>
    </p:spTree>
    <p:extLst>
      <p:ext uri="{BB962C8B-B14F-4D97-AF65-F5344CB8AC3E}">
        <p14:creationId xmlns:p14="http://schemas.microsoft.com/office/powerpoint/2010/main" val="2892116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40223-8F11-C227-09BE-7D068A5F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5D8BEE1-B04C-9666-3B7F-D299BE2C4DA1}"/>
              </a:ext>
            </a:extLst>
          </p:cNvPr>
          <p:cNvGrpSpPr/>
          <p:nvPr/>
        </p:nvGrpSpPr>
        <p:grpSpPr>
          <a:xfrm>
            <a:off x="935797" y="551419"/>
            <a:ext cx="6681910" cy="5619463"/>
            <a:chOff x="695166" y="365789"/>
            <a:chExt cx="6681910" cy="561946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8FFC67-B37A-2B34-24AB-85B814170F3E}"/>
                </a:ext>
              </a:extLst>
            </p:cNvPr>
            <p:cNvSpPr txBox="1"/>
            <p:nvPr/>
          </p:nvSpPr>
          <p:spPr>
            <a:xfrm>
              <a:off x="747102" y="3965499"/>
              <a:ext cx="66299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/>
                <a:t>React components can return different JSX depending on logic.</a:t>
              </a:r>
              <a:endParaRPr lang="en-IN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D288DDC-A3CE-05ED-DA2B-613E831D7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39" t="27383" r="13704" b="17029"/>
            <a:stretch>
              <a:fillRect/>
            </a:stretch>
          </p:blipFill>
          <p:spPr>
            <a:xfrm>
              <a:off x="808979" y="1307778"/>
              <a:ext cx="4236331" cy="2528577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56CC5A-F9D2-F64C-7F88-6546D1F4768E}"/>
                </a:ext>
              </a:extLst>
            </p:cNvPr>
            <p:cNvSpPr txBox="1"/>
            <p:nvPr/>
          </p:nvSpPr>
          <p:spPr>
            <a:xfrm>
              <a:off x="808979" y="4709554"/>
              <a:ext cx="4507061" cy="1275698"/>
            </a:xfrm>
            <a:custGeom>
              <a:avLst/>
              <a:gdLst>
                <a:gd name="connsiteX0" fmla="*/ 0 w 4507061"/>
                <a:gd name="connsiteY0" fmla="*/ 0 h 1275698"/>
                <a:gd name="connsiteX1" fmla="*/ 518312 w 4507061"/>
                <a:gd name="connsiteY1" fmla="*/ 0 h 1275698"/>
                <a:gd name="connsiteX2" fmla="*/ 946483 w 4507061"/>
                <a:gd name="connsiteY2" fmla="*/ 0 h 1275698"/>
                <a:gd name="connsiteX3" fmla="*/ 1600007 w 4507061"/>
                <a:gd name="connsiteY3" fmla="*/ 0 h 1275698"/>
                <a:gd name="connsiteX4" fmla="*/ 2118319 w 4507061"/>
                <a:gd name="connsiteY4" fmla="*/ 0 h 1275698"/>
                <a:gd name="connsiteX5" fmla="*/ 2636631 w 4507061"/>
                <a:gd name="connsiteY5" fmla="*/ 0 h 1275698"/>
                <a:gd name="connsiteX6" fmla="*/ 3290155 w 4507061"/>
                <a:gd name="connsiteY6" fmla="*/ 0 h 1275698"/>
                <a:gd name="connsiteX7" fmla="*/ 3763396 w 4507061"/>
                <a:gd name="connsiteY7" fmla="*/ 0 h 1275698"/>
                <a:gd name="connsiteX8" fmla="*/ 4507061 w 4507061"/>
                <a:gd name="connsiteY8" fmla="*/ 0 h 1275698"/>
                <a:gd name="connsiteX9" fmla="*/ 4507061 w 4507061"/>
                <a:gd name="connsiteY9" fmla="*/ 450747 h 1275698"/>
                <a:gd name="connsiteX10" fmla="*/ 4507061 w 4507061"/>
                <a:gd name="connsiteY10" fmla="*/ 850465 h 1275698"/>
                <a:gd name="connsiteX11" fmla="*/ 4507061 w 4507061"/>
                <a:gd name="connsiteY11" fmla="*/ 1275698 h 1275698"/>
                <a:gd name="connsiteX12" fmla="*/ 3898608 w 4507061"/>
                <a:gd name="connsiteY12" fmla="*/ 1275698 h 1275698"/>
                <a:gd name="connsiteX13" fmla="*/ 3245084 w 4507061"/>
                <a:gd name="connsiteY13" fmla="*/ 1275698 h 1275698"/>
                <a:gd name="connsiteX14" fmla="*/ 2591560 w 4507061"/>
                <a:gd name="connsiteY14" fmla="*/ 1275698 h 1275698"/>
                <a:gd name="connsiteX15" fmla="*/ 2118319 w 4507061"/>
                <a:gd name="connsiteY15" fmla="*/ 1275698 h 1275698"/>
                <a:gd name="connsiteX16" fmla="*/ 1554936 w 4507061"/>
                <a:gd name="connsiteY16" fmla="*/ 1275698 h 1275698"/>
                <a:gd name="connsiteX17" fmla="*/ 901412 w 4507061"/>
                <a:gd name="connsiteY17" fmla="*/ 1275698 h 1275698"/>
                <a:gd name="connsiteX18" fmla="*/ 0 w 4507061"/>
                <a:gd name="connsiteY18" fmla="*/ 1275698 h 1275698"/>
                <a:gd name="connsiteX19" fmla="*/ 0 w 4507061"/>
                <a:gd name="connsiteY19" fmla="*/ 888736 h 1275698"/>
                <a:gd name="connsiteX20" fmla="*/ 0 w 4507061"/>
                <a:gd name="connsiteY20" fmla="*/ 489018 h 1275698"/>
                <a:gd name="connsiteX21" fmla="*/ 0 w 4507061"/>
                <a:gd name="connsiteY21" fmla="*/ 0 h 1275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07061" h="1275698" extrusionOk="0">
                  <a:moveTo>
                    <a:pt x="0" y="0"/>
                  </a:moveTo>
                  <a:cubicBezTo>
                    <a:pt x="163637" y="-61541"/>
                    <a:pt x="372866" y="33872"/>
                    <a:pt x="518312" y="0"/>
                  </a:cubicBezTo>
                  <a:cubicBezTo>
                    <a:pt x="663758" y="-33872"/>
                    <a:pt x="821529" y="34218"/>
                    <a:pt x="946483" y="0"/>
                  </a:cubicBezTo>
                  <a:cubicBezTo>
                    <a:pt x="1071437" y="-34218"/>
                    <a:pt x="1362278" y="33946"/>
                    <a:pt x="1600007" y="0"/>
                  </a:cubicBezTo>
                  <a:cubicBezTo>
                    <a:pt x="1837736" y="-33946"/>
                    <a:pt x="1860522" y="54051"/>
                    <a:pt x="2118319" y="0"/>
                  </a:cubicBezTo>
                  <a:cubicBezTo>
                    <a:pt x="2376116" y="-54051"/>
                    <a:pt x="2466462" y="46272"/>
                    <a:pt x="2636631" y="0"/>
                  </a:cubicBezTo>
                  <a:cubicBezTo>
                    <a:pt x="2806800" y="-46272"/>
                    <a:pt x="2968658" y="29081"/>
                    <a:pt x="3290155" y="0"/>
                  </a:cubicBezTo>
                  <a:cubicBezTo>
                    <a:pt x="3611652" y="-29081"/>
                    <a:pt x="3661990" y="22109"/>
                    <a:pt x="3763396" y="0"/>
                  </a:cubicBezTo>
                  <a:cubicBezTo>
                    <a:pt x="3864802" y="-22109"/>
                    <a:pt x="4242046" y="65234"/>
                    <a:pt x="4507061" y="0"/>
                  </a:cubicBezTo>
                  <a:cubicBezTo>
                    <a:pt x="4541348" y="165922"/>
                    <a:pt x="4460858" y="344152"/>
                    <a:pt x="4507061" y="450747"/>
                  </a:cubicBezTo>
                  <a:cubicBezTo>
                    <a:pt x="4553264" y="557342"/>
                    <a:pt x="4487295" y="660746"/>
                    <a:pt x="4507061" y="850465"/>
                  </a:cubicBezTo>
                  <a:cubicBezTo>
                    <a:pt x="4526827" y="1040184"/>
                    <a:pt x="4493706" y="1173894"/>
                    <a:pt x="4507061" y="1275698"/>
                  </a:cubicBezTo>
                  <a:cubicBezTo>
                    <a:pt x="4345207" y="1305352"/>
                    <a:pt x="4195468" y="1206040"/>
                    <a:pt x="3898608" y="1275698"/>
                  </a:cubicBezTo>
                  <a:cubicBezTo>
                    <a:pt x="3601748" y="1345356"/>
                    <a:pt x="3502320" y="1205798"/>
                    <a:pt x="3245084" y="1275698"/>
                  </a:cubicBezTo>
                  <a:cubicBezTo>
                    <a:pt x="2987848" y="1345598"/>
                    <a:pt x="2831710" y="1271929"/>
                    <a:pt x="2591560" y="1275698"/>
                  </a:cubicBezTo>
                  <a:cubicBezTo>
                    <a:pt x="2351410" y="1279467"/>
                    <a:pt x="2273340" y="1246124"/>
                    <a:pt x="2118319" y="1275698"/>
                  </a:cubicBezTo>
                  <a:cubicBezTo>
                    <a:pt x="1963298" y="1305272"/>
                    <a:pt x="1834011" y="1270674"/>
                    <a:pt x="1554936" y="1275698"/>
                  </a:cubicBezTo>
                  <a:cubicBezTo>
                    <a:pt x="1275861" y="1280722"/>
                    <a:pt x="1182801" y="1240084"/>
                    <a:pt x="901412" y="1275698"/>
                  </a:cubicBezTo>
                  <a:cubicBezTo>
                    <a:pt x="620023" y="1311312"/>
                    <a:pt x="185530" y="1206116"/>
                    <a:pt x="0" y="1275698"/>
                  </a:cubicBezTo>
                  <a:cubicBezTo>
                    <a:pt x="-23461" y="1125762"/>
                    <a:pt x="21398" y="1020872"/>
                    <a:pt x="0" y="888736"/>
                  </a:cubicBezTo>
                  <a:cubicBezTo>
                    <a:pt x="-21398" y="756600"/>
                    <a:pt x="3119" y="686714"/>
                    <a:pt x="0" y="489018"/>
                  </a:cubicBezTo>
                  <a:cubicBezTo>
                    <a:pt x="-3119" y="291322"/>
                    <a:pt x="28682" y="117741"/>
                    <a:pt x="0" y="0"/>
                  </a:cubicBezTo>
                  <a:close/>
                </a:path>
              </a:pathLst>
            </a:custGeom>
            <a:noFill/>
            <a:ln>
              <a:solidFill>
                <a:srgbClr val="FFFF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lIns="252000" tIns="144000" rIns="252000" bIns="144000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b="1" dirty="0">
                  <a:solidFill>
                    <a:srgbClr val="FFFF00"/>
                  </a:solidFill>
                </a:rPr>
                <a:t>Note:</a:t>
              </a:r>
            </a:p>
            <a:p>
              <a:r>
                <a:rPr lang="en-US" dirty="0"/>
                <a:t>Don’t trying to use if inside JSX tags —it is not allowed.</a:t>
              </a:r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E1B922-8A9C-4E9B-C97A-CCD487028CAC}"/>
                </a:ext>
              </a:extLst>
            </p:cNvPr>
            <p:cNvSpPr/>
            <p:nvPr/>
          </p:nvSpPr>
          <p:spPr>
            <a:xfrm>
              <a:off x="695166" y="365789"/>
              <a:ext cx="3672117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Using if/else: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57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B26B4-28F3-E914-28D2-43D461A79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D96AF49-B272-6AEA-2710-42ED89DE85B2}"/>
              </a:ext>
            </a:extLst>
          </p:cNvPr>
          <p:cNvGrpSpPr/>
          <p:nvPr/>
        </p:nvGrpSpPr>
        <p:grpSpPr>
          <a:xfrm>
            <a:off x="880539" y="812683"/>
            <a:ext cx="9020675" cy="5157164"/>
            <a:chOff x="901165" y="1057144"/>
            <a:chExt cx="9020675" cy="515716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DD6B8DB-9775-A4B4-C5BC-A4378073E294}"/>
                </a:ext>
              </a:extLst>
            </p:cNvPr>
            <p:cNvSpPr/>
            <p:nvPr/>
          </p:nvSpPr>
          <p:spPr>
            <a:xfrm>
              <a:off x="901165" y="1057144"/>
              <a:ext cx="9020675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6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Using Ternary Operator (Inline Rendering)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57EAC52-C6DB-65DE-E399-E5BA675498F4}"/>
                </a:ext>
              </a:extLst>
            </p:cNvPr>
            <p:cNvGrpSpPr/>
            <p:nvPr/>
          </p:nvGrpSpPr>
          <p:grpSpPr>
            <a:xfrm>
              <a:off x="901165" y="3000279"/>
              <a:ext cx="8229085" cy="3214029"/>
              <a:chOff x="901165" y="3000279"/>
              <a:chExt cx="8229085" cy="3214029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04EE1CC3-F991-A5D5-269F-C76B68D77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489" t="25560" r="8139" b="15355"/>
              <a:stretch>
                <a:fillRect/>
              </a:stretch>
            </p:blipFill>
            <p:spPr>
              <a:xfrm>
                <a:off x="1010653" y="3429000"/>
                <a:ext cx="8119597" cy="2785308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FA5DAE-AA7C-B7A5-E566-20A3FDAB3F52}"/>
                  </a:ext>
                </a:extLst>
              </p:cNvPr>
              <p:cNvSpPr txBox="1"/>
              <p:nvPr/>
            </p:nvSpPr>
            <p:spPr>
              <a:xfrm>
                <a:off x="901165" y="3000279"/>
                <a:ext cx="12519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Example:</a:t>
                </a:r>
                <a:endParaRPr lang="en-IN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006C941-732A-B930-F532-3F3ABDFDF645}"/>
                </a:ext>
              </a:extLst>
            </p:cNvPr>
            <p:cNvGrpSpPr/>
            <p:nvPr/>
          </p:nvGrpSpPr>
          <p:grpSpPr>
            <a:xfrm>
              <a:off x="901165" y="1907982"/>
              <a:ext cx="6227035" cy="993346"/>
              <a:chOff x="901165" y="1907982"/>
              <a:chExt cx="6227035" cy="99334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ED894A10-CBF1-2B3F-EA31-8D76874773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18" t="50000" r="11323" b="30478"/>
              <a:stretch>
                <a:fillRect/>
              </a:stretch>
            </p:blipFill>
            <p:spPr>
              <a:xfrm>
                <a:off x="1010653" y="2336703"/>
                <a:ext cx="6117547" cy="564625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31CF05-97A3-BC4F-6E92-E084D0D761B3}"/>
                  </a:ext>
                </a:extLst>
              </p:cNvPr>
              <p:cNvSpPr txBox="1"/>
              <p:nvPr/>
            </p:nvSpPr>
            <p:spPr>
              <a:xfrm>
                <a:off x="901165" y="1907982"/>
                <a:ext cx="10995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Syntax:</a:t>
                </a:r>
                <a:endParaRPr lang="en-IN" dirty="0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DD8F69B-50DE-1168-F856-FD22CBDB64D5}"/>
              </a:ext>
            </a:extLst>
          </p:cNvPr>
          <p:cNvSpPr txBox="1"/>
          <p:nvPr/>
        </p:nvSpPr>
        <p:spPr>
          <a:xfrm>
            <a:off x="7389306" y="1645005"/>
            <a:ext cx="4271013" cy="1275698"/>
          </a:xfrm>
          <a:custGeom>
            <a:avLst/>
            <a:gdLst>
              <a:gd name="connsiteX0" fmla="*/ 0 w 4271013"/>
              <a:gd name="connsiteY0" fmla="*/ 0 h 1275698"/>
              <a:gd name="connsiteX1" fmla="*/ 491166 w 4271013"/>
              <a:gd name="connsiteY1" fmla="*/ 0 h 1275698"/>
              <a:gd name="connsiteX2" fmla="*/ 896913 w 4271013"/>
              <a:gd name="connsiteY2" fmla="*/ 0 h 1275698"/>
              <a:gd name="connsiteX3" fmla="*/ 1516210 w 4271013"/>
              <a:gd name="connsiteY3" fmla="*/ 0 h 1275698"/>
              <a:gd name="connsiteX4" fmla="*/ 2007376 w 4271013"/>
              <a:gd name="connsiteY4" fmla="*/ 0 h 1275698"/>
              <a:gd name="connsiteX5" fmla="*/ 2498543 w 4271013"/>
              <a:gd name="connsiteY5" fmla="*/ 0 h 1275698"/>
              <a:gd name="connsiteX6" fmla="*/ 3117839 w 4271013"/>
              <a:gd name="connsiteY6" fmla="*/ 0 h 1275698"/>
              <a:gd name="connsiteX7" fmla="*/ 3566296 w 4271013"/>
              <a:gd name="connsiteY7" fmla="*/ 0 h 1275698"/>
              <a:gd name="connsiteX8" fmla="*/ 4271013 w 4271013"/>
              <a:gd name="connsiteY8" fmla="*/ 0 h 1275698"/>
              <a:gd name="connsiteX9" fmla="*/ 4271013 w 4271013"/>
              <a:gd name="connsiteY9" fmla="*/ 450747 h 1275698"/>
              <a:gd name="connsiteX10" fmla="*/ 4271013 w 4271013"/>
              <a:gd name="connsiteY10" fmla="*/ 850465 h 1275698"/>
              <a:gd name="connsiteX11" fmla="*/ 4271013 w 4271013"/>
              <a:gd name="connsiteY11" fmla="*/ 1275698 h 1275698"/>
              <a:gd name="connsiteX12" fmla="*/ 3694426 w 4271013"/>
              <a:gd name="connsiteY12" fmla="*/ 1275698 h 1275698"/>
              <a:gd name="connsiteX13" fmla="*/ 3075129 w 4271013"/>
              <a:gd name="connsiteY13" fmla="*/ 1275698 h 1275698"/>
              <a:gd name="connsiteX14" fmla="*/ 2455832 w 4271013"/>
              <a:gd name="connsiteY14" fmla="*/ 1275698 h 1275698"/>
              <a:gd name="connsiteX15" fmla="*/ 2007376 w 4271013"/>
              <a:gd name="connsiteY15" fmla="*/ 1275698 h 1275698"/>
              <a:gd name="connsiteX16" fmla="*/ 1473499 w 4271013"/>
              <a:gd name="connsiteY16" fmla="*/ 1275698 h 1275698"/>
              <a:gd name="connsiteX17" fmla="*/ 854203 w 4271013"/>
              <a:gd name="connsiteY17" fmla="*/ 1275698 h 1275698"/>
              <a:gd name="connsiteX18" fmla="*/ 0 w 4271013"/>
              <a:gd name="connsiteY18" fmla="*/ 1275698 h 1275698"/>
              <a:gd name="connsiteX19" fmla="*/ 0 w 4271013"/>
              <a:gd name="connsiteY19" fmla="*/ 888736 h 1275698"/>
              <a:gd name="connsiteX20" fmla="*/ 0 w 4271013"/>
              <a:gd name="connsiteY20" fmla="*/ 489018 h 1275698"/>
              <a:gd name="connsiteX21" fmla="*/ 0 w 4271013"/>
              <a:gd name="connsiteY21" fmla="*/ 0 h 1275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271013" h="1275698" extrusionOk="0">
                <a:moveTo>
                  <a:pt x="0" y="0"/>
                </a:moveTo>
                <a:cubicBezTo>
                  <a:pt x="227655" y="-51286"/>
                  <a:pt x="385109" y="18947"/>
                  <a:pt x="491166" y="0"/>
                </a:cubicBezTo>
                <a:cubicBezTo>
                  <a:pt x="597223" y="-18947"/>
                  <a:pt x="796078" y="23886"/>
                  <a:pt x="896913" y="0"/>
                </a:cubicBezTo>
                <a:cubicBezTo>
                  <a:pt x="997748" y="-23886"/>
                  <a:pt x="1383118" y="73355"/>
                  <a:pt x="1516210" y="0"/>
                </a:cubicBezTo>
                <a:cubicBezTo>
                  <a:pt x="1649302" y="-73355"/>
                  <a:pt x="1805950" y="21687"/>
                  <a:pt x="2007376" y="0"/>
                </a:cubicBezTo>
                <a:cubicBezTo>
                  <a:pt x="2208802" y="-21687"/>
                  <a:pt x="2340005" y="37034"/>
                  <a:pt x="2498543" y="0"/>
                </a:cubicBezTo>
                <a:cubicBezTo>
                  <a:pt x="2657081" y="-37034"/>
                  <a:pt x="2874043" y="43912"/>
                  <a:pt x="3117839" y="0"/>
                </a:cubicBezTo>
                <a:cubicBezTo>
                  <a:pt x="3361635" y="-43912"/>
                  <a:pt x="3420391" y="53418"/>
                  <a:pt x="3566296" y="0"/>
                </a:cubicBezTo>
                <a:cubicBezTo>
                  <a:pt x="3712201" y="-53418"/>
                  <a:pt x="4049987" y="69173"/>
                  <a:pt x="4271013" y="0"/>
                </a:cubicBezTo>
                <a:cubicBezTo>
                  <a:pt x="4305300" y="165922"/>
                  <a:pt x="4224810" y="344152"/>
                  <a:pt x="4271013" y="450747"/>
                </a:cubicBezTo>
                <a:cubicBezTo>
                  <a:pt x="4317216" y="557342"/>
                  <a:pt x="4251247" y="660746"/>
                  <a:pt x="4271013" y="850465"/>
                </a:cubicBezTo>
                <a:cubicBezTo>
                  <a:pt x="4290779" y="1040184"/>
                  <a:pt x="4257658" y="1173894"/>
                  <a:pt x="4271013" y="1275698"/>
                </a:cubicBezTo>
                <a:cubicBezTo>
                  <a:pt x="3991947" y="1289966"/>
                  <a:pt x="3847059" y="1257063"/>
                  <a:pt x="3694426" y="1275698"/>
                </a:cubicBezTo>
                <a:cubicBezTo>
                  <a:pt x="3541793" y="1294333"/>
                  <a:pt x="3199191" y="1232852"/>
                  <a:pt x="3075129" y="1275698"/>
                </a:cubicBezTo>
                <a:cubicBezTo>
                  <a:pt x="2951067" y="1318544"/>
                  <a:pt x="2729235" y="1227885"/>
                  <a:pt x="2455832" y="1275698"/>
                </a:cubicBezTo>
                <a:cubicBezTo>
                  <a:pt x="2182429" y="1323511"/>
                  <a:pt x="2184704" y="1241682"/>
                  <a:pt x="2007376" y="1275698"/>
                </a:cubicBezTo>
                <a:cubicBezTo>
                  <a:pt x="1830048" y="1309714"/>
                  <a:pt x="1656239" y="1259357"/>
                  <a:pt x="1473499" y="1275698"/>
                </a:cubicBezTo>
                <a:cubicBezTo>
                  <a:pt x="1290759" y="1292039"/>
                  <a:pt x="1118413" y="1226201"/>
                  <a:pt x="854203" y="1275698"/>
                </a:cubicBezTo>
                <a:cubicBezTo>
                  <a:pt x="589993" y="1325195"/>
                  <a:pt x="171106" y="1231562"/>
                  <a:pt x="0" y="1275698"/>
                </a:cubicBezTo>
                <a:cubicBezTo>
                  <a:pt x="-23461" y="1125762"/>
                  <a:pt x="21398" y="1020872"/>
                  <a:pt x="0" y="888736"/>
                </a:cubicBezTo>
                <a:cubicBezTo>
                  <a:pt x="-21398" y="756600"/>
                  <a:pt x="3119" y="686714"/>
                  <a:pt x="0" y="489018"/>
                </a:cubicBezTo>
                <a:cubicBezTo>
                  <a:pt x="-3119" y="291322"/>
                  <a:pt x="28682" y="117741"/>
                  <a:pt x="0" y="0"/>
                </a:cubicBezTo>
                <a:close/>
              </a:path>
            </a:pathLst>
          </a:custGeom>
          <a:noFill/>
          <a:ln>
            <a:solidFill>
              <a:srgbClr val="FFFF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252000" tIns="144000" rIns="252000" bIns="14400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>
                <a:solidFill>
                  <a:srgbClr val="FFFF00"/>
                </a:solidFill>
              </a:rPr>
              <a:t>Note:</a:t>
            </a:r>
          </a:p>
          <a:p>
            <a:r>
              <a:rPr lang="en-US" dirty="0"/>
              <a:t>Avoid complex ternaries with multiple ? : ? : ? — it reduces readability.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3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F86D9-ED72-5625-D792-26D21505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71B4250-67CF-9E61-1CC9-F313B65B030C}"/>
              </a:ext>
            </a:extLst>
          </p:cNvPr>
          <p:cNvGrpSpPr/>
          <p:nvPr/>
        </p:nvGrpSpPr>
        <p:grpSpPr>
          <a:xfrm>
            <a:off x="605533" y="819559"/>
            <a:ext cx="10335185" cy="4834894"/>
            <a:chOff x="880540" y="812683"/>
            <a:chExt cx="10335185" cy="48348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470F1CB-1333-2C18-E48D-6529932E56F1}"/>
                </a:ext>
              </a:extLst>
            </p:cNvPr>
            <p:cNvSpPr/>
            <p:nvPr/>
          </p:nvSpPr>
          <p:spPr>
            <a:xfrm>
              <a:off x="880540" y="812683"/>
              <a:ext cx="5307130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Logical AND (&amp;&amp;) Operator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1210E9-1DD8-BE59-69AA-B909B709B560}"/>
                </a:ext>
              </a:extLst>
            </p:cNvPr>
            <p:cNvSpPr txBox="1"/>
            <p:nvPr/>
          </p:nvSpPr>
          <p:spPr>
            <a:xfrm>
              <a:off x="6856857" y="1679018"/>
              <a:ext cx="4358868" cy="2383693"/>
            </a:xfrm>
            <a:custGeom>
              <a:avLst/>
              <a:gdLst>
                <a:gd name="connsiteX0" fmla="*/ 0 w 4358868"/>
                <a:gd name="connsiteY0" fmla="*/ 0 h 2383693"/>
                <a:gd name="connsiteX1" fmla="*/ 501270 w 4358868"/>
                <a:gd name="connsiteY1" fmla="*/ 0 h 2383693"/>
                <a:gd name="connsiteX2" fmla="*/ 915362 w 4358868"/>
                <a:gd name="connsiteY2" fmla="*/ 0 h 2383693"/>
                <a:gd name="connsiteX3" fmla="*/ 1547398 w 4358868"/>
                <a:gd name="connsiteY3" fmla="*/ 0 h 2383693"/>
                <a:gd name="connsiteX4" fmla="*/ 2048668 w 4358868"/>
                <a:gd name="connsiteY4" fmla="*/ 0 h 2383693"/>
                <a:gd name="connsiteX5" fmla="*/ 2549938 w 4358868"/>
                <a:gd name="connsiteY5" fmla="*/ 0 h 2383693"/>
                <a:gd name="connsiteX6" fmla="*/ 3181974 w 4358868"/>
                <a:gd name="connsiteY6" fmla="*/ 0 h 2383693"/>
                <a:gd name="connsiteX7" fmla="*/ 3639655 w 4358868"/>
                <a:gd name="connsiteY7" fmla="*/ 0 h 2383693"/>
                <a:gd name="connsiteX8" fmla="*/ 4358868 w 4358868"/>
                <a:gd name="connsiteY8" fmla="*/ 0 h 2383693"/>
                <a:gd name="connsiteX9" fmla="*/ 4358868 w 4358868"/>
                <a:gd name="connsiteY9" fmla="*/ 643597 h 2383693"/>
                <a:gd name="connsiteX10" fmla="*/ 4358868 w 4358868"/>
                <a:gd name="connsiteY10" fmla="*/ 1191847 h 2383693"/>
                <a:gd name="connsiteX11" fmla="*/ 4358868 w 4358868"/>
                <a:gd name="connsiteY11" fmla="*/ 1787770 h 2383693"/>
                <a:gd name="connsiteX12" fmla="*/ 4358868 w 4358868"/>
                <a:gd name="connsiteY12" fmla="*/ 2383693 h 2383693"/>
                <a:gd name="connsiteX13" fmla="*/ 3944776 w 4358868"/>
                <a:gd name="connsiteY13" fmla="*/ 2383693 h 2383693"/>
                <a:gd name="connsiteX14" fmla="*/ 3312740 w 4358868"/>
                <a:gd name="connsiteY14" fmla="*/ 2383693 h 2383693"/>
                <a:gd name="connsiteX15" fmla="*/ 2855059 w 4358868"/>
                <a:gd name="connsiteY15" fmla="*/ 2383693 h 2383693"/>
                <a:gd name="connsiteX16" fmla="*/ 2310200 w 4358868"/>
                <a:gd name="connsiteY16" fmla="*/ 2383693 h 2383693"/>
                <a:gd name="connsiteX17" fmla="*/ 1678164 w 4358868"/>
                <a:gd name="connsiteY17" fmla="*/ 2383693 h 2383693"/>
                <a:gd name="connsiteX18" fmla="*/ 1133306 w 4358868"/>
                <a:gd name="connsiteY18" fmla="*/ 2383693 h 2383693"/>
                <a:gd name="connsiteX19" fmla="*/ 719213 w 4358868"/>
                <a:gd name="connsiteY19" fmla="*/ 2383693 h 2383693"/>
                <a:gd name="connsiteX20" fmla="*/ 0 w 4358868"/>
                <a:gd name="connsiteY20" fmla="*/ 2383693 h 2383693"/>
                <a:gd name="connsiteX21" fmla="*/ 0 w 4358868"/>
                <a:gd name="connsiteY21" fmla="*/ 1740096 h 2383693"/>
                <a:gd name="connsiteX22" fmla="*/ 0 w 4358868"/>
                <a:gd name="connsiteY22" fmla="*/ 1096499 h 2383693"/>
                <a:gd name="connsiteX23" fmla="*/ 0 w 4358868"/>
                <a:gd name="connsiteY23" fmla="*/ 0 h 23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58868" h="2383693" extrusionOk="0">
                  <a:moveTo>
                    <a:pt x="0" y="0"/>
                  </a:moveTo>
                  <a:cubicBezTo>
                    <a:pt x="129445" y="-37719"/>
                    <a:pt x="335945" y="16853"/>
                    <a:pt x="501270" y="0"/>
                  </a:cubicBezTo>
                  <a:cubicBezTo>
                    <a:pt x="666595" y="-16853"/>
                    <a:pt x="821980" y="33648"/>
                    <a:pt x="915362" y="0"/>
                  </a:cubicBezTo>
                  <a:cubicBezTo>
                    <a:pt x="1008744" y="-33648"/>
                    <a:pt x="1400330" y="16969"/>
                    <a:pt x="1547398" y="0"/>
                  </a:cubicBezTo>
                  <a:cubicBezTo>
                    <a:pt x="1694466" y="-16969"/>
                    <a:pt x="1934462" y="42838"/>
                    <a:pt x="2048668" y="0"/>
                  </a:cubicBezTo>
                  <a:cubicBezTo>
                    <a:pt x="2162874" y="-42838"/>
                    <a:pt x="2432661" y="22554"/>
                    <a:pt x="2549938" y="0"/>
                  </a:cubicBezTo>
                  <a:cubicBezTo>
                    <a:pt x="2667215" y="-22554"/>
                    <a:pt x="2894404" y="40283"/>
                    <a:pt x="3181974" y="0"/>
                  </a:cubicBezTo>
                  <a:cubicBezTo>
                    <a:pt x="3469544" y="-40283"/>
                    <a:pt x="3481633" y="28215"/>
                    <a:pt x="3639655" y="0"/>
                  </a:cubicBezTo>
                  <a:cubicBezTo>
                    <a:pt x="3797677" y="-28215"/>
                    <a:pt x="4087104" y="80535"/>
                    <a:pt x="4358868" y="0"/>
                  </a:cubicBezTo>
                  <a:cubicBezTo>
                    <a:pt x="4407169" y="219543"/>
                    <a:pt x="4320676" y="364509"/>
                    <a:pt x="4358868" y="643597"/>
                  </a:cubicBezTo>
                  <a:cubicBezTo>
                    <a:pt x="4397060" y="922685"/>
                    <a:pt x="4301085" y="926185"/>
                    <a:pt x="4358868" y="1191847"/>
                  </a:cubicBezTo>
                  <a:cubicBezTo>
                    <a:pt x="4416651" y="1457509"/>
                    <a:pt x="4342680" y="1654624"/>
                    <a:pt x="4358868" y="1787770"/>
                  </a:cubicBezTo>
                  <a:cubicBezTo>
                    <a:pt x="4375056" y="1920916"/>
                    <a:pt x="4336978" y="2181704"/>
                    <a:pt x="4358868" y="2383693"/>
                  </a:cubicBezTo>
                  <a:cubicBezTo>
                    <a:pt x="4237487" y="2416025"/>
                    <a:pt x="4124611" y="2360230"/>
                    <a:pt x="3944776" y="2383693"/>
                  </a:cubicBezTo>
                  <a:cubicBezTo>
                    <a:pt x="3764941" y="2407156"/>
                    <a:pt x="3609265" y="2353554"/>
                    <a:pt x="3312740" y="2383693"/>
                  </a:cubicBezTo>
                  <a:cubicBezTo>
                    <a:pt x="3016215" y="2413832"/>
                    <a:pt x="3037184" y="2335322"/>
                    <a:pt x="2855059" y="2383693"/>
                  </a:cubicBezTo>
                  <a:cubicBezTo>
                    <a:pt x="2672934" y="2432064"/>
                    <a:pt x="2537364" y="2329732"/>
                    <a:pt x="2310200" y="2383693"/>
                  </a:cubicBezTo>
                  <a:cubicBezTo>
                    <a:pt x="2083036" y="2437654"/>
                    <a:pt x="1906092" y="2328335"/>
                    <a:pt x="1678164" y="2383693"/>
                  </a:cubicBezTo>
                  <a:cubicBezTo>
                    <a:pt x="1450236" y="2439051"/>
                    <a:pt x="1325035" y="2367406"/>
                    <a:pt x="1133306" y="2383693"/>
                  </a:cubicBezTo>
                  <a:cubicBezTo>
                    <a:pt x="941577" y="2399980"/>
                    <a:pt x="857483" y="2366321"/>
                    <a:pt x="719213" y="2383693"/>
                  </a:cubicBezTo>
                  <a:cubicBezTo>
                    <a:pt x="580943" y="2401065"/>
                    <a:pt x="207802" y="2334638"/>
                    <a:pt x="0" y="2383693"/>
                  </a:cubicBezTo>
                  <a:cubicBezTo>
                    <a:pt x="-13739" y="2254539"/>
                    <a:pt x="22370" y="2049180"/>
                    <a:pt x="0" y="1740096"/>
                  </a:cubicBezTo>
                  <a:cubicBezTo>
                    <a:pt x="-22370" y="1431012"/>
                    <a:pt x="40843" y="1274871"/>
                    <a:pt x="0" y="1096499"/>
                  </a:cubicBezTo>
                  <a:cubicBezTo>
                    <a:pt x="-40843" y="918127"/>
                    <a:pt x="52497" y="239644"/>
                    <a:pt x="0" y="0"/>
                  </a:cubicBezTo>
                  <a:close/>
                </a:path>
              </a:pathLst>
            </a:custGeom>
            <a:noFill/>
            <a:ln>
              <a:solidFill>
                <a:srgbClr val="FFFF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lIns="252000" tIns="144000" rIns="252000" bIns="144000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b="1" dirty="0">
                  <a:solidFill>
                    <a:srgbClr val="FFFF00"/>
                  </a:solidFill>
                </a:rPr>
                <a:t>Note: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/>
                <a:t>If the condition is true → it renders the element.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/>
                <a:t>If false → renders nothing.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/>
                <a:t>Use case → When you only want to show something (not alternate options).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8DA77D-D5BF-B9B1-0864-3F8ED0A1D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19" t="41666" r="16053" b="25346"/>
            <a:stretch>
              <a:fillRect/>
            </a:stretch>
          </p:blipFill>
          <p:spPr>
            <a:xfrm>
              <a:off x="976275" y="1679018"/>
              <a:ext cx="3944457" cy="121780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76A98E2-E2E9-7B82-BB6B-D265CDA1B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32" t="26348" r="10546" b="15504"/>
            <a:stretch>
              <a:fillRect/>
            </a:stretch>
          </p:blipFill>
          <p:spPr>
            <a:xfrm>
              <a:off x="976275" y="3178379"/>
              <a:ext cx="5477480" cy="2469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4440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982D7-394A-CFEA-84D3-204E90BA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782645F-CC0E-8EA6-7D88-037AE13A47B4}"/>
              </a:ext>
            </a:extLst>
          </p:cNvPr>
          <p:cNvGrpSpPr/>
          <p:nvPr/>
        </p:nvGrpSpPr>
        <p:grpSpPr>
          <a:xfrm>
            <a:off x="843872" y="841330"/>
            <a:ext cx="7942619" cy="4996942"/>
            <a:chOff x="781995" y="1081962"/>
            <a:chExt cx="7942619" cy="499694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89D4BC8-A8EE-9AEC-F9FA-3F2F4EA03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61" t="21454" r="14008" b="11951"/>
            <a:stretch>
              <a:fillRect/>
            </a:stretch>
          </p:blipFill>
          <p:spPr>
            <a:xfrm>
              <a:off x="880025" y="1860443"/>
              <a:ext cx="4241991" cy="421846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7DA6CB6-EEB7-8437-E7C4-EEB1FD57CBDE}"/>
                </a:ext>
              </a:extLst>
            </p:cNvPr>
            <p:cNvSpPr txBox="1"/>
            <p:nvPr/>
          </p:nvSpPr>
          <p:spPr>
            <a:xfrm>
              <a:off x="5598063" y="2101075"/>
              <a:ext cx="3126551" cy="1354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Store JSX in a variable.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Helps keep return statement clean and readable.</a:t>
              </a:r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E26578-94E4-B8E1-C812-23F9521CAAA0}"/>
                </a:ext>
              </a:extLst>
            </p:cNvPr>
            <p:cNvSpPr/>
            <p:nvPr/>
          </p:nvSpPr>
          <p:spPr>
            <a:xfrm>
              <a:off x="781995" y="1081962"/>
              <a:ext cx="7371978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Conditional Rendering with Variables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4718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F18C2-C7EC-855B-0336-3EB95390C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1F4949-6F5F-6875-CB70-A6D37A4A0E77}"/>
              </a:ext>
            </a:extLst>
          </p:cNvPr>
          <p:cNvGrpSpPr/>
          <p:nvPr/>
        </p:nvGrpSpPr>
        <p:grpSpPr>
          <a:xfrm>
            <a:off x="1140650" y="1461243"/>
            <a:ext cx="8443362" cy="3155065"/>
            <a:chOff x="686888" y="863102"/>
            <a:chExt cx="8443362" cy="315506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06FDE96-15A2-AF89-E7FE-9EE525051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17" t="29994" r="8985" b="17879"/>
            <a:stretch>
              <a:fillRect/>
            </a:stretch>
          </p:blipFill>
          <p:spPr>
            <a:xfrm>
              <a:off x="776895" y="1656920"/>
              <a:ext cx="8353355" cy="2361247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D6303CA-AF10-A267-D5A3-47138D5DA3FA}"/>
                </a:ext>
              </a:extLst>
            </p:cNvPr>
            <p:cNvSpPr/>
            <p:nvPr/>
          </p:nvSpPr>
          <p:spPr>
            <a:xfrm>
              <a:off x="686888" y="863102"/>
              <a:ext cx="7371978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Conditional CSS or </a:t>
              </a:r>
              <a:r>
                <a:rPr lang="en-US" sz="3200" b="1" dirty="0" err="1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ClassName</a:t>
              </a:r>
              <a:endPara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4239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E88EB-E838-DD5B-ED7E-CE0FCEF52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046B756-C134-0C88-BF46-814A3F8275DF}"/>
              </a:ext>
            </a:extLst>
          </p:cNvPr>
          <p:cNvGrpSpPr/>
          <p:nvPr/>
        </p:nvGrpSpPr>
        <p:grpSpPr>
          <a:xfrm>
            <a:off x="983667" y="778307"/>
            <a:ext cx="7390311" cy="5139911"/>
            <a:chOff x="605532" y="819559"/>
            <a:chExt cx="7390311" cy="51399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A86EA8-2639-097B-BC85-C9F8FA77838B}"/>
                </a:ext>
              </a:extLst>
            </p:cNvPr>
            <p:cNvSpPr/>
            <p:nvPr/>
          </p:nvSpPr>
          <p:spPr>
            <a:xfrm>
              <a:off x="605532" y="819559"/>
              <a:ext cx="7390311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Conditional Rendering with State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B15BC87-78D1-873F-2C75-C211A0D89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38" t="20478" r="10562" b="11950"/>
            <a:stretch>
              <a:fillRect/>
            </a:stretch>
          </p:blipFill>
          <p:spPr>
            <a:xfrm>
              <a:off x="715020" y="1583089"/>
              <a:ext cx="6070791" cy="43763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295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2B046-C52E-FA6E-ABD8-732BFDA6E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FD3D82B-FCF3-6F84-FA8B-CAE17E8956A0}"/>
              </a:ext>
            </a:extLst>
          </p:cNvPr>
          <p:cNvGrpSpPr/>
          <p:nvPr/>
        </p:nvGrpSpPr>
        <p:grpSpPr>
          <a:xfrm>
            <a:off x="997417" y="1156443"/>
            <a:ext cx="8579719" cy="3746676"/>
            <a:chOff x="983667" y="778307"/>
            <a:chExt cx="8579719" cy="374667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56F795E-930A-433F-1012-C3A2778F5FDE}"/>
                </a:ext>
              </a:extLst>
            </p:cNvPr>
            <p:cNvSpPr/>
            <p:nvPr/>
          </p:nvSpPr>
          <p:spPr>
            <a:xfrm>
              <a:off x="983667" y="778307"/>
              <a:ext cx="7390311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Returning null (Hide Completely)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DB41009-635C-0267-E1E0-C016DFA11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33" t="37523" r="9900" b="22160"/>
            <a:stretch>
              <a:fillRect/>
            </a:stretch>
          </p:blipFill>
          <p:spPr>
            <a:xfrm>
              <a:off x="1051903" y="1629419"/>
              <a:ext cx="8511483" cy="170504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C3A7264-4C19-585C-D602-F87A569CCB13}"/>
                </a:ext>
              </a:extLst>
            </p:cNvPr>
            <p:cNvSpPr txBox="1"/>
            <p:nvPr/>
          </p:nvSpPr>
          <p:spPr>
            <a:xfrm>
              <a:off x="983667" y="3724764"/>
              <a:ext cx="6359034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Returning null means “render nothing”.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Common in modal or popup components.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425937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CDF49-64CB-222D-75D5-E0DE4747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89BE7F4-8264-7287-E308-3F04A70A28AC}"/>
              </a:ext>
            </a:extLst>
          </p:cNvPr>
          <p:cNvGrpSpPr/>
          <p:nvPr/>
        </p:nvGrpSpPr>
        <p:grpSpPr>
          <a:xfrm>
            <a:off x="1011168" y="1115192"/>
            <a:ext cx="9033482" cy="3746676"/>
            <a:chOff x="997417" y="1156443"/>
            <a:chExt cx="9033482" cy="374667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912717-90F5-EB60-A111-8ADB788F3FED}"/>
                </a:ext>
              </a:extLst>
            </p:cNvPr>
            <p:cNvSpPr/>
            <p:nvPr/>
          </p:nvSpPr>
          <p:spPr>
            <a:xfrm>
              <a:off x="997417" y="1156443"/>
              <a:ext cx="7390311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Advanced: Conditional Components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6DCA3ED-5D48-5AF8-C0F4-1CE9EC275923}"/>
                </a:ext>
              </a:extLst>
            </p:cNvPr>
            <p:cNvSpPr txBox="1"/>
            <p:nvPr/>
          </p:nvSpPr>
          <p:spPr>
            <a:xfrm>
              <a:off x="997417" y="4102900"/>
              <a:ext cx="6359034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You can even conditionally select components themselves.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Useful for routing-like patterns or dynamic layouts.</a:t>
              </a:r>
              <a:endParaRPr lang="en-IN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0711894-4D4B-848D-1D05-1E27326BB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31" t="37597" r="9454" b="22087"/>
            <a:stretch>
              <a:fillRect/>
            </a:stretch>
          </p:blipFill>
          <p:spPr>
            <a:xfrm>
              <a:off x="1072529" y="2069535"/>
              <a:ext cx="8958370" cy="1705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7438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28608-661A-5655-8EA2-F7683CD70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9B50D29-B523-B59D-F2D3-99DD6CC4F0C9}"/>
              </a:ext>
            </a:extLst>
          </p:cNvPr>
          <p:cNvGrpSpPr/>
          <p:nvPr/>
        </p:nvGrpSpPr>
        <p:grpSpPr>
          <a:xfrm>
            <a:off x="871114" y="653359"/>
            <a:ext cx="7390311" cy="5424415"/>
            <a:chOff x="715534" y="488354"/>
            <a:chExt cx="7390311" cy="54244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09E342-6F78-03AA-5940-711EBD98702A}"/>
                </a:ext>
              </a:extLst>
            </p:cNvPr>
            <p:cNvSpPr/>
            <p:nvPr/>
          </p:nvSpPr>
          <p:spPr>
            <a:xfrm>
              <a:off x="715534" y="488354"/>
              <a:ext cx="7390311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Using switch Statement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879AAF1-C124-9F4B-EF87-4DDADEC257A4}"/>
                </a:ext>
              </a:extLst>
            </p:cNvPr>
            <p:cNvSpPr txBox="1"/>
            <p:nvPr/>
          </p:nvSpPr>
          <p:spPr>
            <a:xfrm>
              <a:off x="715534" y="1230625"/>
              <a:ext cx="726223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/>
                <a:t>When you have 3 or more conditions, if/else becomes messy. That’s when switch makes your code cleaner and more readable.</a:t>
              </a:r>
              <a:endParaRPr lang="en-IN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2174C4D-0EC2-236D-6A12-8782ACC61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75" t="19649" r="10774" b="11478"/>
            <a:stretch>
              <a:fillRect/>
            </a:stretch>
          </p:blipFill>
          <p:spPr>
            <a:xfrm>
              <a:off x="790648" y="2034452"/>
              <a:ext cx="5080764" cy="38783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8814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90E70-4FEF-514F-E1F2-48BF268D8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24D9038-CB8D-8661-EB72-7A4E7751163A}"/>
              </a:ext>
            </a:extLst>
          </p:cNvPr>
          <p:cNvGrpSpPr/>
          <p:nvPr/>
        </p:nvGrpSpPr>
        <p:grpSpPr>
          <a:xfrm>
            <a:off x="1228624" y="997119"/>
            <a:ext cx="7390311" cy="4428956"/>
            <a:chOff x="871114" y="653359"/>
            <a:chExt cx="7390311" cy="442895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EB33E8-3781-EA9C-A91D-28882D316B0D}"/>
                </a:ext>
              </a:extLst>
            </p:cNvPr>
            <p:cNvSpPr/>
            <p:nvPr/>
          </p:nvSpPr>
          <p:spPr>
            <a:xfrm>
              <a:off x="871114" y="653359"/>
              <a:ext cx="7390311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Using Mapping (Object Lookup)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F9BA97-0316-5C74-5E83-2CAF16935EB1}"/>
                </a:ext>
              </a:extLst>
            </p:cNvPr>
            <p:cNvSpPr txBox="1"/>
            <p:nvPr/>
          </p:nvSpPr>
          <p:spPr>
            <a:xfrm>
              <a:off x="871114" y="1395630"/>
              <a:ext cx="739031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/>
                <a:t>For even more elegant and scalable conditional rendering —you can use object maps to store your UI patterns.</a:t>
              </a:r>
              <a:endParaRPr lang="en-IN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AC8643-54E7-F718-07BF-3FCB17D18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66" t="26120" r="10212" b="16329"/>
            <a:stretch>
              <a:fillRect/>
            </a:stretch>
          </p:blipFill>
          <p:spPr>
            <a:xfrm>
              <a:off x="948775" y="2303189"/>
              <a:ext cx="6228921" cy="27791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4322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219D-9958-684D-0FA4-8FEB38862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2AA4E2E-C902-A71E-3C20-EF2A5916CDE2}"/>
              </a:ext>
            </a:extLst>
          </p:cNvPr>
          <p:cNvGrpSpPr/>
          <p:nvPr/>
        </p:nvGrpSpPr>
        <p:grpSpPr>
          <a:xfrm>
            <a:off x="1286175" y="1245821"/>
            <a:ext cx="7390311" cy="3960340"/>
            <a:chOff x="997417" y="1156443"/>
            <a:chExt cx="7390311" cy="396034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CEA7E03-D493-AB5D-EF75-7E96F77096AA}"/>
                </a:ext>
              </a:extLst>
            </p:cNvPr>
            <p:cNvSpPr/>
            <p:nvPr/>
          </p:nvSpPr>
          <p:spPr>
            <a:xfrm>
              <a:off x="997417" y="1156443"/>
              <a:ext cx="7390311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Common Beginner Mistakes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C5CC0D-3CE0-C70B-7F8B-437747975694}"/>
                </a:ext>
              </a:extLst>
            </p:cNvPr>
            <p:cNvSpPr txBox="1"/>
            <p:nvPr/>
          </p:nvSpPr>
          <p:spPr>
            <a:xfrm>
              <a:off x="997417" y="2100573"/>
              <a:ext cx="6359034" cy="30162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0"/>
                </a:spcAft>
              </a:pPr>
              <a:r>
                <a:rPr lang="en-US" dirty="0"/>
                <a:t>❌ Writing if inside JSX → use ternary or logical AND.</a:t>
              </a:r>
            </a:p>
            <a:p>
              <a:pPr>
                <a:spcAft>
                  <a:spcPts val="3000"/>
                </a:spcAft>
              </a:pPr>
              <a:r>
                <a:rPr lang="en-US" dirty="0"/>
                <a:t>❌ Nesting too many ternaries → makes code unreadable.</a:t>
              </a:r>
            </a:p>
            <a:p>
              <a:pPr>
                <a:spcAft>
                  <a:spcPts val="3000"/>
                </a:spcAft>
              </a:pPr>
              <a:r>
                <a:rPr lang="en-US" dirty="0"/>
                <a:t>❌ Forgetting to handle “else” case → empty UI.</a:t>
              </a:r>
            </a:p>
            <a:p>
              <a:pPr>
                <a:spcAft>
                  <a:spcPts val="3000"/>
                </a:spcAft>
              </a:pPr>
              <a:r>
                <a:rPr lang="en-US" dirty="0"/>
                <a:t>❌ Using == instead of === → unexpected behavior.</a:t>
              </a:r>
            </a:p>
            <a:p>
              <a:pPr>
                <a:spcAft>
                  <a:spcPts val="3000"/>
                </a:spcAft>
              </a:pPr>
              <a:r>
                <a:rPr lang="en-US" dirty="0"/>
                <a:t>❌ Forgetting return null → causes unnecessary rendering.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666109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6DBC4-A4C8-E245-1694-6A9C61C08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AD9D3A3-3E50-9B1C-1CB7-39E2F66A8736}"/>
              </a:ext>
            </a:extLst>
          </p:cNvPr>
          <p:cNvGrpSpPr/>
          <p:nvPr/>
        </p:nvGrpSpPr>
        <p:grpSpPr>
          <a:xfrm>
            <a:off x="1643685" y="1397075"/>
            <a:ext cx="7390311" cy="3298621"/>
            <a:chOff x="997417" y="1156443"/>
            <a:chExt cx="7390311" cy="329862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4FA4A03-5996-0190-B23A-71AE8EE19E84}"/>
                </a:ext>
              </a:extLst>
            </p:cNvPr>
            <p:cNvSpPr/>
            <p:nvPr/>
          </p:nvSpPr>
          <p:spPr>
            <a:xfrm>
              <a:off x="997417" y="1156443"/>
              <a:ext cx="7390311" cy="58477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2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Tips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D29E3B-BBF9-F73F-8A5B-FD18C812DED4}"/>
                </a:ext>
              </a:extLst>
            </p:cNvPr>
            <p:cNvSpPr txBox="1"/>
            <p:nvPr/>
          </p:nvSpPr>
          <p:spPr>
            <a:xfrm>
              <a:off x="997417" y="2100573"/>
              <a:ext cx="6359034" cy="23544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0"/>
                </a:spcAft>
              </a:pPr>
              <a:r>
                <a:rPr lang="en-US" dirty="0"/>
                <a:t>✅ Extract conditional logic into small functions.</a:t>
              </a:r>
            </a:p>
            <a:p>
              <a:pPr>
                <a:spcAft>
                  <a:spcPts val="3000"/>
                </a:spcAft>
              </a:pPr>
              <a:r>
                <a:rPr lang="en-US" dirty="0"/>
                <a:t>✅ Keep JSX clean — logic outside, UI inside.</a:t>
              </a:r>
            </a:p>
            <a:p>
              <a:pPr>
                <a:spcAft>
                  <a:spcPts val="3000"/>
                </a:spcAft>
              </a:pPr>
              <a:r>
                <a:rPr lang="en-US" dirty="0"/>
                <a:t>✅ Prefer readability over compactness.</a:t>
              </a:r>
            </a:p>
            <a:p>
              <a:pPr>
                <a:spcAft>
                  <a:spcPts val="3000"/>
                </a:spcAft>
              </a:pPr>
              <a:r>
                <a:rPr lang="en-US" dirty="0"/>
                <a:t>✅ For multiple conditions, use switch or mapping.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083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914</TotalTime>
  <Words>355</Words>
  <Application>Microsoft Office PowerPoint</Application>
  <PresentationFormat>Widescreen</PresentationFormat>
  <Paragraphs>53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Berlin Sans FB Demi</vt:lpstr>
      <vt:lpstr>Book Antiqua</vt:lpstr>
      <vt:lpstr>Calibri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215</cp:revision>
  <dcterms:created xsi:type="dcterms:W3CDTF">2025-07-03T20:58:50Z</dcterms:created>
  <dcterms:modified xsi:type="dcterms:W3CDTF">2025-10-11T19:46:27Z</dcterms:modified>
</cp:coreProperties>
</file>