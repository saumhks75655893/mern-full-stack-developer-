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86" r:id="rId2"/>
    <p:sldId id="291" r:id="rId3"/>
    <p:sldId id="290" r:id="rId4"/>
    <p:sldId id="294" r:id="rId5"/>
    <p:sldId id="295"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45D738-2C92-49C1-91A3-BF11DEA5A567}" type="datetimeFigureOut">
              <a:rPr lang="en-IN" smtClean="0"/>
              <a:t>15-09-2025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90429-7CA1-4C37-BC28-D28084C35DB0}" type="slidenum">
              <a:rPr lang="en-IN" smtClean="0"/>
              <a:t>‹#›</a:t>
            </a:fld>
            <a:endParaRPr lang="en-IN"/>
          </a:p>
        </p:txBody>
      </p:sp>
    </p:spTree>
    <p:extLst>
      <p:ext uri="{BB962C8B-B14F-4D97-AF65-F5344CB8AC3E}">
        <p14:creationId xmlns:p14="http://schemas.microsoft.com/office/powerpoint/2010/main" val="2938478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170C16-CB02-44E1-8AF7-8DA3690E2582}"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4191803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170C16-CB02-44E1-8AF7-8DA3690E2582}"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1487829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170C16-CB02-44E1-8AF7-8DA3690E2582}"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417394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170C16-CB02-44E1-8AF7-8DA3690E2582}" type="datetimeFigureOut">
              <a:rPr lang="en-IN" smtClean="0"/>
              <a:t>15-09-2025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737616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170C16-CB02-44E1-8AF7-8DA3690E2582}" type="datetimeFigureOut">
              <a:rPr lang="en-IN" smtClean="0"/>
              <a:t>15-09-2025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3683553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170C16-CB02-44E1-8AF7-8DA3690E2582}" type="datetimeFigureOut">
              <a:rPr lang="en-IN" smtClean="0"/>
              <a:t>15-09-2025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225630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170C16-CB02-44E1-8AF7-8DA3690E2582}" type="datetimeFigureOut">
              <a:rPr lang="en-IN" smtClean="0"/>
              <a:t>15-09-2025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3505632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170C16-CB02-44E1-8AF7-8DA3690E2582}" type="datetimeFigureOut">
              <a:rPr lang="en-IN" smtClean="0"/>
              <a:t>15-09-2025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671212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170C16-CB02-44E1-8AF7-8DA3690E2582}" type="datetimeFigureOut">
              <a:rPr lang="en-IN" smtClean="0"/>
              <a:t>15-09-2025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2506015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70C16-CB02-44E1-8AF7-8DA3690E2582}" type="datetimeFigureOut">
              <a:rPr lang="en-IN" smtClean="0"/>
              <a:t>15-09-2025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392359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70C16-CB02-44E1-8AF7-8DA3690E2582}" type="datetimeFigureOut">
              <a:rPr lang="en-IN" smtClean="0"/>
              <a:t>15-09-2025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3097185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70C16-CB02-44E1-8AF7-8DA3690E2582}" type="datetimeFigureOut">
              <a:rPr lang="en-IN" smtClean="0"/>
              <a:t>15-09-2025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705299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170C16-CB02-44E1-8AF7-8DA3690E2582}" type="datetimeFigureOut">
              <a:rPr lang="en-IN" smtClean="0"/>
              <a:t>15-09-2025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2068881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4170C16-CB02-44E1-8AF7-8DA3690E2582}" type="datetimeFigureOut">
              <a:rPr lang="en-IN" smtClean="0"/>
              <a:t>15-09-2025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27202172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4170C16-CB02-44E1-8AF7-8DA3690E2582}" type="datetimeFigureOut">
              <a:rPr lang="en-IN" smtClean="0"/>
              <a:t>15-09-2025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3417654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170C16-CB02-44E1-8AF7-8DA3690E2582}"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1269429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170C16-CB02-44E1-8AF7-8DA3690E2582}" type="datetimeFigureOut">
              <a:rPr lang="en-IN" smtClean="0"/>
              <a:t>15-09-2025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60AA61-56D5-4267-A2CA-7B717022D894}" type="slidenum">
              <a:rPr lang="en-IN" smtClean="0"/>
              <a:t>‹#›</a:t>
            </a:fld>
            <a:endParaRPr lang="en-IN"/>
          </a:p>
        </p:txBody>
      </p:sp>
    </p:spTree>
    <p:extLst>
      <p:ext uri="{BB962C8B-B14F-4D97-AF65-F5344CB8AC3E}">
        <p14:creationId xmlns:p14="http://schemas.microsoft.com/office/powerpoint/2010/main" val="3455919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4170C16-CB02-44E1-8AF7-8DA3690E2582}" type="datetimeFigureOut">
              <a:rPr lang="en-IN" smtClean="0"/>
              <a:t>15-09-2025</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C60AA61-56D5-4267-A2CA-7B717022D894}" type="slidenum">
              <a:rPr lang="en-IN" smtClean="0"/>
              <a:t>‹#›</a:t>
            </a:fld>
            <a:endParaRPr lang="en-IN"/>
          </a:p>
        </p:txBody>
      </p:sp>
    </p:spTree>
    <p:extLst>
      <p:ext uri="{BB962C8B-B14F-4D97-AF65-F5344CB8AC3E}">
        <p14:creationId xmlns:p14="http://schemas.microsoft.com/office/powerpoint/2010/main" val="30300178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9DA63-E499-86FF-4BC3-2FE563E3E6F8}"/>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50D484A0-4F85-4CCA-B04F-611C7CAE7649}"/>
              </a:ext>
            </a:extLst>
          </p:cNvPr>
          <p:cNvGrpSpPr/>
          <p:nvPr/>
        </p:nvGrpSpPr>
        <p:grpSpPr>
          <a:xfrm>
            <a:off x="484088" y="513945"/>
            <a:ext cx="11136140" cy="5830109"/>
            <a:chOff x="527930" y="266245"/>
            <a:chExt cx="11136140" cy="5830109"/>
          </a:xfrm>
        </p:grpSpPr>
        <p:grpSp>
          <p:nvGrpSpPr>
            <p:cNvPr id="5" name="Group 4">
              <a:extLst>
                <a:ext uri="{FF2B5EF4-FFF2-40B4-BE49-F238E27FC236}">
                  <a16:creationId xmlns:a16="http://schemas.microsoft.com/office/drawing/2014/main" id="{F5F8556E-F61F-428C-A191-62DED6F4F47A}"/>
                </a:ext>
              </a:extLst>
            </p:cNvPr>
            <p:cNvGrpSpPr/>
            <p:nvPr/>
          </p:nvGrpSpPr>
          <p:grpSpPr>
            <a:xfrm>
              <a:off x="527930" y="266245"/>
              <a:ext cx="10920987" cy="1833622"/>
              <a:chOff x="784677" y="378855"/>
              <a:chExt cx="10920987" cy="1833622"/>
            </a:xfrm>
          </p:grpSpPr>
          <p:sp>
            <p:nvSpPr>
              <p:cNvPr id="3" name="TextBox 2">
                <a:extLst>
                  <a:ext uri="{FF2B5EF4-FFF2-40B4-BE49-F238E27FC236}">
                    <a16:creationId xmlns:a16="http://schemas.microsoft.com/office/drawing/2014/main" id="{31983009-98F9-05C5-1E66-A4DE60117ADC}"/>
                  </a:ext>
                </a:extLst>
              </p:cNvPr>
              <p:cNvSpPr txBox="1"/>
              <p:nvPr/>
            </p:nvSpPr>
            <p:spPr>
              <a:xfrm>
                <a:off x="784677" y="378855"/>
                <a:ext cx="7895400" cy="523220"/>
              </a:xfrm>
              <a:prstGeom prst="rect">
                <a:avLst/>
              </a:prstGeom>
              <a:noFill/>
            </p:spPr>
            <p:txBody>
              <a:bodyPr wrap="square" rtlCol="0">
                <a:spAutoFit/>
              </a:bodyPr>
              <a:lstStyle/>
              <a:p>
                <a:pPr>
                  <a:spcAft>
                    <a:spcPts val="2400"/>
                  </a:spcAft>
                </a:pPr>
                <a:r>
                  <a:rPr lang="en-US" sz="2800" dirty="0">
                    <a:solidFill>
                      <a:srgbClr val="FFFF00"/>
                    </a:solidFill>
                    <a:latin typeface="Book Antiqua" panose="02040602050305030304" pitchFamily="18" charset="0"/>
                  </a:rPr>
                  <a:t>Q.1 What is JSX?</a:t>
                </a:r>
              </a:p>
            </p:txBody>
          </p:sp>
          <p:sp>
            <p:nvSpPr>
              <p:cNvPr id="4" name="TextBox 3">
                <a:extLst>
                  <a:ext uri="{FF2B5EF4-FFF2-40B4-BE49-F238E27FC236}">
                    <a16:creationId xmlns:a16="http://schemas.microsoft.com/office/drawing/2014/main" id="{4DC675C8-AEDE-49F3-B7C5-B5C99E2358F1}"/>
                  </a:ext>
                </a:extLst>
              </p:cNvPr>
              <p:cNvSpPr txBox="1"/>
              <p:nvPr/>
            </p:nvSpPr>
            <p:spPr>
              <a:xfrm>
                <a:off x="1450305" y="1012148"/>
                <a:ext cx="10255359" cy="1200329"/>
              </a:xfrm>
              <a:prstGeom prst="rect">
                <a:avLst/>
              </a:prstGeom>
              <a:noFill/>
            </p:spPr>
            <p:txBody>
              <a:bodyPr wrap="square">
                <a:spAutoFit/>
              </a:bodyPr>
              <a:lstStyle/>
              <a:p>
                <a:pPr>
                  <a:spcAft>
                    <a:spcPts val="2400"/>
                  </a:spcAft>
                </a:pPr>
                <a:r>
                  <a:rPr lang="en-US" sz="1800" dirty="0"/>
                  <a:t>JSX is a syntax extension for JavaScript used in React. It lets you write HTML-like code inside JavaScript. many websites claim that JSX stands for JavaScript XML but React official documentation refers to JSX as a "syntax extension for JavaScript" or "an XML-like extension to the JavaScript language.”</a:t>
                </a:r>
                <a:endParaRPr lang="en-US" sz="1800" dirty="0">
                  <a:latin typeface="Book Antiqua" panose="02040602050305030304" pitchFamily="18" charset="0"/>
                </a:endParaRPr>
              </a:p>
            </p:txBody>
          </p:sp>
        </p:grpSp>
        <p:grpSp>
          <p:nvGrpSpPr>
            <p:cNvPr id="17" name="Group 16">
              <a:extLst>
                <a:ext uri="{FF2B5EF4-FFF2-40B4-BE49-F238E27FC236}">
                  <a16:creationId xmlns:a16="http://schemas.microsoft.com/office/drawing/2014/main" id="{DBBE82CB-832E-4793-A01E-FDE907B472A4}"/>
                </a:ext>
              </a:extLst>
            </p:cNvPr>
            <p:cNvGrpSpPr/>
            <p:nvPr/>
          </p:nvGrpSpPr>
          <p:grpSpPr>
            <a:xfrm>
              <a:off x="527930" y="2351214"/>
              <a:ext cx="10194847" cy="2002199"/>
              <a:chOff x="482119" y="5322632"/>
              <a:chExt cx="10194847" cy="2002199"/>
            </a:xfrm>
          </p:grpSpPr>
          <p:sp>
            <p:nvSpPr>
              <p:cNvPr id="18" name="TextBox 17">
                <a:extLst>
                  <a:ext uri="{FF2B5EF4-FFF2-40B4-BE49-F238E27FC236}">
                    <a16:creationId xmlns:a16="http://schemas.microsoft.com/office/drawing/2014/main" id="{8B5153AF-6DD8-4C4F-908D-60C9D24A25D2}"/>
                  </a:ext>
                </a:extLst>
              </p:cNvPr>
              <p:cNvSpPr txBox="1"/>
              <p:nvPr/>
            </p:nvSpPr>
            <p:spPr>
              <a:xfrm>
                <a:off x="482119" y="5322632"/>
                <a:ext cx="8557372" cy="523220"/>
              </a:xfrm>
              <a:prstGeom prst="rect">
                <a:avLst/>
              </a:prstGeom>
              <a:noFill/>
            </p:spPr>
            <p:txBody>
              <a:bodyPr wrap="square">
                <a:spAutoFit/>
              </a:bodyPr>
              <a:lstStyle/>
              <a:p>
                <a:pPr>
                  <a:spcAft>
                    <a:spcPts val="2400"/>
                  </a:spcAft>
                </a:pPr>
                <a:r>
                  <a:rPr lang="en-US" sz="2800" dirty="0">
                    <a:solidFill>
                      <a:srgbClr val="FFFF00"/>
                    </a:solidFill>
                    <a:latin typeface="Book Antiqua" panose="02040602050305030304" pitchFamily="18" charset="0"/>
                  </a:rPr>
                  <a:t>Q.2 Transpilation v/s Compilation</a:t>
                </a:r>
              </a:p>
            </p:txBody>
          </p:sp>
          <p:sp>
            <p:nvSpPr>
              <p:cNvPr id="19" name="TextBox 18">
                <a:extLst>
                  <a:ext uri="{FF2B5EF4-FFF2-40B4-BE49-F238E27FC236}">
                    <a16:creationId xmlns:a16="http://schemas.microsoft.com/office/drawing/2014/main" id="{0309532C-9E61-4ACD-8F25-83F2837D27E0}"/>
                  </a:ext>
                </a:extLst>
              </p:cNvPr>
              <p:cNvSpPr txBox="1"/>
              <p:nvPr/>
            </p:nvSpPr>
            <p:spPr>
              <a:xfrm>
                <a:off x="1141023" y="6047558"/>
                <a:ext cx="9535943" cy="1277273"/>
              </a:xfrm>
              <a:prstGeom prst="rect">
                <a:avLst/>
              </a:prstGeom>
              <a:noFill/>
            </p:spPr>
            <p:txBody>
              <a:bodyPr wrap="square">
                <a:spAutoFit/>
              </a:bodyPr>
              <a:lstStyle/>
              <a:p>
                <a:pPr>
                  <a:spcAft>
                    <a:spcPts val="600"/>
                  </a:spcAft>
                </a:pPr>
                <a:r>
                  <a:rPr lang="en-US" sz="1800" dirty="0">
                    <a:latin typeface="Book Antiqua" panose="02040602050305030304" pitchFamily="18" charset="0"/>
                  </a:rPr>
                  <a:t>Transpilation: Converting code from one version of a language to another (like JSX to JS, or ES6 to ES5).</a:t>
                </a:r>
              </a:p>
              <a:p>
                <a:pPr>
                  <a:spcAft>
                    <a:spcPts val="600"/>
                  </a:spcAft>
                </a:pPr>
                <a:r>
                  <a:rPr lang="en-US" sz="1800" dirty="0">
                    <a:latin typeface="Book Antiqua" panose="02040602050305030304" pitchFamily="18" charset="0"/>
                  </a:rPr>
                  <a:t>Compilation: Converting human-readable code into optimized, often lower-level code (e.g., bundling, minifying).</a:t>
                </a:r>
              </a:p>
            </p:txBody>
          </p:sp>
        </p:grpSp>
        <p:grpSp>
          <p:nvGrpSpPr>
            <p:cNvPr id="12" name="Group 11">
              <a:extLst>
                <a:ext uri="{FF2B5EF4-FFF2-40B4-BE49-F238E27FC236}">
                  <a16:creationId xmlns:a16="http://schemas.microsoft.com/office/drawing/2014/main" id="{EA3954F7-A6A6-40C0-8A3A-63D7364051A0}"/>
                </a:ext>
              </a:extLst>
            </p:cNvPr>
            <p:cNvGrpSpPr/>
            <p:nvPr/>
          </p:nvGrpSpPr>
          <p:grpSpPr>
            <a:xfrm>
              <a:off x="527930" y="4758134"/>
              <a:ext cx="11136140" cy="1338220"/>
              <a:chOff x="482119" y="4399686"/>
              <a:chExt cx="11136140" cy="1338220"/>
            </a:xfrm>
          </p:grpSpPr>
          <p:sp>
            <p:nvSpPr>
              <p:cNvPr id="13" name="TextBox 12">
                <a:extLst>
                  <a:ext uri="{FF2B5EF4-FFF2-40B4-BE49-F238E27FC236}">
                    <a16:creationId xmlns:a16="http://schemas.microsoft.com/office/drawing/2014/main" id="{84A1EB33-05C5-4EF0-B336-85376592D476}"/>
                  </a:ext>
                </a:extLst>
              </p:cNvPr>
              <p:cNvSpPr txBox="1"/>
              <p:nvPr/>
            </p:nvSpPr>
            <p:spPr>
              <a:xfrm>
                <a:off x="482119" y="4399686"/>
                <a:ext cx="9522493" cy="523220"/>
              </a:xfrm>
              <a:prstGeom prst="rect">
                <a:avLst/>
              </a:prstGeom>
              <a:noFill/>
            </p:spPr>
            <p:txBody>
              <a:bodyPr wrap="square">
                <a:spAutoFit/>
              </a:bodyPr>
              <a:lstStyle/>
              <a:p>
                <a:pPr>
                  <a:spcAft>
                    <a:spcPts val="2400"/>
                  </a:spcAft>
                </a:pPr>
                <a:r>
                  <a:rPr lang="en-US" sz="2800" dirty="0">
                    <a:solidFill>
                      <a:srgbClr val="FFFF00"/>
                    </a:solidFill>
                    <a:latin typeface="Book Antiqua" panose="02040602050305030304" pitchFamily="18" charset="0"/>
                  </a:rPr>
                  <a:t>Q.3 What is Babel?</a:t>
                </a:r>
              </a:p>
            </p:txBody>
          </p:sp>
          <p:sp>
            <p:nvSpPr>
              <p:cNvPr id="14" name="TextBox 13">
                <a:extLst>
                  <a:ext uri="{FF2B5EF4-FFF2-40B4-BE49-F238E27FC236}">
                    <a16:creationId xmlns:a16="http://schemas.microsoft.com/office/drawing/2014/main" id="{22158086-563F-49E5-BE16-C3BD1DA909A1}"/>
                  </a:ext>
                </a:extLst>
              </p:cNvPr>
              <p:cNvSpPr txBox="1"/>
              <p:nvPr/>
            </p:nvSpPr>
            <p:spPr>
              <a:xfrm>
                <a:off x="1161194" y="5091575"/>
                <a:ext cx="10457065" cy="646331"/>
              </a:xfrm>
              <a:prstGeom prst="rect">
                <a:avLst/>
              </a:prstGeom>
              <a:noFill/>
            </p:spPr>
            <p:txBody>
              <a:bodyPr wrap="square">
                <a:spAutoFit/>
              </a:bodyPr>
              <a:lstStyle/>
              <a:p>
                <a:pPr>
                  <a:spcAft>
                    <a:spcPts val="2400"/>
                  </a:spcAft>
                </a:pPr>
                <a:r>
                  <a:rPr lang="en-US" sz="1800" dirty="0">
                    <a:latin typeface="Book Antiqua" panose="02040602050305030304" pitchFamily="18" charset="0"/>
                  </a:rPr>
                  <a:t>A JavaScript transpiler that transforms modern JS/JSX into a form that browsers can understand (usually older JavaScript).</a:t>
                </a:r>
              </a:p>
            </p:txBody>
          </p:sp>
        </p:grpSp>
      </p:grpSp>
    </p:spTree>
    <p:extLst>
      <p:ext uri="{BB962C8B-B14F-4D97-AF65-F5344CB8AC3E}">
        <p14:creationId xmlns:p14="http://schemas.microsoft.com/office/powerpoint/2010/main" val="889829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9DA63-E499-86FF-4BC3-2FE563E3E6F8}"/>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4F0E98D6-70E5-4AFD-B50C-5D0684A5C684}"/>
              </a:ext>
            </a:extLst>
          </p:cNvPr>
          <p:cNvSpPr txBox="1"/>
          <p:nvPr/>
        </p:nvSpPr>
        <p:spPr>
          <a:xfrm>
            <a:off x="549355" y="486113"/>
            <a:ext cx="8557372" cy="523220"/>
          </a:xfrm>
          <a:prstGeom prst="rect">
            <a:avLst/>
          </a:prstGeom>
          <a:noFill/>
        </p:spPr>
        <p:txBody>
          <a:bodyPr wrap="square">
            <a:spAutoFit/>
          </a:bodyPr>
          <a:lstStyle/>
          <a:p>
            <a:pPr>
              <a:spcAft>
                <a:spcPts val="2400"/>
              </a:spcAft>
            </a:pPr>
            <a:r>
              <a:rPr lang="en-US" sz="2800" dirty="0">
                <a:solidFill>
                  <a:srgbClr val="FFFF00"/>
                </a:solidFill>
                <a:latin typeface="Book Antiqua" panose="02040602050305030304" pitchFamily="18" charset="0"/>
              </a:rPr>
              <a:t>Q.4 What Happens with JSX behind the scene?</a:t>
            </a:r>
          </a:p>
        </p:txBody>
      </p:sp>
      <p:sp>
        <p:nvSpPr>
          <p:cNvPr id="6" name="TextBox 5">
            <a:extLst>
              <a:ext uri="{FF2B5EF4-FFF2-40B4-BE49-F238E27FC236}">
                <a16:creationId xmlns:a16="http://schemas.microsoft.com/office/drawing/2014/main" id="{F66FE8D0-993A-4551-931C-7AB5026D82EA}"/>
              </a:ext>
            </a:extLst>
          </p:cNvPr>
          <p:cNvSpPr txBox="1"/>
          <p:nvPr/>
        </p:nvSpPr>
        <p:spPr>
          <a:xfrm>
            <a:off x="1254885" y="1351091"/>
            <a:ext cx="9355660" cy="4924425"/>
          </a:xfrm>
          <a:prstGeom prst="rect">
            <a:avLst/>
          </a:prstGeom>
          <a:noFill/>
        </p:spPr>
        <p:txBody>
          <a:bodyPr wrap="square">
            <a:spAutoFit/>
          </a:bodyPr>
          <a:lstStyle/>
          <a:p>
            <a:pPr>
              <a:spcAft>
                <a:spcPts val="600"/>
              </a:spcAft>
            </a:pPr>
            <a:r>
              <a:rPr lang="en-US" dirty="0">
                <a:solidFill>
                  <a:srgbClr val="92D050"/>
                </a:solidFill>
                <a:latin typeface="Book Antiqua" panose="02040602050305030304" pitchFamily="18" charset="0"/>
              </a:rPr>
              <a:t>Babel </a:t>
            </a:r>
            <a:r>
              <a:rPr lang="en-US" dirty="0" err="1">
                <a:solidFill>
                  <a:srgbClr val="92D050"/>
                </a:solidFill>
                <a:latin typeface="Book Antiqua" panose="02040602050305030304" pitchFamily="18" charset="0"/>
              </a:rPr>
              <a:t>Transpiles</a:t>
            </a:r>
            <a:r>
              <a:rPr lang="en-US" dirty="0">
                <a:solidFill>
                  <a:srgbClr val="92D050"/>
                </a:solidFill>
                <a:latin typeface="Book Antiqua" panose="02040602050305030304" pitchFamily="18" charset="0"/>
              </a:rPr>
              <a:t> JSX → </a:t>
            </a:r>
            <a:r>
              <a:rPr lang="en-US" dirty="0" err="1">
                <a:solidFill>
                  <a:srgbClr val="92D050"/>
                </a:solidFill>
                <a:latin typeface="Book Antiqua" panose="02040602050305030304" pitchFamily="18" charset="0"/>
              </a:rPr>
              <a:t>React.createElement</a:t>
            </a:r>
            <a:r>
              <a:rPr lang="en-US" dirty="0">
                <a:solidFill>
                  <a:srgbClr val="92D050"/>
                </a:solidFill>
                <a:latin typeface="Book Antiqua" panose="02040602050305030304" pitchFamily="18" charset="0"/>
              </a:rPr>
              <a:t>:</a:t>
            </a:r>
          </a:p>
          <a:p>
            <a:pPr lvl="1">
              <a:spcAft>
                <a:spcPts val="600"/>
              </a:spcAft>
            </a:pPr>
            <a:r>
              <a:rPr lang="en-US" dirty="0">
                <a:latin typeface="Book Antiqua" panose="02040602050305030304" pitchFamily="18" charset="0"/>
              </a:rPr>
              <a:t>Babel plugin (@babel/preset-react) converts JSX syntax into pure JS. This is </a:t>
            </a:r>
            <a:r>
              <a:rPr lang="en-US" dirty="0" err="1">
                <a:latin typeface="Book Antiqua" panose="02040602050305030304" pitchFamily="18" charset="0"/>
              </a:rPr>
              <a:t>transpilation</a:t>
            </a:r>
            <a:r>
              <a:rPr lang="en-US" dirty="0">
                <a:latin typeface="Book Antiqua" panose="02040602050305030304" pitchFamily="18" charset="0"/>
              </a:rPr>
              <a:t> because JSX is just syntactic sugar for function calls, not a new language.</a:t>
            </a:r>
          </a:p>
          <a:p>
            <a:pPr>
              <a:spcBef>
                <a:spcPts val="1800"/>
              </a:spcBef>
              <a:spcAft>
                <a:spcPts val="600"/>
              </a:spcAft>
            </a:pPr>
            <a:r>
              <a:rPr lang="en-IN" dirty="0">
                <a:solidFill>
                  <a:srgbClr val="92D050"/>
                </a:solidFill>
              </a:rPr>
              <a:t>Babel </a:t>
            </a:r>
            <a:r>
              <a:rPr lang="en-IN" dirty="0" err="1">
                <a:solidFill>
                  <a:srgbClr val="92D050"/>
                </a:solidFill>
              </a:rPr>
              <a:t>Transpiles</a:t>
            </a:r>
            <a:r>
              <a:rPr lang="en-IN" dirty="0">
                <a:solidFill>
                  <a:srgbClr val="92D050"/>
                </a:solidFill>
              </a:rPr>
              <a:t> ES6+ → ES5</a:t>
            </a:r>
            <a:r>
              <a:rPr lang="en-US" dirty="0">
                <a:solidFill>
                  <a:srgbClr val="92D050"/>
                </a:solidFill>
                <a:latin typeface="Book Antiqua" panose="02040602050305030304" pitchFamily="18" charset="0"/>
              </a:rPr>
              <a:t>:</a:t>
            </a:r>
          </a:p>
          <a:p>
            <a:pPr lvl="1">
              <a:spcAft>
                <a:spcPts val="600"/>
              </a:spcAft>
            </a:pPr>
            <a:r>
              <a:rPr lang="en-US" dirty="0"/>
              <a:t>If you used modern JS features, Babel also converts that into older JavaScript for compatibility.</a:t>
            </a:r>
          </a:p>
          <a:p>
            <a:pPr>
              <a:spcBef>
                <a:spcPts val="1800"/>
              </a:spcBef>
              <a:spcAft>
                <a:spcPts val="600"/>
              </a:spcAft>
            </a:pPr>
            <a:r>
              <a:rPr lang="fr-FR" dirty="0" err="1">
                <a:solidFill>
                  <a:srgbClr val="92D050"/>
                </a:solidFill>
              </a:rPr>
              <a:t>Bundler</a:t>
            </a:r>
            <a:r>
              <a:rPr lang="fr-FR" dirty="0">
                <a:solidFill>
                  <a:srgbClr val="92D050"/>
                </a:solidFill>
              </a:rPr>
              <a:t> Compilation (</a:t>
            </a:r>
            <a:r>
              <a:rPr lang="fr-FR" dirty="0" err="1">
                <a:solidFill>
                  <a:srgbClr val="92D050"/>
                </a:solidFill>
              </a:rPr>
              <a:t>Webpack</a:t>
            </a:r>
            <a:r>
              <a:rPr lang="fr-FR" dirty="0">
                <a:solidFill>
                  <a:srgbClr val="92D050"/>
                </a:solidFill>
              </a:rPr>
              <a:t>, Vite, etc.)</a:t>
            </a:r>
          </a:p>
          <a:p>
            <a:pPr lvl="1">
              <a:spcAft>
                <a:spcPts val="600"/>
              </a:spcAft>
            </a:pPr>
            <a:r>
              <a:rPr lang="en-US" dirty="0">
                <a:latin typeface="Book Antiqua" panose="02040602050305030304" pitchFamily="18" charset="0"/>
              </a:rPr>
              <a:t>The </a:t>
            </a:r>
            <a:r>
              <a:rPr lang="en-US" dirty="0" err="1">
                <a:latin typeface="Book Antiqua" panose="02040602050305030304" pitchFamily="18" charset="0"/>
              </a:rPr>
              <a:t>transpiled</a:t>
            </a:r>
            <a:r>
              <a:rPr lang="en-US" dirty="0">
                <a:latin typeface="Book Antiqua" panose="02040602050305030304" pitchFamily="18" charset="0"/>
              </a:rPr>
              <a:t> files are bundled into a single/minified JS </a:t>
            </a:r>
            <a:r>
              <a:rPr lang="en-US" dirty="0" err="1">
                <a:latin typeface="Book Antiqua" panose="02040602050305030304" pitchFamily="18" charset="0"/>
              </a:rPr>
              <a:t>file.This</a:t>
            </a:r>
            <a:r>
              <a:rPr lang="en-US" dirty="0">
                <a:latin typeface="Book Antiqua" panose="02040602050305030304" pitchFamily="18" charset="0"/>
              </a:rPr>
              <a:t> step is closer to compilation since your project is being turned into something executable by the browser.</a:t>
            </a:r>
          </a:p>
          <a:p>
            <a:pPr>
              <a:spcBef>
                <a:spcPts val="1800"/>
              </a:spcBef>
              <a:spcAft>
                <a:spcPts val="600"/>
              </a:spcAft>
            </a:pPr>
            <a:r>
              <a:rPr lang="en-US" dirty="0">
                <a:solidFill>
                  <a:srgbClr val="92D050"/>
                </a:solidFill>
                <a:latin typeface="Book Antiqua" panose="02040602050305030304" pitchFamily="18" charset="0"/>
              </a:rPr>
              <a:t>Browser Execution</a:t>
            </a:r>
          </a:p>
          <a:p>
            <a:pPr lvl="1">
              <a:spcAft>
                <a:spcPts val="600"/>
              </a:spcAft>
            </a:pPr>
            <a:r>
              <a:rPr lang="en-US" dirty="0" err="1">
                <a:latin typeface="Book Antiqua" panose="02040602050305030304" pitchFamily="18" charset="0"/>
              </a:rPr>
              <a:t>React.createElement</a:t>
            </a:r>
            <a:r>
              <a:rPr lang="en-US" dirty="0">
                <a:latin typeface="Book Antiqua" panose="02040602050305030304" pitchFamily="18" charset="0"/>
              </a:rPr>
              <a:t> creates virtual DOM objects. React reconciler diffs them. React DOM updates the real DOM.</a:t>
            </a:r>
          </a:p>
        </p:txBody>
      </p:sp>
    </p:spTree>
    <p:extLst>
      <p:ext uri="{BB962C8B-B14F-4D97-AF65-F5344CB8AC3E}">
        <p14:creationId xmlns:p14="http://schemas.microsoft.com/office/powerpoint/2010/main" val="3344488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9DA63-E499-86FF-4BC3-2FE563E3E6F8}"/>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AB41FD7A-729D-414D-9220-D0AD89C2B2CB}"/>
              </a:ext>
            </a:extLst>
          </p:cNvPr>
          <p:cNvGrpSpPr/>
          <p:nvPr/>
        </p:nvGrpSpPr>
        <p:grpSpPr>
          <a:xfrm>
            <a:off x="967326" y="820690"/>
            <a:ext cx="7655314" cy="1936541"/>
            <a:chOff x="1246640" y="1168585"/>
            <a:chExt cx="7655314" cy="1936541"/>
          </a:xfrm>
        </p:grpSpPr>
        <p:pic>
          <p:nvPicPr>
            <p:cNvPr id="6" name="Picture 5">
              <a:extLst>
                <a:ext uri="{FF2B5EF4-FFF2-40B4-BE49-F238E27FC236}">
                  <a16:creationId xmlns:a16="http://schemas.microsoft.com/office/drawing/2014/main" id="{2B6363A7-4001-47CB-82DD-B866C4F34881}"/>
                </a:ext>
              </a:extLst>
            </p:cNvPr>
            <p:cNvPicPr>
              <a:picLocks noChangeAspect="1"/>
            </p:cNvPicPr>
            <p:nvPr/>
          </p:nvPicPr>
          <p:blipFill rotWithShape="1">
            <a:blip r:embed="rId2">
              <a:extLst>
                <a:ext uri="{28A0092B-C50C-407E-A947-70E740481C1C}">
                  <a14:useLocalDpi xmlns:a14="http://schemas.microsoft.com/office/drawing/2010/main" val="0"/>
                </a:ext>
              </a:extLst>
            </a:blip>
            <a:srcRect l="17260" t="50000" r="12234" b="30321"/>
            <a:stretch/>
          </p:blipFill>
          <p:spPr>
            <a:xfrm>
              <a:off x="1259541" y="1168585"/>
              <a:ext cx="5100918" cy="542526"/>
            </a:xfrm>
            <a:prstGeom prst="rect">
              <a:avLst/>
            </a:prstGeom>
          </p:spPr>
        </p:pic>
        <p:pic>
          <p:nvPicPr>
            <p:cNvPr id="10" name="Picture 9">
              <a:extLst>
                <a:ext uri="{FF2B5EF4-FFF2-40B4-BE49-F238E27FC236}">
                  <a16:creationId xmlns:a16="http://schemas.microsoft.com/office/drawing/2014/main" id="{4E866351-70DD-4F48-AF52-697CFAD2F8FF}"/>
                </a:ext>
              </a:extLst>
            </p:cNvPr>
            <p:cNvPicPr>
              <a:picLocks noChangeAspect="1"/>
            </p:cNvPicPr>
            <p:nvPr/>
          </p:nvPicPr>
          <p:blipFill rotWithShape="1">
            <a:blip r:embed="rId3">
              <a:extLst>
                <a:ext uri="{28A0092B-C50C-407E-A947-70E740481C1C}">
                  <a14:useLocalDpi xmlns:a14="http://schemas.microsoft.com/office/drawing/2010/main" val="0"/>
                </a:ext>
              </a:extLst>
            </a:blip>
            <a:srcRect l="11520" t="43670" r="8275" b="25639"/>
            <a:stretch/>
          </p:blipFill>
          <p:spPr>
            <a:xfrm>
              <a:off x="1246640" y="2253637"/>
              <a:ext cx="7655314" cy="851489"/>
            </a:xfrm>
            <a:prstGeom prst="rect">
              <a:avLst/>
            </a:prstGeom>
          </p:spPr>
        </p:pic>
        <p:cxnSp>
          <p:nvCxnSpPr>
            <p:cNvPr id="11" name="Straight Arrow Connector 10">
              <a:extLst>
                <a:ext uri="{FF2B5EF4-FFF2-40B4-BE49-F238E27FC236}">
                  <a16:creationId xmlns:a16="http://schemas.microsoft.com/office/drawing/2014/main" id="{155A711B-E24F-47B8-A335-0F31BD8BD8E6}"/>
                </a:ext>
              </a:extLst>
            </p:cNvPr>
            <p:cNvCxnSpPr>
              <a:cxnSpLocks/>
              <a:stCxn id="6" idx="2"/>
            </p:cNvCxnSpPr>
            <p:nvPr/>
          </p:nvCxnSpPr>
          <p:spPr>
            <a:xfrm>
              <a:off x="3810000" y="1711111"/>
              <a:ext cx="0" cy="542526"/>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01331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9DA63-E499-86FF-4BC3-2FE563E3E6F8}"/>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6399080-FC47-4D1D-A3CD-6A2B5712A638}"/>
              </a:ext>
            </a:extLst>
          </p:cNvPr>
          <p:cNvGrpSpPr/>
          <p:nvPr/>
        </p:nvGrpSpPr>
        <p:grpSpPr>
          <a:xfrm>
            <a:off x="408161" y="670100"/>
            <a:ext cx="11129417" cy="2246769"/>
            <a:chOff x="340925" y="1658459"/>
            <a:chExt cx="11129417" cy="2246769"/>
          </a:xfrm>
        </p:grpSpPr>
        <p:grpSp>
          <p:nvGrpSpPr>
            <p:cNvPr id="7" name="Group 6">
              <a:extLst>
                <a:ext uri="{FF2B5EF4-FFF2-40B4-BE49-F238E27FC236}">
                  <a16:creationId xmlns:a16="http://schemas.microsoft.com/office/drawing/2014/main" id="{71C5F201-37B9-4A8A-8050-F537E12A6CB9}"/>
                </a:ext>
              </a:extLst>
            </p:cNvPr>
            <p:cNvGrpSpPr/>
            <p:nvPr/>
          </p:nvGrpSpPr>
          <p:grpSpPr>
            <a:xfrm>
              <a:off x="340925" y="1658459"/>
              <a:ext cx="11129417" cy="1358391"/>
              <a:chOff x="482119" y="4399686"/>
              <a:chExt cx="11129417" cy="1358391"/>
            </a:xfrm>
          </p:grpSpPr>
          <p:sp>
            <p:nvSpPr>
              <p:cNvPr id="8" name="TextBox 7">
                <a:extLst>
                  <a:ext uri="{FF2B5EF4-FFF2-40B4-BE49-F238E27FC236}">
                    <a16:creationId xmlns:a16="http://schemas.microsoft.com/office/drawing/2014/main" id="{94A7D065-CC18-4BCC-863F-75378DE5B085}"/>
                  </a:ext>
                </a:extLst>
              </p:cNvPr>
              <p:cNvSpPr txBox="1"/>
              <p:nvPr/>
            </p:nvSpPr>
            <p:spPr>
              <a:xfrm>
                <a:off x="482119" y="4399686"/>
                <a:ext cx="9522493" cy="523220"/>
              </a:xfrm>
              <a:prstGeom prst="rect">
                <a:avLst/>
              </a:prstGeom>
              <a:noFill/>
            </p:spPr>
            <p:txBody>
              <a:bodyPr wrap="square">
                <a:spAutoFit/>
              </a:bodyPr>
              <a:lstStyle/>
              <a:p>
                <a:pPr>
                  <a:spcAft>
                    <a:spcPts val="2400"/>
                  </a:spcAft>
                </a:pPr>
                <a:r>
                  <a:rPr lang="en-US" sz="2800" dirty="0">
                    <a:solidFill>
                      <a:srgbClr val="FFFF00"/>
                    </a:solidFill>
                    <a:latin typeface="Book Antiqua" panose="02040602050305030304" pitchFamily="18" charset="0"/>
                  </a:rPr>
                  <a:t>Q.5 Why we use double curly braces in style attribute?</a:t>
                </a:r>
              </a:p>
            </p:txBody>
          </p:sp>
          <p:sp>
            <p:nvSpPr>
              <p:cNvPr id="9" name="TextBox 8">
                <a:extLst>
                  <a:ext uri="{FF2B5EF4-FFF2-40B4-BE49-F238E27FC236}">
                    <a16:creationId xmlns:a16="http://schemas.microsoft.com/office/drawing/2014/main" id="{C3CA9EE3-406C-46E7-968C-827BC215BEA8}"/>
                  </a:ext>
                </a:extLst>
              </p:cNvPr>
              <p:cNvSpPr txBox="1"/>
              <p:nvPr/>
            </p:nvSpPr>
            <p:spPr>
              <a:xfrm>
                <a:off x="1154471" y="5111746"/>
                <a:ext cx="10457065" cy="646331"/>
              </a:xfrm>
              <a:prstGeom prst="rect">
                <a:avLst/>
              </a:prstGeom>
              <a:noFill/>
            </p:spPr>
            <p:txBody>
              <a:bodyPr wrap="square">
                <a:spAutoFit/>
              </a:bodyPr>
              <a:lstStyle/>
              <a:p>
                <a:pPr>
                  <a:spcAft>
                    <a:spcPts val="2400"/>
                  </a:spcAft>
                </a:pPr>
                <a:r>
                  <a:rPr lang="en-US" sz="1800" dirty="0">
                    <a:latin typeface="Book Antiqua" panose="02040602050305030304" pitchFamily="18" charset="0"/>
                  </a:rPr>
                  <a:t>Since JSX inline style is an object and not a string. The first pair indicates you are embedding a JavaScript expression inside JSX. The second pair is the object itself:</a:t>
                </a:r>
              </a:p>
            </p:txBody>
          </p:sp>
        </p:grpSp>
        <p:pic>
          <p:nvPicPr>
            <p:cNvPr id="3" name="Picture 2">
              <a:extLst>
                <a:ext uri="{FF2B5EF4-FFF2-40B4-BE49-F238E27FC236}">
                  <a16:creationId xmlns:a16="http://schemas.microsoft.com/office/drawing/2014/main" id="{21213E29-E68D-4A61-AEE0-5A5100579D2D}"/>
                </a:ext>
              </a:extLst>
            </p:cNvPr>
            <p:cNvPicPr>
              <a:picLocks noChangeAspect="1"/>
            </p:cNvPicPr>
            <p:nvPr/>
          </p:nvPicPr>
          <p:blipFill rotWithShape="1">
            <a:blip r:embed="rId2">
              <a:extLst>
                <a:ext uri="{28A0092B-C50C-407E-A947-70E740481C1C}">
                  <a14:useLocalDpi xmlns:a14="http://schemas.microsoft.com/office/drawing/2010/main" val="0"/>
                </a:ext>
              </a:extLst>
            </a:blip>
            <a:srcRect l="22526" t="50000" r="15813" b="29437"/>
            <a:stretch/>
          </p:blipFill>
          <p:spPr>
            <a:xfrm>
              <a:off x="1061330" y="3258897"/>
              <a:ext cx="3993776" cy="646331"/>
            </a:xfrm>
            <a:prstGeom prst="rect">
              <a:avLst/>
            </a:prstGeom>
          </p:spPr>
        </p:pic>
      </p:grpSp>
      <p:grpSp>
        <p:nvGrpSpPr>
          <p:cNvPr id="10" name="Group 9">
            <a:extLst>
              <a:ext uri="{FF2B5EF4-FFF2-40B4-BE49-F238E27FC236}">
                <a16:creationId xmlns:a16="http://schemas.microsoft.com/office/drawing/2014/main" id="{2044CE42-E2D3-49BF-84AB-E00A3D7E3381}"/>
              </a:ext>
            </a:extLst>
          </p:cNvPr>
          <p:cNvGrpSpPr/>
          <p:nvPr/>
        </p:nvGrpSpPr>
        <p:grpSpPr>
          <a:xfrm>
            <a:off x="408161" y="3526447"/>
            <a:ext cx="11115969" cy="2356142"/>
            <a:chOff x="482119" y="4399686"/>
            <a:chExt cx="11115969" cy="2356142"/>
          </a:xfrm>
        </p:grpSpPr>
        <p:sp>
          <p:nvSpPr>
            <p:cNvPr id="11" name="TextBox 10">
              <a:extLst>
                <a:ext uri="{FF2B5EF4-FFF2-40B4-BE49-F238E27FC236}">
                  <a16:creationId xmlns:a16="http://schemas.microsoft.com/office/drawing/2014/main" id="{0843CE12-DB59-428A-9911-54C455B01CC7}"/>
                </a:ext>
              </a:extLst>
            </p:cNvPr>
            <p:cNvSpPr txBox="1"/>
            <p:nvPr/>
          </p:nvSpPr>
          <p:spPr>
            <a:xfrm>
              <a:off x="482119" y="4399686"/>
              <a:ext cx="9522493" cy="954107"/>
            </a:xfrm>
            <a:prstGeom prst="rect">
              <a:avLst/>
            </a:prstGeom>
            <a:noFill/>
          </p:spPr>
          <p:txBody>
            <a:bodyPr wrap="square">
              <a:spAutoFit/>
            </a:bodyPr>
            <a:lstStyle/>
            <a:p>
              <a:pPr>
                <a:spcAft>
                  <a:spcPts val="2400"/>
                </a:spcAft>
              </a:pPr>
              <a:r>
                <a:rPr lang="en-US" sz="2800" dirty="0">
                  <a:solidFill>
                    <a:srgbClr val="FFFF00"/>
                  </a:solidFill>
                  <a:latin typeface="Book Antiqua" panose="02040602050305030304" pitchFamily="18" charset="0"/>
                </a:rPr>
                <a:t>Q.6 Why we need to use className, </a:t>
              </a:r>
              <a:r>
                <a:rPr lang="en-US" sz="2800" dirty="0" err="1">
                  <a:solidFill>
                    <a:srgbClr val="FFFF00"/>
                  </a:solidFill>
                  <a:latin typeface="Book Antiqua" panose="02040602050305030304" pitchFamily="18" charset="0"/>
                </a:rPr>
                <a:t>htmlFor</a:t>
              </a:r>
              <a:r>
                <a:rPr lang="en-US" sz="2800" dirty="0">
                  <a:solidFill>
                    <a:srgbClr val="FFFF00"/>
                  </a:solidFill>
                  <a:latin typeface="Book Antiqua" panose="02040602050305030304" pitchFamily="18" charset="0"/>
                </a:rPr>
                <a:t> instead of 		  class and for in </a:t>
              </a:r>
              <a:r>
                <a:rPr lang="en-US" sz="2800" dirty="0" err="1">
                  <a:solidFill>
                    <a:srgbClr val="FFFF00"/>
                  </a:solidFill>
                  <a:latin typeface="Book Antiqua" panose="02040602050305030304" pitchFamily="18" charset="0"/>
                </a:rPr>
                <a:t>jsx</a:t>
              </a:r>
              <a:r>
                <a:rPr lang="en-US" sz="2800" dirty="0">
                  <a:solidFill>
                    <a:srgbClr val="FFFF00"/>
                  </a:solidFill>
                  <a:latin typeface="Book Antiqua" panose="02040602050305030304" pitchFamily="18" charset="0"/>
                </a:rPr>
                <a:t>?</a:t>
              </a:r>
            </a:p>
          </p:txBody>
        </p:sp>
        <p:sp>
          <p:nvSpPr>
            <p:cNvPr id="12" name="TextBox 11">
              <a:extLst>
                <a:ext uri="{FF2B5EF4-FFF2-40B4-BE49-F238E27FC236}">
                  <a16:creationId xmlns:a16="http://schemas.microsoft.com/office/drawing/2014/main" id="{A8A789CD-B2EB-46AE-BEAA-7F7AC98ECAC6}"/>
                </a:ext>
              </a:extLst>
            </p:cNvPr>
            <p:cNvSpPr txBox="1"/>
            <p:nvPr/>
          </p:nvSpPr>
          <p:spPr>
            <a:xfrm>
              <a:off x="1141023" y="5555499"/>
              <a:ext cx="10457065" cy="1200329"/>
            </a:xfrm>
            <a:prstGeom prst="rect">
              <a:avLst/>
            </a:prstGeom>
            <a:noFill/>
          </p:spPr>
          <p:txBody>
            <a:bodyPr wrap="square">
              <a:spAutoFit/>
            </a:bodyPr>
            <a:lstStyle/>
            <a:p>
              <a:pPr>
                <a:spcAft>
                  <a:spcPts val="2400"/>
                </a:spcAft>
              </a:pPr>
              <a:r>
                <a:rPr lang="en-US" sz="1800" dirty="0">
                  <a:latin typeface="Book Antiqua" panose="02040602050305030304" pitchFamily="18" charset="0"/>
                </a:rPr>
                <a:t>Since, JSX is ultimately compiled into JavaScript, and we all know that “class” and “for” are reserved keywords in JavaScript. So It would create naming conflicts and leads to errors when the JSX is compiled into JavaScript. That is why className &amp; </a:t>
              </a:r>
              <a:r>
                <a:rPr lang="en-US" sz="1800" dirty="0" err="1">
                  <a:latin typeface="Book Antiqua" panose="02040602050305030304" pitchFamily="18" charset="0"/>
                </a:rPr>
                <a:t>htmlFor</a:t>
              </a:r>
              <a:r>
                <a:rPr lang="en-US" sz="1800" dirty="0">
                  <a:latin typeface="Book Antiqua" panose="02040602050305030304" pitchFamily="18" charset="0"/>
                </a:rPr>
                <a:t> is used as an alternative to avoid these conflicts.</a:t>
              </a:r>
            </a:p>
          </p:txBody>
        </p:sp>
      </p:grpSp>
    </p:spTree>
    <p:extLst>
      <p:ext uri="{BB962C8B-B14F-4D97-AF65-F5344CB8AC3E}">
        <p14:creationId xmlns:p14="http://schemas.microsoft.com/office/powerpoint/2010/main" val="3239472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9DA63-E499-86FF-4BC3-2FE563E3E6F8}"/>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5792EF35-2E05-4F20-AB36-8F4F41BD64D0}"/>
              </a:ext>
            </a:extLst>
          </p:cNvPr>
          <p:cNvGrpSpPr/>
          <p:nvPr/>
        </p:nvGrpSpPr>
        <p:grpSpPr>
          <a:xfrm>
            <a:off x="441002" y="619962"/>
            <a:ext cx="11309996" cy="5357463"/>
            <a:chOff x="538015" y="652619"/>
            <a:chExt cx="11309996" cy="5357463"/>
          </a:xfrm>
        </p:grpSpPr>
        <p:grpSp>
          <p:nvGrpSpPr>
            <p:cNvPr id="4" name="Group 3">
              <a:extLst>
                <a:ext uri="{FF2B5EF4-FFF2-40B4-BE49-F238E27FC236}">
                  <a16:creationId xmlns:a16="http://schemas.microsoft.com/office/drawing/2014/main" id="{95D4FEFC-0B91-4AA9-9CE8-3F72EFDE35AF}"/>
                </a:ext>
              </a:extLst>
            </p:cNvPr>
            <p:cNvGrpSpPr/>
            <p:nvPr/>
          </p:nvGrpSpPr>
          <p:grpSpPr>
            <a:xfrm>
              <a:off x="538015" y="652619"/>
              <a:ext cx="11120833" cy="2959630"/>
              <a:chOff x="538015" y="652619"/>
              <a:chExt cx="11120833" cy="2959630"/>
            </a:xfrm>
          </p:grpSpPr>
          <p:sp>
            <p:nvSpPr>
              <p:cNvPr id="8" name="TextBox 7">
                <a:extLst>
                  <a:ext uri="{FF2B5EF4-FFF2-40B4-BE49-F238E27FC236}">
                    <a16:creationId xmlns:a16="http://schemas.microsoft.com/office/drawing/2014/main" id="{94A7D065-CC18-4BCC-863F-75378DE5B085}"/>
                  </a:ext>
                </a:extLst>
              </p:cNvPr>
              <p:cNvSpPr txBox="1"/>
              <p:nvPr/>
            </p:nvSpPr>
            <p:spPr>
              <a:xfrm>
                <a:off x="538015" y="652619"/>
                <a:ext cx="9522493" cy="523220"/>
              </a:xfrm>
              <a:prstGeom prst="rect">
                <a:avLst/>
              </a:prstGeom>
              <a:noFill/>
            </p:spPr>
            <p:txBody>
              <a:bodyPr wrap="square">
                <a:spAutoFit/>
              </a:bodyPr>
              <a:lstStyle/>
              <a:p>
                <a:pPr>
                  <a:spcAft>
                    <a:spcPts val="2400"/>
                  </a:spcAft>
                </a:pPr>
                <a:r>
                  <a:rPr lang="en-US" sz="2800" dirty="0">
                    <a:solidFill>
                      <a:srgbClr val="FFFF00"/>
                    </a:solidFill>
                    <a:latin typeface="Book Antiqua" panose="02040602050305030304" pitchFamily="18" charset="0"/>
                  </a:rPr>
                  <a:t>Q.7 className is attribute or props in JSX?</a:t>
                </a:r>
              </a:p>
            </p:txBody>
          </p:sp>
          <p:sp>
            <p:nvSpPr>
              <p:cNvPr id="9" name="TextBox 8">
                <a:extLst>
                  <a:ext uri="{FF2B5EF4-FFF2-40B4-BE49-F238E27FC236}">
                    <a16:creationId xmlns:a16="http://schemas.microsoft.com/office/drawing/2014/main" id="{C3CA9EE3-406C-46E7-968C-827BC215BEA8}"/>
                  </a:ext>
                </a:extLst>
              </p:cNvPr>
              <p:cNvSpPr txBox="1"/>
              <p:nvPr/>
            </p:nvSpPr>
            <p:spPr>
              <a:xfrm>
                <a:off x="1201783" y="1377762"/>
                <a:ext cx="10457065" cy="646331"/>
              </a:xfrm>
              <a:prstGeom prst="rect">
                <a:avLst/>
              </a:prstGeom>
              <a:noFill/>
            </p:spPr>
            <p:txBody>
              <a:bodyPr wrap="square">
                <a:spAutoFit/>
              </a:bodyPr>
              <a:lstStyle/>
              <a:p>
                <a:pPr>
                  <a:spcAft>
                    <a:spcPts val="2400"/>
                  </a:spcAft>
                </a:pPr>
                <a:r>
                  <a:rPr lang="en-US" sz="1800" dirty="0">
                    <a:latin typeface="Book Antiqua" panose="02040602050305030304" pitchFamily="18" charset="0"/>
                  </a:rPr>
                  <a:t>className looks like an HTML attribute because we write it inside a tag. But under the hood, JSX is just JavaScript. When Babel </a:t>
                </a:r>
                <a:r>
                  <a:rPr lang="en-US" sz="1800" dirty="0" err="1">
                    <a:latin typeface="Book Antiqua" panose="02040602050305030304" pitchFamily="18" charset="0"/>
                  </a:rPr>
                  <a:t>transpiles</a:t>
                </a:r>
                <a:r>
                  <a:rPr lang="en-US" sz="1800" dirty="0">
                    <a:latin typeface="Book Antiqua" panose="02040602050305030304" pitchFamily="18" charset="0"/>
                  </a:rPr>
                  <a:t> this, it becomes:</a:t>
                </a:r>
              </a:p>
            </p:txBody>
          </p:sp>
          <p:pic>
            <p:nvPicPr>
              <p:cNvPr id="3" name="Picture 2">
                <a:extLst>
                  <a:ext uri="{FF2B5EF4-FFF2-40B4-BE49-F238E27FC236}">
                    <a16:creationId xmlns:a16="http://schemas.microsoft.com/office/drawing/2014/main" id="{17C93013-BEAE-4677-9C32-4C0DC2938BF9}"/>
                  </a:ext>
                </a:extLst>
              </p:cNvPr>
              <p:cNvPicPr>
                <a:picLocks noChangeAspect="1"/>
              </p:cNvPicPr>
              <p:nvPr/>
            </p:nvPicPr>
            <p:blipFill rotWithShape="1">
              <a:blip r:embed="rId2">
                <a:extLst>
                  <a:ext uri="{28A0092B-C50C-407E-A947-70E740481C1C}">
                    <a14:useLocalDpi xmlns:a14="http://schemas.microsoft.com/office/drawing/2010/main" val="0"/>
                  </a:ext>
                </a:extLst>
              </a:blip>
              <a:srcRect l="12562" t="50000" r="9640" b="29437"/>
              <a:stretch/>
            </p:blipFill>
            <p:spPr>
              <a:xfrm>
                <a:off x="1286692" y="2226016"/>
                <a:ext cx="7426235" cy="537979"/>
              </a:xfrm>
              <a:prstGeom prst="rect">
                <a:avLst/>
              </a:prstGeom>
            </p:spPr>
          </p:pic>
          <p:sp>
            <p:nvSpPr>
              <p:cNvPr id="10" name="TextBox 9">
                <a:extLst>
                  <a:ext uri="{FF2B5EF4-FFF2-40B4-BE49-F238E27FC236}">
                    <a16:creationId xmlns:a16="http://schemas.microsoft.com/office/drawing/2014/main" id="{B54794DF-6B8F-4502-8C58-AF1028A6E87D}"/>
                  </a:ext>
                </a:extLst>
              </p:cNvPr>
              <p:cNvSpPr txBox="1"/>
              <p:nvPr/>
            </p:nvSpPr>
            <p:spPr>
              <a:xfrm>
                <a:off x="1201784" y="2965918"/>
                <a:ext cx="10006148" cy="646331"/>
              </a:xfrm>
              <a:prstGeom prst="rect">
                <a:avLst/>
              </a:prstGeom>
              <a:noFill/>
            </p:spPr>
            <p:txBody>
              <a:bodyPr wrap="square">
                <a:spAutoFit/>
              </a:bodyPr>
              <a:lstStyle/>
              <a:p>
                <a:pPr>
                  <a:spcAft>
                    <a:spcPts val="2400"/>
                  </a:spcAft>
                </a:pPr>
                <a:r>
                  <a:rPr lang="en-US" sz="1800" dirty="0">
                    <a:latin typeface="Book Antiqua" panose="02040602050305030304" pitchFamily="18" charset="0"/>
                  </a:rPr>
                  <a:t>So, className in JSX is a prop, not a raw attribute. But React uses it to set the actual HTML attribute class on the DOM element.</a:t>
                </a:r>
              </a:p>
            </p:txBody>
          </p:sp>
        </p:grpSp>
        <p:grpSp>
          <p:nvGrpSpPr>
            <p:cNvPr id="11" name="Group 10">
              <a:extLst>
                <a:ext uri="{FF2B5EF4-FFF2-40B4-BE49-F238E27FC236}">
                  <a16:creationId xmlns:a16="http://schemas.microsoft.com/office/drawing/2014/main" id="{DAD46AEE-2D8E-4A5F-82E8-300B3BAA246D}"/>
                </a:ext>
              </a:extLst>
            </p:cNvPr>
            <p:cNvGrpSpPr/>
            <p:nvPr/>
          </p:nvGrpSpPr>
          <p:grpSpPr>
            <a:xfrm>
              <a:off x="538015" y="4173564"/>
              <a:ext cx="11309996" cy="1836518"/>
              <a:chOff x="368198" y="659656"/>
              <a:chExt cx="11309996" cy="1836518"/>
            </a:xfrm>
          </p:grpSpPr>
          <p:sp>
            <p:nvSpPr>
              <p:cNvPr id="12" name="TextBox 11">
                <a:extLst>
                  <a:ext uri="{FF2B5EF4-FFF2-40B4-BE49-F238E27FC236}">
                    <a16:creationId xmlns:a16="http://schemas.microsoft.com/office/drawing/2014/main" id="{DE31BA5B-3633-4E6A-88E0-651F197ABD7F}"/>
                  </a:ext>
                </a:extLst>
              </p:cNvPr>
              <p:cNvSpPr txBox="1"/>
              <p:nvPr/>
            </p:nvSpPr>
            <p:spPr>
              <a:xfrm>
                <a:off x="368198" y="659656"/>
                <a:ext cx="11309996" cy="1261884"/>
              </a:xfrm>
              <a:prstGeom prst="rect">
                <a:avLst/>
              </a:prstGeom>
              <a:noFill/>
            </p:spPr>
            <p:txBody>
              <a:bodyPr wrap="square">
                <a:spAutoFit/>
              </a:bodyPr>
              <a:lstStyle/>
              <a:p>
                <a:pPr>
                  <a:spcAft>
                    <a:spcPts val="2400"/>
                  </a:spcAft>
                </a:pPr>
                <a:r>
                  <a:rPr lang="en-US" sz="2800" dirty="0">
                    <a:solidFill>
                      <a:srgbClr val="FFFF00"/>
                    </a:solidFill>
                    <a:latin typeface="Book Antiqua" panose="02040602050305030304" pitchFamily="18" charset="0"/>
                  </a:rPr>
                  <a:t>Q.8 JSX doesn’t support loop like “for”, but we can use “map”. Why?</a:t>
                </a:r>
              </a:p>
              <a:p>
                <a:pPr>
                  <a:spcAft>
                    <a:spcPts val="2400"/>
                  </a:spcAft>
                </a:pPr>
                <a:endParaRPr lang="en-US" sz="2800" dirty="0">
                  <a:solidFill>
                    <a:srgbClr val="FFFF00"/>
                  </a:solidFill>
                  <a:latin typeface="Book Antiqua" panose="02040602050305030304" pitchFamily="18" charset="0"/>
                </a:endParaRPr>
              </a:p>
            </p:txBody>
          </p:sp>
          <p:sp>
            <p:nvSpPr>
              <p:cNvPr id="13" name="TextBox 12">
                <a:extLst>
                  <a:ext uri="{FF2B5EF4-FFF2-40B4-BE49-F238E27FC236}">
                    <a16:creationId xmlns:a16="http://schemas.microsoft.com/office/drawing/2014/main" id="{73D53AED-1CAC-4187-8EBA-687C91E0DB94}"/>
                  </a:ext>
                </a:extLst>
              </p:cNvPr>
              <p:cNvSpPr txBox="1"/>
              <p:nvPr/>
            </p:nvSpPr>
            <p:spPr>
              <a:xfrm>
                <a:off x="1020122" y="1542067"/>
                <a:ext cx="10006148" cy="954107"/>
              </a:xfrm>
              <a:prstGeom prst="rect">
                <a:avLst/>
              </a:prstGeom>
              <a:noFill/>
            </p:spPr>
            <p:txBody>
              <a:bodyPr wrap="square">
                <a:spAutoFit/>
              </a:bodyPr>
              <a:lstStyle/>
              <a:p>
                <a:pPr>
                  <a:spcAft>
                    <a:spcPts val="2400"/>
                  </a:spcAft>
                </a:pPr>
                <a:r>
                  <a:rPr lang="en-US" sz="1800" dirty="0">
                    <a:latin typeface="Book Antiqua" panose="02040602050305030304" pitchFamily="18" charset="0"/>
                  </a:rPr>
                  <a:t>“for” is a statement, produces no value → JSX can’t directly use it.</a:t>
                </a:r>
              </a:p>
              <a:p>
                <a:pPr>
                  <a:spcAft>
                    <a:spcPts val="2400"/>
                  </a:spcAft>
                </a:pPr>
                <a:r>
                  <a:rPr lang="en-US" dirty="0">
                    <a:latin typeface="Book Antiqua" panose="02040602050305030304" pitchFamily="18" charset="0"/>
                  </a:rPr>
                  <a:t>“</a:t>
                </a:r>
                <a:r>
                  <a:rPr lang="en-US" sz="1800" dirty="0">
                    <a:latin typeface="Book Antiqua" panose="02040602050305030304" pitchFamily="18" charset="0"/>
                  </a:rPr>
                  <a:t>map” is an expression, produces an array of elements → JSX can render it.</a:t>
                </a:r>
              </a:p>
            </p:txBody>
          </p:sp>
        </p:grpSp>
      </p:grpSp>
    </p:spTree>
    <p:extLst>
      <p:ext uri="{BB962C8B-B14F-4D97-AF65-F5344CB8AC3E}">
        <p14:creationId xmlns:p14="http://schemas.microsoft.com/office/powerpoint/2010/main" val="4319255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ilk Glass">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614</TotalTime>
  <Words>535</Words>
  <Application>Microsoft Office PowerPoint</Application>
  <PresentationFormat>Widescreen</PresentationFormat>
  <Paragraphs>26</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Book Antiqua</vt:lpstr>
      <vt:lpstr>Calibri</vt:lpstr>
      <vt:lpstr>Calisto MT</vt:lpstr>
      <vt:lpstr>Wingdings 2</vt:lpstr>
      <vt:lpstr>Slate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Kumar Lal</dc:creator>
  <cp:lastModifiedBy>Manas Kumar Lal</cp:lastModifiedBy>
  <cp:revision>115</cp:revision>
  <dcterms:created xsi:type="dcterms:W3CDTF">2025-07-03T20:58:50Z</dcterms:created>
  <dcterms:modified xsi:type="dcterms:W3CDTF">2025-09-15T17:21:01Z</dcterms:modified>
</cp:coreProperties>
</file>