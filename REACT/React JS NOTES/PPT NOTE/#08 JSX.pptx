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68" r:id="rId2"/>
    <p:sldId id="279" r:id="rId3"/>
    <p:sldId id="271" r:id="rId4"/>
    <p:sldId id="272" r:id="rId5"/>
    <p:sldId id="284" r:id="rId6"/>
    <p:sldId id="282" r:id="rId7"/>
    <p:sldId id="278" r:id="rId8"/>
    <p:sldId id="269" r:id="rId9"/>
    <p:sldId id="274" r:id="rId10"/>
    <p:sldId id="275" r:id="rId11"/>
    <p:sldId id="27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2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45D738-2C92-49C1-91A3-BF11DEA5A567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390429-7CA1-4C37-BC28-D28084C35D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8478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 4rth </a:t>
            </a:r>
            <a:r>
              <a:rPr lang="en-US" dirty="0" err="1"/>
              <a:t>wala</a:t>
            </a:r>
            <a:r>
              <a:rPr lang="en-US" dirty="0"/>
              <a:t> line </a:t>
            </a:r>
            <a:r>
              <a:rPr lang="en-US" dirty="0" err="1"/>
              <a:t>aap</a:t>
            </a:r>
            <a:r>
              <a:rPr lang="en-US" dirty="0"/>
              <a:t> interviewer ko </a:t>
            </a:r>
            <a:r>
              <a:rPr lang="en-US" dirty="0" err="1"/>
              <a:t>bol</a:t>
            </a:r>
            <a:r>
              <a:rPr lang="en-US" dirty="0"/>
              <a:t> doge </a:t>
            </a:r>
            <a:r>
              <a:rPr lang="en-US" dirty="0" err="1"/>
              <a:t>na</a:t>
            </a:r>
            <a:r>
              <a:rPr lang="en-US" dirty="0"/>
              <a:t> to interviewer </a:t>
            </a:r>
            <a:r>
              <a:rPr lang="en-US" dirty="0" err="1"/>
              <a:t>khus</a:t>
            </a:r>
            <a:r>
              <a:rPr lang="en-US" dirty="0"/>
              <a:t> ho </a:t>
            </a:r>
            <a:r>
              <a:rPr lang="en-US" dirty="0" err="1"/>
              <a:t>jaayega</a:t>
            </a:r>
            <a:r>
              <a:rPr lang="en-US" dirty="0"/>
              <a:t>, </a:t>
            </a:r>
            <a:r>
              <a:rPr lang="en-US" dirty="0" err="1"/>
              <a:t>aree</a:t>
            </a:r>
            <a:r>
              <a:rPr lang="en-US" dirty="0"/>
              <a:t>..! </a:t>
            </a:r>
            <a:r>
              <a:rPr lang="en-US" dirty="0" err="1"/>
              <a:t>Areee</a:t>
            </a:r>
            <a:r>
              <a:rPr lang="en-US" dirty="0"/>
              <a:t> </a:t>
            </a:r>
            <a:r>
              <a:rPr lang="en-US" dirty="0" err="1"/>
              <a:t>ruku</a:t>
            </a:r>
            <a:r>
              <a:rPr lang="en-US" dirty="0"/>
              <a:t> sun lo </a:t>
            </a:r>
            <a:r>
              <a:rPr lang="en-US" dirty="0" err="1"/>
              <a:t>pura</a:t>
            </a:r>
            <a:r>
              <a:rPr lang="en-US" dirty="0"/>
              <a:t> </a:t>
            </a:r>
            <a:r>
              <a:rPr lang="en-US" dirty="0" err="1"/>
              <a:t>pahle</a:t>
            </a:r>
            <a:r>
              <a:rPr lang="en-US" dirty="0"/>
              <a:t> siddha chair se </a:t>
            </a:r>
            <a:r>
              <a:rPr lang="en-US" dirty="0" err="1"/>
              <a:t>uth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interview dene jane </a:t>
            </a:r>
            <a:r>
              <a:rPr lang="en-US" dirty="0" err="1"/>
              <a:t>lagte</a:t>
            </a:r>
            <a:r>
              <a:rPr lang="en-US" dirty="0"/>
              <a:t> ho, </a:t>
            </a:r>
            <a:r>
              <a:rPr lang="en-US" dirty="0" err="1"/>
              <a:t>puri</a:t>
            </a:r>
            <a:r>
              <a:rPr lang="en-US" dirty="0"/>
              <a:t> </a:t>
            </a:r>
            <a:r>
              <a:rPr lang="en-US" dirty="0" err="1"/>
              <a:t>baat</a:t>
            </a:r>
            <a:r>
              <a:rPr lang="en-US" dirty="0"/>
              <a:t> to </a:t>
            </a:r>
            <a:r>
              <a:rPr lang="en-US" dirty="0" err="1"/>
              <a:t>suno</a:t>
            </a:r>
            <a:r>
              <a:rPr lang="en-US" dirty="0"/>
              <a:t> meri…!!!🙂🙂🙂🙂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90429-7CA1-4C37-BC28-D28084C35DB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67540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idea of how html and </a:t>
            </a:r>
            <a:r>
              <a:rPr lang="en-US" dirty="0" err="1"/>
              <a:t>js</a:t>
            </a:r>
            <a:r>
              <a:rPr lang="en-US" dirty="0"/>
              <a:t> work differently without react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90429-7CA1-4C37-BC28-D28084C35DB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801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idea of how html and </a:t>
            </a:r>
            <a:r>
              <a:rPr lang="en-US" dirty="0" err="1"/>
              <a:t>js</a:t>
            </a:r>
            <a:r>
              <a:rPr lang="en-US" dirty="0"/>
              <a:t> work differently without react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90429-7CA1-4C37-BC28-D28084C35DB0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998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idea of how html and </a:t>
            </a:r>
            <a:r>
              <a:rPr lang="en-US" dirty="0" err="1"/>
              <a:t>js</a:t>
            </a:r>
            <a:r>
              <a:rPr lang="en-US" dirty="0"/>
              <a:t> work differently without react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90429-7CA1-4C37-BC28-D28084C35DB0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3321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803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829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94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616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553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30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632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212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015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591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18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0529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881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2172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654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429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919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4170C16-CB02-44E1-8AF7-8DA3690E2582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0178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C99D6-3B2A-5829-5EC2-5DAED2A3C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90F3F73-2BA4-BC7A-B12B-5FDE0E9EFF0F}"/>
              </a:ext>
            </a:extLst>
          </p:cNvPr>
          <p:cNvGrpSpPr/>
          <p:nvPr/>
        </p:nvGrpSpPr>
        <p:grpSpPr>
          <a:xfrm>
            <a:off x="1037542" y="852346"/>
            <a:ext cx="8160247" cy="5002369"/>
            <a:chOff x="584538" y="140689"/>
            <a:chExt cx="8160247" cy="500236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62DEC93-1289-30B7-2353-6662BB190225}"/>
                </a:ext>
              </a:extLst>
            </p:cNvPr>
            <p:cNvSpPr/>
            <p:nvPr/>
          </p:nvSpPr>
          <p:spPr>
            <a:xfrm>
              <a:off x="584538" y="140689"/>
              <a:ext cx="6530955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5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JSX (JavaScript XML)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0280E1B-817D-031F-EFAC-56A99836E4A3}"/>
                </a:ext>
              </a:extLst>
            </p:cNvPr>
            <p:cNvSpPr txBox="1"/>
            <p:nvPr/>
          </p:nvSpPr>
          <p:spPr>
            <a:xfrm>
              <a:off x="584538" y="1511295"/>
              <a:ext cx="8160247" cy="36317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3600"/>
                </a:spcAft>
              </a:pPr>
              <a:r>
                <a:rPr lang="en-IN" sz="2800" dirty="0"/>
                <a:t>HTML inside JavaScript.</a:t>
              </a:r>
            </a:p>
            <a:p>
              <a:pPr>
                <a:spcAft>
                  <a:spcPts val="3600"/>
                </a:spcAft>
              </a:pPr>
              <a:r>
                <a:rPr lang="en-IN" sz="2800" dirty="0">
                  <a:latin typeface="Book Antiqua" panose="02040602050305030304" pitchFamily="18" charset="0"/>
                </a:rPr>
                <a:t>JavaScript inside HTML.</a:t>
              </a:r>
              <a:endParaRPr lang="en-US" sz="2800" dirty="0">
                <a:latin typeface="Book Antiqua" panose="02040602050305030304" pitchFamily="18" charset="0"/>
              </a:endParaRPr>
            </a:p>
            <a:p>
              <a:pPr>
                <a:spcAft>
                  <a:spcPts val="3600"/>
                </a:spcAft>
              </a:pPr>
              <a:r>
                <a:rPr lang="en-US" sz="2800" dirty="0">
                  <a:latin typeface="Book Antiqua" panose="02040602050305030304" pitchFamily="18" charset="0"/>
                </a:rPr>
                <a:t>React look like HTML but behave like JavaScript.</a:t>
              </a:r>
            </a:p>
            <a:p>
              <a:pPr>
                <a:spcAft>
                  <a:spcPts val="3600"/>
                </a:spcAft>
              </a:pPr>
              <a:r>
                <a:rPr lang="en-US" sz="2800" dirty="0">
                  <a:latin typeface="Book Antiqua" panose="02040602050305030304" pitchFamily="18" charset="0"/>
                </a:rPr>
                <a:t>JSX is not HTML — it’s syntactic sugar over </a:t>
              </a:r>
              <a:r>
                <a:rPr lang="en-US" sz="2800" dirty="0" err="1">
                  <a:latin typeface="Book Antiqua" panose="02040602050305030304" pitchFamily="18" charset="0"/>
                </a:rPr>
                <a:t>React.createElement</a:t>
              </a:r>
              <a:r>
                <a:rPr lang="en-US" sz="2800" dirty="0">
                  <a:latin typeface="Book Antiqua" panose="02040602050305030304" pitchFamily="18" charset="0"/>
                </a:rPr>
                <a:t>()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5594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248FD-4897-1770-CD8C-FD498044C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B739E8-26D8-400F-B9FC-5912E849FD39}"/>
              </a:ext>
            </a:extLst>
          </p:cNvPr>
          <p:cNvSpPr txBox="1"/>
          <p:nvPr/>
        </p:nvSpPr>
        <p:spPr>
          <a:xfrm>
            <a:off x="1654426" y="1880052"/>
            <a:ext cx="8160247" cy="2417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3600"/>
              </a:spcAft>
            </a:pPr>
            <a:r>
              <a:rPr lang="en-US" sz="2800" dirty="0"/>
              <a:t>JSX (JavaScript XML) is a syntax extension for JavaScript used in React.</a:t>
            </a:r>
          </a:p>
          <a:p>
            <a:pPr>
              <a:lnSpc>
                <a:spcPct val="150000"/>
              </a:lnSpc>
              <a:spcAft>
                <a:spcPts val="3600"/>
              </a:spcAft>
            </a:pPr>
            <a:r>
              <a:rPr lang="en-US" sz="2800" dirty="0"/>
              <a:t>It lets you write HTML-like code inside JavaScript.</a:t>
            </a:r>
          </a:p>
        </p:txBody>
      </p:sp>
    </p:spTree>
    <p:extLst>
      <p:ext uri="{BB962C8B-B14F-4D97-AF65-F5344CB8AC3E}">
        <p14:creationId xmlns:p14="http://schemas.microsoft.com/office/powerpoint/2010/main" val="3274581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C6AC3-4E2B-AD8D-E355-11C0BF1A0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47829178-CBFA-4CC7-8C9B-5BC2129A4F30}"/>
              </a:ext>
            </a:extLst>
          </p:cNvPr>
          <p:cNvGrpSpPr/>
          <p:nvPr/>
        </p:nvGrpSpPr>
        <p:grpSpPr>
          <a:xfrm>
            <a:off x="770906" y="460036"/>
            <a:ext cx="9515114" cy="5776021"/>
            <a:chOff x="770906" y="460036"/>
            <a:chExt cx="9515114" cy="5776021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E6A8354-3CD4-496E-AC23-E175660B2FD9}"/>
                </a:ext>
              </a:extLst>
            </p:cNvPr>
            <p:cNvGrpSpPr/>
            <p:nvPr/>
          </p:nvGrpSpPr>
          <p:grpSpPr>
            <a:xfrm>
              <a:off x="770906" y="460036"/>
              <a:ext cx="9515114" cy="5776021"/>
              <a:chOff x="569200" y="446589"/>
              <a:chExt cx="9515114" cy="5776021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6B412BE-87AC-FA5C-6123-B65DD1E49219}"/>
                  </a:ext>
                </a:extLst>
              </p:cNvPr>
              <p:cNvSpPr/>
              <p:nvPr/>
            </p:nvSpPr>
            <p:spPr>
              <a:xfrm>
                <a:off x="569200" y="446589"/>
                <a:ext cx="7596951" cy="92333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  <a:scene3d>
                  <a:camera prst="orthographicFront"/>
                  <a:lightRig rig="threePt" dir="t"/>
                </a:scene3d>
                <a:sp3d extrusionH="57150">
                  <a:bevelT w="57150" h="38100" prst="artDeco"/>
                </a:sp3d>
              </a:bodyPr>
              <a:lstStyle/>
              <a:p>
                <a:r>
                  <a:rPr lang="en-US" sz="5400" b="1" dirty="0">
                    <a:ln w="9525">
                      <a:solidFill>
                        <a:schemeClr val="bg1"/>
                      </a:solidFill>
                      <a:prstDash val="solid"/>
                    </a:ln>
                    <a:effectLst>
                      <a:outerShdw blurRad="12700" dist="38100" dir="2700000" algn="tl" rotWithShape="0">
                        <a:schemeClr val="bg1">
                          <a:lumMod val="50000"/>
                        </a:schemeClr>
                      </a:outerShdw>
                    </a:effectLst>
                    <a:latin typeface="Berlin Sans FB Demi" panose="020E0802020502020306" pitchFamily="34" charset="0"/>
                  </a:rPr>
                  <a:t>Embedding Expressions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202EE58-F79C-4AF7-9007-A71A71C5D2C6}"/>
                  </a:ext>
                </a:extLst>
              </p:cNvPr>
              <p:cNvSpPr txBox="1"/>
              <p:nvPr/>
            </p:nvSpPr>
            <p:spPr>
              <a:xfrm>
                <a:off x="569200" y="2852457"/>
                <a:ext cx="9515114" cy="33701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2400"/>
                  </a:spcAft>
                </a:pPr>
                <a:r>
                  <a:rPr lang="en-US" sz="2400" dirty="0"/>
                  <a:t>Valid Expressions:</a:t>
                </a:r>
              </a:p>
              <a:p>
                <a:pPr marL="457200" indent="-457200">
                  <a:spcAft>
                    <a:spcPts val="600"/>
                  </a:spcAft>
                  <a:buFont typeface="Wingdings" panose="05000000000000000000" pitchFamily="2" charset="2"/>
                  <a:buChar char="ü"/>
                </a:pPr>
                <a:r>
                  <a:rPr lang="en-US" sz="2400" dirty="0"/>
                  <a:t>Variables</a:t>
                </a:r>
              </a:p>
              <a:p>
                <a:pPr marL="457200" indent="-457200">
                  <a:spcAft>
                    <a:spcPts val="600"/>
                  </a:spcAft>
                  <a:buFont typeface="Wingdings" panose="05000000000000000000" pitchFamily="2" charset="2"/>
                  <a:buChar char="ü"/>
                </a:pPr>
                <a:r>
                  <a:rPr lang="en-US" sz="2400" dirty="0"/>
                  <a:t>Function calls</a:t>
                </a:r>
              </a:p>
              <a:p>
                <a:pPr marL="457200" indent="-457200">
                  <a:spcAft>
                    <a:spcPts val="600"/>
                  </a:spcAft>
                  <a:buFont typeface="Wingdings" panose="05000000000000000000" pitchFamily="2" charset="2"/>
                  <a:buChar char="ü"/>
                </a:pPr>
                <a:r>
                  <a:rPr lang="en-US" sz="2400" dirty="0"/>
                  <a:t>Ternary expressions</a:t>
                </a:r>
              </a:p>
              <a:p>
                <a:pPr marL="457200" indent="-457200">
                  <a:spcAft>
                    <a:spcPts val="600"/>
                  </a:spcAft>
                  <a:buFont typeface="Wingdings" panose="05000000000000000000" pitchFamily="2" charset="2"/>
                  <a:buChar char="ü"/>
                </a:pPr>
                <a:r>
                  <a:rPr lang="en-US" sz="2400" dirty="0"/>
                  <a:t>Mathematical operations</a:t>
                </a:r>
              </a:p>
              <a:p>
                <a:pPr marL="457200" indent="-457200">
                  <a:spcAft>
                    <a:spcPts val="600"/>
                  </a:spcAft>
                  <a:buFont typeface="Wingdings" panose="05000000000000000000" pitchFamily="2" charset="2"/>
                  <a:buChar char="ü"/>
                </a:pPr>
                <a:endParaRPr lang="en-US" sz="2400" dirty="0">
                  <a:latin typeface="Book Antiqua" panose="02040602050305030304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US" sz="2400" dirty="0">
                    <a:latin typeface="Book Antiqua" panose="02040602050305030304" pitchFamily="18" charset="0"/>
                  </a:rPr>
                  <a:t>Statements like if-else, for, etc. are not allowed.</a:t>
                </a:r>
              </a:p>
            </p:txBody>
          </p:sp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2CC82DDC-224B-4D0B-94C1-2512C857BAD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667" t="44438" r="11816" b="27365"/>
              <a:stretch/>
            </p:blipFill>
            <p:spPr>
              <a:xfrm>
                <a:off x="672353" y="1651238"/>
                <a:ext cx="5782236" cy="919900"/>
              </a:xfrm>
              <a:prstGeom prst="rect">
                <a:avLst/>
              </a:prstGeom>
            </p:spPr>
          </p:pic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6C637EB-5C44-4AF8-8D0A-2B9931FF98D4}"/>
                </a:ext>
              </a:extLst>
            </p:cNvPr>
            <p:cNvSpPr txBox="1"/>
            <p:nvPr/>
          </p:nvSpPr>
          <p:spPr>
            <a:xfrm>
              <a:off x="4906574" y="2998284"/>
              <a:ext cx="4739315" cy="1552696"/>
            </a:xfrm>
            <a:custGeom>
              <a:avLst/>
              <a:gdLst>
                <a:gd name="connsiteX0" fmla="*/ 0 w 4739315"/>
                <a:gd name="connsiteY0" fmla="*/ 0 h 1552696"/>
                <a:gd name="connsiteX1" fmla="*/ 545021 w 4739315"/>
                <a:gd name="connsiteY1" fmla="*/ 0 h 1552696"/>
                <a:gd name="connsiteX2" fmla="*/ 995256 w 4739315"/>
                <a:gd name="connsiteY2" fmla="*/ 0 h 1552696"/>
                <a:gd name="connsiteX3" fmla="*/ 1682457 w 4739315"/>
                <a:gd name="connsiteY3" fmla="*/ 0 h 1552696"/>
                <a:gd name="connsiteX4" fmla="*/ 2227478 w 4739315"/>
                <a:gd name="connsiteY4" fmla="*/ 0 h 1552696"/>
                <a:gd name="connsiteX5" fmla="*/ 2772499 w 4739315"/>
                <a:gd name="connsiteY5" fmla="*/ 0 h 1552696"/>
                <a:gd name="connsiteX6" fmla="*/ 3459700 w 4739315"/>
                <a:gd name="connsiteY6" fmla="*/ 0 h 1552696"/>
                <a:gd name="connsiteX7" fmla="*/ 3957328 w 4739315"/>
                <a:gd name="connsiteY7" fmla="*/ 0 h 1552696"/>
                <a:gd name="connsiteX8" fmla="*/ 4739315 w 4739315"/>
                <a:gd name="connsiteY8" fmla="*/ 0 h 1552696"/>
                <a:gd name="connsiteX9" fmla="*/ 4739315 w 4739315"/>
                <a:gd name="connsiteY9" fmla="*/ 548619 h 1552696"/>
                <a:gd name="connsiteX10" fmla="*/ 4739315 w 4739315"/>
                <a:gd name="connsiteY10" fmla="*/ 1035131 h 1552696"/>
                <a:gd name="connsiteX11" fmla="*/ 4739315 w 4739315"/>
                <a:gd name="connsiteY11" fmla="*/ 1552696 h 1552696"/>
                <a:gd name="connsiteX12" fmla="*/ 4099507 w 4739315"/>
                <a:gd name="connsiteY12" fmla="*/ 1552696 h 1552696"/>
                <a:gd name="connsiteX13" fmla="*/ 3412307 w 4739315"/>
                <a:gd name="connsiteY13" fmla="*/ 1552696 h 1552696"/>
                <a:gd name="connsiteX14" fmla="*/ 2725106 w 4739315"/>
                <a:gd name="connsiteY14" fmla="*/ 1552696 h 1552696"/>
                <a:gd name="connsiteX15" fmla="*/ 2227478 w 4739315"/>
                <a:gd name="connsiteY15" fmla="*/ 1552696 h 1552696"/>
                <a:gd name="connsiteX16" fmla="*/ 1635064 w 4739315"/>
                <a:gd name="connsiteY16" fmla="*/ 1552696 h 1552696"/>
                <a:gd name="connsiteX17" fmla="*/ 947863 w 4739315"/>
                <a:gd name="connsiteY17" fmla="*/ 1552696 h 1552696"/>
                <a:gd name="connsiteX18" fmla="*/ 0 w 4739315"/>
                <a:gd name="connsiteY18" fmla="*/ 1552696 h 1552696"/>
                <a:gd name="connsiteX19" fmla="*/ 0 w 4739315"/>
                <a:gd name="connsiteY19" fmla="*/ 1081712 h 1552696"/>
                <a:gd name="connsiteX20" fmla="*/ 0 w 4739315"/>
                <a:gd name="connsiteY20" fmla="*/ 595200 h 1552696"/>
                <a:gd name="connsiteX21" fmla="*/ 0 w 4739315"/>
                <a:gd name="connsiteY21" fmla="*/ 0 h 155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739315" h="1552696" extrusionOk="0">
                  <a:moveTo>
                    <a:pt x="0" y="0"/>
                  </a:moveTo>
                  <a:cubicBezTo>
                    <a:pt x="133443" y="-12595"/>
                    <a:pt x="386774" y="20351"/>
                    <a:pt x="545021" y="0"/>
                  </a:cubicBezTo>
                  <a:cubicBezTo>
                    <a:pt x="703268" y="-20351"/>
                    <a:pt x="844346" y="50256"/>
                    <a:pt x="995256" y="0"/>
                  </a:cubicBezTo>
                  <a:cubicBezTo>
                    <a:pt x="1146166" y="-50256"/>
                    <a:pt x="1512765" y="77529"/>
                    <a:pt x="1682457" y="0"/>
                  </a:cubicBezTo>
                  <a:cubicBezTo>
                    <a:pt x="1852149" y="-77529"/>
                    <a:pt x="2043875" y="29202"/>
                    <a:pt x="2227478" y="0"/>
                  </a:cubicBezTo>
                  <a:cubicBezTo>
                    <a:pt x="2411081" y="-29202"/>
                    <a:pt x="2610913" y="41480"/>
                    <a:pt x="2772499" y="0"/>
                  </a:cubicBezTo>
                  <a:cubicBezTo>
                    <a:pt x="2934085" y="-41480"/>
                    <a:pt x="3211871" y="78931"/>
                    <a:pt x="3459700" y="0"/>
                  </a:cubicBezTo>
                  <a:cubicBezTo>
                    <a:pt x="3707529" y="-78931"/>
                    <a:pt x="3765212" y="52571"/>
                    <a:pt x="3957328" y="0"/>
                  </a:cubicBezTo>
                  <a:cubicBezTo>
                    <a:pt x="4149444" y="-52571"/>
                    <a:pt x="4556325" y="24370"/>
                    <a:pt x="4739315" y="0"/>
                  </a:cubicBezTo>
                  <a:cubicBezTo>
                    <a:pt x="4744608" y="113776"/>
                    <a:pt x="4711226" y="400805"/>
                    <a:pt x="4739315" y="548619"/>
                  </a:cubicBezTo>
                  <a:cubicBezTo>
                    <a:pt x="4767404" y="696433"/>
                    <a:pt x="4687820" y="866942"/>
                    <a:pt x="4739315" y="1035131"/>
                  </a:cubicBezTo>
                  <a:cubicBezTo>
                    <a:pt x="4790810" y="1203320"/>
                    <a:pt x="4686841" y="1421833"/>
                    <a:pt x="4739315" y="1552696"/>
                  </a:cubicBezTo>
                  <a:cubicBezTo>
                    <a:pt x="4426808" y="1553660"/>
                    <a:pt x="4308340" y="1518074"/>
                    <a:pt x="4099507" y="1552696"/>
                  </a:cubicBezTo>
                  <a:cubicBezTo>
                    <a:pt x="3890674" y="1587318"/>
                    <a:pt x="3735973" y="1510532"/>
                    <a:pt x="3412307" y="1552696"/>
                  </a:cubicBezTo>
                  <a:cubicBezTo>
                    <a:pt x="3088641" y="1594860"/>
                    <a:pt x="2896663" y="1491339"/>
                    <a:pt x="2725106" y="1552696"/>
                  </a:cubicBezTo>
                  <a:cubicBezTo>
                    <a:pt x="2553549" y="1614053"/>
                    <a:pt x="2425626" y="1523460"/>
                    <a:pt x="2227478" y="1552696"/>
                  </a:cubicBezTo>
                  <a:cubicBezTo>
                    <a:pt x="2029330" y="1581932"/>
                    <a:pt x="1790630" y="1501460"/>
                    <a:pt x="1635064" y="1552696"/>
                  </a:cubicBezTo>
                  <a:cubicBezTo>
                    <a:pt x="1479498" y="1603932"/>
                    <a:pt x="1117829" y="1538857"/>
                    <a:pt x="947863" y="1552696"/>
                  </a:cubicBezTo>
                  <a:cubicBezTo>
                    <a:pt x="777897" y="1566535"/>
                    <a:pt x="215294" y="1547815"/>
                    <a:pt x="0" y="1552696"/>
                  </a:cubicBezTo>
                  <a:cubicBezTo>
                    <a:pt x="-24649" y="1428805"/>
                    <a:pt x="53380" y="1253361"/>
                    <a:pt x="0" y="1081712"/>
                  </a:cubicBezTo>
                  <a:cubicBezTo>
                    <a:pt x="-53380" y="910063"/>
                    <a:pt x="42676" y="815920"/>
                    <a:pt x="0" y="595200"/>
                  </a:cubicBezTo>
                  <a:cubicBezTo>
                    <a:pt x="-42676" y="374480"/>
                    <a:pt x="22520" y="222785"/>
                    <a:pt x="0" y="0"/>
                  </a:cubicBezTo>
                  <a:close/>
                </a:path>
              </a:pathLst>
            </a:custGeom>
            <a:noFill/>
            <a:ln>
              <a:solidFill>
                <a:srgbClr val="FFFF0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lIns="252000" tIns="144000" rIns="252000" bIns="144000" rtlCol="0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US" b="1" dirty="0">
                  <a:solidFill>
                    <a:srgbClr val="FFFF00"/>
                  </a:solidFill>
                </a:rPr>
                <a:t>Note:</a:t>
              </a:r>
            </a:p>
            <a:p>
              <a:r>
                <a:rPr lang="en-US" dirty="0"/>
                <a:t>JSX and template literals both follow this rule: Only expressions can go inside {} or ${} and not statements.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2238497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248FD-4897-1770-CD8C-FD498044C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814F94F-88B9-46D8-8E49-7A6F5456271D}"/>
              </a:ext>
            </a:extLst>
          </p:cNvPr>
          <p:cNvGrpSpPr/>
          <p:nvPr/>
        </p:nvGrpSpPr>
        <p:grpSpPr>
          <a:xfrm>
            <a:off x="928346" y="1141849"/>
            <a:ext cx="8108482" cy="3985995"/>
            <a:chOff x="800599" y="1081338"/>
            <a:chExt cx="8108482" cy="398599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0738E32-77D6-3981-D3A8-80CB64B0E82B}"/>
                </a:ext>
              </a:extLst>
            </p:cNvPr>
            <p:cNvSpPr/>
            <p:nvPr/>
          </p:nvSpPr>
          <p:spPr>
            <a:xfrm>
              <a:off x="800599" y="1081338"/>
              <a:ext cx="643156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5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JSX with Inline Styles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C8773B9-50A1-4F2B-B432-DAF8ADDF3B88}"/>
                </a:ext>
              </a:extLst>
            </p:cNvPr>
            <p:cNvGrpSpPr/>
            <p:nvPr/>
          </p:nvGrpSpPr>
          <p:grpSpPr>
            <a:xfrm>
              <a:off x="949233" y="3229564"/>
              <a:ext cx="7959848" cy="1837769"/>
              <a:chOff x="962680" y="2335335"/>
              <a:chExt cx="7959848" cy="1837769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3D07EDF2-73A0-4295-B79B-502D9A70CBE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8886" t="32823" r="13604" b="19150"/>
              <a:stretch/>
            </p:blipFill>
            <p:spPr>
              <a:xfrm>
                <a:off x="962680" y="2335335"/>
                <a:ext cx="3905155" cy="1833358"/>
              </a:xfrm>
              <a:prstGeom prst="rect">
                <a:avLst/>
              </a:prstGeom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D546A0DB-1790-4AC0-AC32-74045201A1A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8978" t="32268" r="13513" b="18595"/>
              <a:stretch/>
            </p:blipFill>
            <p:spPr>
              <a:xfrm>
                <a:off x="5096435" y="2335335"/>
                <a:ext cx="3826093" cy="1837769"/>
              </a:xfrm>
              <a:prstGeom prst="rect">
                <a:avLst/>
              </a:prstGeom>
            </p:spPr>
          </p:pic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22BE3A2-B9F0-4383-A185-2C3FA21B84E6}"/>
                </a:ext>
              </a:extLst>
            </p:cNvPr>
            <p:cNvSpPr txBox="1"/>
            <p:nvPr/>
          </p:nvSpPr>
          <p:spPr>
            <a:xfrm>
              <a:off x="861111" y="2355506"/>
              <a:ext cx="73332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3600"/>
                </a:spcAft>
              </a:pPr>
              <a:r>
                <a:rPr lang="en-US" sz="2800" dirty="0"/>
                <a:t>JSX style is an object, not a string</a:t>
              </a:r>
              <a:endParaRPr lang="en-US" sz="2800" dirty="0">
                <a:latin typeface="Book Antiqua" panose="0204060205030503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2542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248FD-4897-1770-CD8C-FD498044C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BE5BE86-8977-4DFF-A2D2-01F68B21A1A7}"/>
              </a:ext>
            </a:extLst>
          </p:cNvPr>
          <p:cNvGrpSpPr/>
          <p:nvPr/>
        </p:nvGrpSpPr>
        <p:grpSpPr>
          <a:xfrm>
            <a:off x="844124" y="759930"/>
            <a:ext cx="9004389" cy="5201146"/>
            <a:chOff x="729824" y="665801"/>
            <a:chExt cx="9004389" cy="5201146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0738E32-77D6-3981-D3A8-80CB64B0E82B}"/>
                </a:ext>
              </a:extLst>
            </p:cNvPr>
            <p:cNvSpPr/>
            <p:nvPr/>
          </p:nvSpPr>
          <p:spPr>
            <a:xfrm>
              <a:off x="729824" y="665801"/>
              <a:ext cx="900438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5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Conditional Rendering in JSX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DF773FE-16EA-49BD-9D7B-58C189BC2DF7}"/>
                </a:ext>
              </a:extLst>
            </p:cNvPr>
            <p:cNvSpPr txBox="1"/>
            <p:nvPr/>
          </p:nvSpPr>
          <p:spPr>
            <a:xfrm>
              <a:off x="800233" y="1928338"/>
              <a:ext cx="73332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3600"/>
                </a:spcAft>
              </a:pPr>
              <a:r>
                <a:rPr lang="en-US" sz="2800" dirty="0"/>
                <a:t>Using Ternary Operator</a:t>
              </a:r>
              <a:endParaRPr lang="en-US" sz="2800" dirty="0">
                <a:latin typeface="Book Antiqua" panose="02040602050305030304" pitchFamily="18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63F51A8-26FC-467C-9B37-990D22C71232}"/>
                </a:ext>
              </a:extLst>
            </p:cNvPr>
            <p:cNvSpPr txBox="1"/>
            <p:nvPr/>
          </p:nvSpPr>
          <p:spPr>
            <a:xfrm>
              <a:off x="800233" y="2696580"/>
              <a:ext cx="7333252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dirty="0">
                  <a:solidFill>
                    <a:srgbClr val="F97583"/>
                  </a:solidFill>
                  <a:effectLst/>
                  <a:latin typeface="Consolas" panose="020B0609020204030204" pitchFamily="49" charset="0"/>
                </a:rPr>
                <a:t>const</a:t>
              </a:r>
              <a:r>
                <a:rPr lang="en-US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b="0" dirty="0" err="1">
                  <a:solidFill>
                    <a:srgbClr val="79B8FF"/>
                  </a:solidFill>
                  <a:effectLst/>
                  <a:latin typeface="Consolas" panose="020B0609020204030204" pitchFamily="49" charset="0"/>
                </a:rPr>
                <a:t>isLoggedIn</a:t>
              </a:r>
              <a:r>
                <a:rPr lang="en-US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b="0" dirty="0">
                  <a:solidFill>
                    <a:srgbClr val="F97583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b="0" dirty="0">
                  <a:solidFill>
                    <a:srgbClr val="79B8FF"/>
                  </a:solidFill>
                  <a:effectLst/>
                  <a:latin typeface="Consolas" panose="020B0609020204030204" pitchFamily="49" charset="0"/>
                </a:rPr>
                <a:t>true</a:t>
              </a:r>
              <a:r>
                <a:rPr lang="en-US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endParaRPr lang="en-US" b="0" dirty="0">
                <a:solidFill>
                  <a:srgbClr val="E1E4E8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b="0" dirty="0">
                  <a:solidFill>
                    <a:srgbClr val="85E89D"/>
                  </a:solidFill>
                  <a:effectLst/>
                  <a:latin typeface="Consolas" panose="020B0609020204030204" pitchFamily="49" charset="0"/>
                </a:rPr>
                <a:t>p</a:t>
              </a:r>
              <a:r>
                <a:rPr lang="en-US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&gt;{</a:t>
              </a:r>
              <a:r>
                <a:rPr lang="en-US" b="0" dirty="0" err="1">
                  <a:solidFill>
                    <a:srgbClr val="79B8FF"/>
                  </a:solidFill>
                  <a:effectLst/>
                  <a:latin typeface="Consolas" panose="020B0609020204030204" pitchFamily="49" charset="0"/>
                </a:rPr>
                <a:t>isLoggedIn</a:t>
              </a:r>
              <a:r>
                <a:rPr lang="en-US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b="0" dirty="0">
                  <a:solidFill>
                    <a:srgbClr val="F97583"/>
                  </a:solidFill>
                  <a:effectLst/>
                  <a:latin typeface="Consolas" panose="020B0609020204030204" pitchFamily="49" charset="0"/>
                </a:rPr>
                <a:t>?</a:t>
              </a:r>
              <a:r>
                <a:rPr lang="en-US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b="0" dirty="0">
                  <a:solidFill>
                    <a:srgbClr val="9ECBFF"/>
                  </a:solidFill>
                  <a:effectLst/>
                  <a:latin typeface="Consolas" panose="020B0609020204030204" pitchFamily="49" charset="0"/>
                </a:rPr>
                <a:t>"Welcome back!"</a:t>
              </a:r>
              <a:r>
                <a:rPr lang="en-US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b="0" dirty="0">
                  <a:solidFill>
                    <a:srgbClr val="F97583"/>
                  </a:solidFill>
                  <a:effectLst/>
                  <a:latin typeface="Consolas" panose="020B0609020204030204" pitchFamily="49" charset="0"/>
                </a:rPr>
                <a:t>:</a:t>
              </a:r>
              <a:r>
                <a:rPr lang="en-US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b="0" dirty="0">
                  <a:solidFill>
                    <a:srgbClr val="9ECBFF"/>
                  </a:solidFill>
                  <a:effectLst/>
                  <a:latin typeface="Consolas" panose="020B0609020204030204" pitchFamily="49" charset="0"/>
                </a:rPr>
                <a:t>"Please log in."</a:t>
              </a:r>
              <a:r>
                <a:rPr lang="en-US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}&lt;/</a:t>
              </a:r>
              <a:r>
                <a:rPr lang="en-US" b="0" dirty="0">
                  <a:solidFill>
                    <a:srgbClr val="85E89D"/>
                  </a:solidFill>
                  <a:effectLst/>
                  <a:latin typeface="Consolas" panose="020B0609020204030204" pitchFamily="49" charset="0"/>
                </a:rPr>
                <a:t>p</a:t>
              </a:r>
              <a:r>
                <a:rPr lang="en-US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&gt;;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D333D3B-7B52-49DB-947A-3CA999F89CC4}"/>
                </a:ext>
              </a:extLst>
            </p:cNvPr>
            <p:cNvSpPr txBox="1"/>
            <p:nvPr/>
          </p:nvSpPr>
          <p:spPr>
            <a:xfrm>
              <a:off x="800233" y="4177027"/>
              <a:ext cx="73332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3600"/>
                </a:spcAft>
              </a:pPr>
              <a:r>
                <a:rPr lang="en-US" sz="2800" dirty="0"/>
                <a:t>Short-circuit rendering</a:t>
              </a:r>
              <a:endParaRPr lang="en-US" sz="2800" dirty="0">
                <a:latin typeface="Book Antiqua" panose="02040602050305030304" pitchFamily="18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2C98A35-DCD7-42F3-9A07-CCD751EDF0F0}"/>
                </a:ext>
              </a:extLst>
            </p:cNvPr>
            <p:cNvSpPr txBox="1"/>
            <p:nvPr/>
          </p:nvSpPr>
          <p:spPr>
            <a:xfrm>
              <a:off x="800233" y="4943617"/>
              <a:ext cx="6094878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dirty="0">
                  <a:solidFill>
                    <a:srgbClr val="F97583"/>
                  </a:solidFill>
                  <a:effectLst/>
                  <a:latin typeface="Consolas" panose="020B0609020204030204" pitchFamily="49" charset="0"/>
                </a:rPr>
                <a:t>const</a:t>
              </a:r>
              <a:r>
                <a:rPr lang="en-US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b="0" dirty="0" err="1">
                  <a:solidFill>
                    <a:srgbClr val="79B8FF"/>
                  </a:solidFill>
                  <a:effectLst/>
                  <a:latin typeface="Consolas" panose="020B0609020204030204" pitchFamily="49" charset="0"/>
                </a:rPr>
                <a:t>isAdmin</a:t>
              </a:r>
              <a:r>
                <a:rPr lang="en-US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b="0" dirty="0">
                  <a:solidFill>
                    <a:srgbClr val="F97583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b="0" dirty="0">
                  <a:solidFill>
                    <a:srgbClr val="79B8FF"/>
                  </a:solidFill>
                  <a:effectLst/>
                  <a:latin typeface="Consolas" panose="020B0609020204030204" pitchFamily="49" charset="0"/>
                </a:rPr>
                <a:t>true</a:t>
              </a:r>
              <a:r>
                <a:rPr lang="en-US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endParaRPr lang="en-US" b="0" dirty="0">
                <a:solidFill>
                  <a:srgbClr val="E1E4E8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b="0" dirty="0">
                  <a:solidFill>
                    <a:srgbClr val="F97583"/>
                  </a:solidFill>
                  <a:effectLst/>
                  <a:latin typeface="Consolas" panose="020B0609020204030204" pitchFamily="49" charset="0"/>
                </a:rPr>
                <a:t>const</a:t>
              </a:r>
              <a:r>
                <a:rPr lang="en-US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b="0" dirty="0">
                  <a:solidFill>
                    <a:srgbClr val="79B8FF"/>
                  </a:solidFill>
                  <a:effectLst/>
                  <a:latin typeface="Consolas" panose="020B0609020204030204" pitchFamily="49" charset="0"/>
                </a:rPr>
                <a:t>element</a:t>
              </a:r>
              <a:r>
                <a:rPr lang="en-US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b="0" dirty="0">
                  <a:solidFill>
                    <a:srgbClr val="F97583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b="0" dirty="0" err="1">
                  <a:solidFill>
                    <a:srgbClr val="79B8FF"/>
                  </a:solidFill>
                  <a:effectLst/>
                  <a:latin typeface="Consolas" panose="020B0609020204030204" pitchFamily="49" charset="0"/>
                </a:rPr>
                <a:t>isAdmin</a:t>
              </a:r>
              <a:r>
                <a:rPr lang="en-US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b="0" dirty="0">
                  <a:solidFill>
                    <a:srgbClr val="F97583"/>
                  </a:solidFill>
                  <a:effectLst/>
                  <a:latin typeface="Consolas" panose="020B0609020204030204" pitchFamily="49" charset="0"/>
                </a:rPr>
                <a:t>&amp;&amp;</a:t>
              </a:r>
              <a:r>
                <a:rPr lang="en-US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 &lt;</a:t>
              </a:r>
              <a:r>
                <a:rPr lang="en-US" b="0" dirty="0">
                  <a:solidFill>
                    <a:srgbClr val="85E89D"/>
                  </a:solidFill>
                  <a:effectLst/>
                  <a:latin typeface="Consolas" panose="020B0609020204030204" pitchFamily="49" charset="0"/>
                </a:rPr>
                <a:t>p</a:t>
              </a:r>
              <a:r>
                <a:rPr lang="en-US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&gt;Admin Panel&lt;/</a:t>
              </a:r>
              <a:r>
                <a:rPr lang="en-US" b="0" dirty="0">
                  <a:solidFill>
                    <a:srgbClr val="85E89D"/>
                  </a:solidFill>
                  <a:effectLst/>
                  <a:latin typeface="Consolas" panose="020B0609020204030204" pitchFamily="49" charset="0"/>
                </a:rPr>
                <a:t>p</a:t>
              </a:r>
              <a:r>
                <a:rPr lang="en-US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&gt;;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32359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248FD-4897-1770-CD8C-FD498044C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73978403-762C-4830-A02D-8A8DAF0A32F7}"/>
              </a:ext>
            </a:extLst>
          </p:cNvPr>
          <p:cNvGrpSpPr/>
          <p:nvPr/>
        </p:nvGrpSpPr>
        <p:grpSpPr>
          <a:xfrm>
            <a:off x="1058975" y="907849"/>
            <a:ext cx="7380547" cy="4874483"/>
            <a:chOff x="386622" y="564948"/>
            <a:chExt cx="7380547" cy="487448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0738E32-77D6-3981-D3A8-80CB64B0E82B}"/>
                </a:ext>
              </a:extLst>
            </p:cNvPr>
            <p:cNvSpPr/>
            <p:nvPr/>
          </p:nvSpPr>
          <p:spPr>
            <a:xfrm>
              <a:off x="386622" y="564948"/>
              <a:ext cx="7380547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5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JSX with Loops (Arrays)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D3DC5EB-AD50-4E50-A47D-CE15E39FBCEB}"/>
                </a:ext>
              </a:extLst>
            </p:cNvPr>
            <p:cNvSpPr txBox="1"/>
            <p:nvPr/>
          </p:nvSpPr>
          <p:spPr>
            <a:xfrm>
              <a:off x="410269" y="1799370"/>
              <a:ext cx="73332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3600"/>
                </a:spcAft>
              </a:pPr>
              <a:r>
                <a:rPr lang="en-US" sz="2800" dirty="0"/>
                <a:t>JSX doesn’t support for, but we can use .map().</a:t>
              </a:r>
              <a:endParaRPr lang="en-US" sz="2800" dirty="0">
                <a:latin typeface="Book Antiqua" panose="02040602050305030304" pitchFamily="18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BB8481A-26E8-4558-B447-7B772C35994A}"/>
                </a:ext>
              </a:extLst>
            </p:cNvPr>
            <p:cNvSpPr txBox="1"/>
            <p:nvPr/>
          </p:nvSpPr>
          <p:spPr>
            <a:xfrm>
              <a:off x="386622" y="3314106"/>
              <a:ext cx="5531782" cy="2125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IN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IN" b="0" dirty="0">
                  <a:solidFill>
                    <a:srgbClr val="85E89D"/>
                  </a:solidFill>
                  <a:effectLst/>
                  <a:latin typeface="Consolas" panose="020B0609020204030204" pitchFamily="49" charset="0"/>
                </a:rPr>
                <a:t>ul</a:t>
              </a:r>
              <a:r>
                <a:rPr lang="en-IN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&gt;</a:t>
              </a:r>
            </a:p>
            <a:p>
              <a:pPr>
                <a:lnSpc>
                  <a:spcPct val="150000"/>
                </a:lnSpc>
              </a:pPr>
              <a:r>
                <a:rPr lang="en-IN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  {</a:t>
              </a:r>
              <a:r>
                <a:rPr lang="en-IN" b="0" dirty="0" err="1">
                  <a:solidFill>
                    <a:srgbClr val="79B8FF"/>
                  </a:solidFill>
                  <a:effectLst/>
                  <a:latin typeface="Consolas" panose="020B0609020204030204" pitchFamily="49" charset="0"/>
                </a:rPr>
                <a:t>items</a:t>
              </a:r>
              <a:r>
                <a:rPr lang="en-IN" b="0" dirty="0" err="1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IN" b="0" dirty="0" err="1">
                  <a:solidFill>
                    <a:srgbClr val="B392F0"/>
                  </a:solidFill>
                  <a:effectLst/>
                  <a:latin typeface="Consolas" panose="020B0609020204030204" pitchFamily="49" charset="0"/>
                </a:rPr>
                <a:t>map</a:t>
              </a:r>
              <a:r>
                <a:rPr lang="en-IN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IN" b="0" dirty="0">
                  <a:solidFill>
                    <a:srgbClr val="FFAB70"/>
                  </a:solidFill>
                  <a:effectLst/>
                  <a:latin typeface="Consolas" panose="020B0609020204030204" pitchFamily="49" charset="0"/>
                </a:rPr>
                <a:t>item</a:t>
              </a:r>
              <a:r>
                <a:rPr lang="en-IN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IN" b="0" dirty="0">
                  <a:solidFill>
                    <a:srgbClr val="FFAB70"/>
                  </a:solidFill>
                  <a:effectLst/>
                  <a:latin typeface="Consolas" panose="020B0609020204030204" pitchFamily="49" charset="0"/>
                </a:rPr>
                <a:t>index</a:t>
              </a:r>
              <a:r>
                <a:rPr lang="en-IN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) </a:t>
              </a:r>
              <a:r>
                <a:rPr lang="en-IN" b="0" dirty="0">
                  <a:solidFill>
                    <a:srgbClr val="F97583"/>
                  </a:solidFill>
                  <a:effectLst/>
                  <a:latin typeface="Consolas" panose="020B0609020204030204" pitchFamily="49" charset="0"/>
                </a:rPr>
                <a:t>=&gt;</a:t>
              </a:r>
              <a:r>
                <a:rPr lang="en-IN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 (</a:t>
              </a:r>
            </a:p>
            <a:p>
              <a:pPr>
                <a:lnSpc>
                  <a:spcPct val="150000"/>
                </a:lnSpc>
              </a:pPr>
              <a:r>
                <a:rPr lang="en-IN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    &lt;</a:t>
              </a:r>
              <a:r>
                <a:rPr lang="en-IN" b="0" dirty="0">
                  <a:solidFill>
                    <a:srgbClr val="85E89D"/>
                  </a:solidFill>
                  <a:effectLst/>
                  <a:latin typeface="Consolas" panose="020B0609020204030204" pitchFamily="49" charset="0"/>
                </a:rPr>
                <a:t>li</a:t>
              </a:r>
              <a:r>
                <a:rPr lang="en-IN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N" b="0" dirty="0">
                  <a:solidFill>
                    <a:srgbClr val="B392F0"/>
                  </a:solidFill>
                  <a:effectLst/>
                  <a:latin typeface="Consolas" panose="020B0609020204030204" pitchFamily="49" charset="0"/>
                </a:rPr>
                <a:t>key</a:t>
              </a:r>
              <a:r>
                <a:rPr lang="en-IN" b="0" dirty="0">
                  <a:solidFill>
                    <a:srgbClr val="F97583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IN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{</a:t>
              </a:r>
              <a:r>
                <a:rPr lang="en-IN" b="0" dirty="0">
                  <a:solidFill>
                    <a:srgbClr val="FFAB70"/>
                  </a:solidFill>
                  <a:effectLst/>
                  <a:latin typeface="Consolas" panose="020B0609020204030204" pitchFamily="49" charset="0"/>
                </a:rPr>
                <a:t>index</a:t>
              </a:r>
              <a:r>
                <a:rPr lang="en-IN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}&gt;{</a:t>
              </a:r>
              <a:r>
                <a:rPr lang="en-IN" b="0" dirty="0">
                  <a:solidFill>
                    <a:srgbClr val="FFAB70"/>
                  </a:solidFill>
                  <a:effectLst/>
                  <a:latin typeface="Consolas" panose="020B0609020204030204" pitchFamily="49" charset="0"/>
                </a:rPr>
                <a:t>item</a:t>
              </a:r>
              <a:r>
                <a:rPr lang="en-IN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}&lt;/</a:t>
              </a:r>
              <a:r>
                <a:rPr lang="en-IN" b="0" dirty="0">
                  <a:solidFill>
                    <a:srgbClr val="85E89D"/>
                  </a:solidFill>
                  <a:effectLst/>
                  <a:latin typeface="Consolas" panose="020B0609020204030204" pitchFamily="49" charset="0"/>
                </a:rPr>
                <a:t>li</a:t>
              </a:r>
              <a:r>
                <a:rPr lang="en-IN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&gt;</a:t>
              </a:r>
            </a:p>
            <a:p>
              <a:pPr>
                <a:lnSpc>
                  <a:spcPct val="150000"/>
                </a:lnSpc>
              </a:pPr>
              <a:r>
                <a:rPr lang="en-IN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  ))}</a:t>
              </a:r>
            </a:p>
            <a:p>
              <a:pPr>
                <a:lnSpc>
                  <a:spcPct val="150000"/>
                </a:lnSpc>
              </a:pPr>
              <a:r>
                <a:rPr lang="en-IN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&lt;/</a:t>
              </a:r>
              <a:r>
                <a:rPr lang="en-IN" b="0" dirty="0">
                  <a:solidFill>
                    <a:srgbClr val="85E89D"/>
                  </a:solidFill>
                  <a:effectLst/>
                  <a:latin typeface="Consolas" panose="020B0609020204030204" pitchFamily="49" charset="0"/>
                </a:rPr>
                <a:t>ul</a:t>
              </a:r>
              <a:r>
                <a:rPr lang="en-IN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&gt;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0FD369D-6679-438D-8FA6-0E9306AEB8DA}"/>
                </a:ext>
              </a:extLst>
            </p:cNvPr>
            <p:cNvSpPr txBox="1"/>
            <p:nvPr/>
          </p:nvSpPr>
          <p:spPr>
            <a:xfrm>
              <a:off x="410269" y="2633682"/>
              <a:ext cx="60948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0" dirty="0" err="1">
                  <a:solidFill>
                    <a:srgbClr val="F97583"/>
                  </a:solidFill>
                  <a:effectLst/>
                  <a:latin typeface="Consolas" panose="020B0609020204030204" pitchFamily="49" charset="0"/>
                </a:rPr>
                <a:t>const</a:t>
              </a:r>
              <a:r>
                <a:rPr lang="en-IN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N" b="0" dirty="0">
                  <a:solidFill>
                    <a:srgbClr val="79B8FF"/>
                  </a:solidFill>
                  <a:effectLst/>
                  <a:latin typeface="Consolas" panose="020B0609020204030204" pitchFamily="49" charset="0"/>
                </a:rPr>
                <a:t>items</a:t>
              </a:r>
              <a:r>
                <a:rPr lang="en-IN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N" b="0" dirty="0">
                  <a:solidFill>
                    <a:srgbClr val="F97583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IN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 [</a:t>
              </a:r>
              <a:r>
                <a:rPr lang="en-IN" b="0" dirty="0">
                  <a:solidFill>
                    <a:srgbClr val="9ECBFF"/>
                  </a:solidFill>
                  <a:effectLst/>
                  <a:latin typeface="Consolas" panose="020B0609020204030204" pitchFamily="49" charset="0"/>
                </a:rPr>
                <a:t>"Manas"</a:t>
              </a:r>
              <a:r>
                <a:rPr lang="en-IN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IN" b="0" dirty="0">
                  <a:solidFill>
                    <a:srgbClr val="9ECBFF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IN" b="0" dirty="0" err="1">
                  <a:solidFill>
                    <a:srgbClr val="9ECBFF"/>
                  </a:solidFill>
                  <a:effectLst/>
                  <a:latin typeface="Consolas" panose="020B0609020204030204" pitchFamily="49" charset="0"/>
                </a:rPr>
                <a:t>Muskan</a:t>
              </a:r>
              <a:r>
                <a:rPr lang="en-IN" b="0" dirty="0">
                  <a:solidFill>
                    <a:srgbClr val="9ECBFF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IN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IN" b="0" dirty="0">
                  <a:solidFill>
                    <a:srgbClr val="9ECBFF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IN" b="0" dirty="0" err="1">
                  <a:solidFill>
                    <a:srgbClr val="9ECBFF"/>
                  </a:solidFill>
                  <a:effectLst/>
                  <a:latin typeface="Consolas" panose="020B0609020204030204" pitchFamily="49" charset="0"/>
                </a:rPr>
                <a:t>Mehek</a:t>
              </a:r>
              <a:r>
                <a:rPr lang="en-IN" b="0" dirty="0">
                  <a:solidFill>
                    <a:srgbClr val="9ECBFF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IN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];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24169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248FD-4897-1770-CD8C-FD498044C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390DB12-06D7-44C3-BA84-39DD5F992C4F}"/>
              </a:ext>
            </a:extLst>
          </p:cNvPr>
          <p:cNvGrpSpPr/>
          <p:nvPr/>
        </p:nvGrpSpPr>
        <p:grpSpPr>
          <a:xfrm>
            <a:off x="848614" y="938066"/>
            <a:ext cx="6328886" cy="4882817"/>
            <a:chOff x="767931" y="1085984"/>
            <a:chExt cx="6328886" cy="4882817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0738E32-77D6-3981-D3A8-80CB64B0E82B}"/>
                </a:ext>
              </a:extLst>
            </p:cNvPr>
            <p:cNvSpPr/>
            <p:nvPr/>
          </p:nvSpPr>
          <p:spPr>
            <a:xfrm>
              <a:off x="767931" y="1085984"/>
              <a:ext cx="6261651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5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 JSX is an Expression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BF1E4DA-430D-40BB-BF22-B6ECCC4D707B}"/>
                </a:ext>
              </a:extLst>
            </p:cNvPr>
            <p:cNvSpPr txBox="1"/>
            <p:nvPr/>
          </p:nvSpPr>
          <p:spPr>
            <a:xfrm>
              <a:off x="1001939" y="2274838"/>
              <a:ext cx="5143367" cy="20005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2400"/>
                </a:spcAft>
              </a:pPr>
              <a:r>
                <a:rPr lang="en-US" sz="2800" dirty="0"/>
                <a:t>Assign it to variables</a:t>
              </a:r>
            </a:p>
            <a:p>
              <a:pPr>
                <a:spcAft>
                  <a:spcPts val="2400"/>
                </a:spcAft>
              </a:pPr>
              <a:r>
                <a:rPr lang="en-US" sz="2800" dirty="0"/>
                <a:t>Pass as props</a:t>
              </a:r>
            </a:p>
            <a:p>
              <a:pPr>
                <a:spcAft>
                  <a:spcPts val="2400"/>
                </a:spcAft>
              </a:pPr>
              <a:r>
                <a:rPr lang="en-US" sz="2800" dirty="0"/>
                <a:t>Return from functions</a:t>
              </a:r>
              <a:endParaRPr lang="en-US" sz="2800" dirty="0">
                <a:latin typeface="Book Antiqua" panose="020406020503050303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6FE5BF7-5F47-4150-92FA-D18C5C907710}"/>
                </a:ext>
              </a:extLst>
            </p:cNvPr>
            <p:cNvSpPr txBox="1"/>
            <p:nvPr/>
          </p:nvSpPr>
          <p:spPr>
            <a:xfrm>
              <a:off x="1001939" y="4540910"/>
              <a:ext cx="6094878" cy="14278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IN" sz="2000" b="0" dirty="0">
                  <a:solidFill>
                    <a:srgbClr val="F97583"/>
                  </a:solidFill>
                  <a:effectLst/>
                  <a:latin typeface="Consolas" panose="020B0609020204030204" pitchFamily="49" charset="0"/>
                </a:rPr>
                <a:t>function</a:t>
              </a:r>
              <a:r>
                <a:rPr lang="en-IN" sz="2000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N" sz="2000" b="0" dirty="0" err="1">
                  <a:solidFill>
                    <a:srgbClr val="B392F0"/>
                  </a:solidFill>
                  <a:effectLst/>
                  <a:latin typeface="Consolas" panose="020B0609020204030204" pitchFamily="49" charset="0"/>
                </a:rPr>
                <a:t>callMe</a:t>
              </a:r>
              <a:r>
                <a:rPr lang="en-IN" sz="2000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IN" sz="2000" b="0" dirty="0" err="1">
                  <a:solidFill>
                    <a:srgbClr val="FFAB70"/>
                  </a:solidFill>
                  <a:effectLst/>
                  <a:latin typeface="Consolas" panose="020B0609020204030204" pitchFamily="49" charset="0"/>
                </a:rPr>
                <a:t>otherJSX</a:t>
              </a:r>
              <a:r>
                <a:rPr lang="en-IN" sz="2000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) {</a:t>
              </a:r>
            </a:p>
            <a:p>
              <a:pPr>
                <a:lnSpc>
                  <a:spcPct val="150000"/>
                </a:lnSpc>
              </a:pPr>
              <a:r>
                <a:rPr lang="en-IN" sz="2000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IN" sz="2000" b="0" dirty="0">
                  <a:solidFill>
                    <a:srgbClr val="F97583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IN" sz="2000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 &lt;</a:t>
              </a:r>
              <a:r>
                <a:rPr lang="en-IN" sz="2000" b="0" dirty="0">
                  <a:solidFill>
                    <a:srgbClr val="85E89D"/>
                  </a:solidFill>
                  <a:effectLst/>
                  <a:latin typeface="Consolas" panose="020B0609020204030204" pitchFamily="49" charset="0"/>
                </a:rPr>
                <a:t>h1</a:t>
              </a:r>
              <a:r>
                <a:rPr lang="en-IN" sz="2000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&gt;</a:t>
              </a:r>
              <a:r>
                <a:rPr lang="en-IN" sz="2000" b="0" dirty="0" err="1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Suno</a:t>
              </a:r>
              <a:r>
                <a:rPr lang="en-IN" sz="2000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, {</a:t>
              </a:r>
              <a:r>
                <a:rPr lang="en-IN" sz="2000" b="0" dirty="0" err="1">
                  <a:solidFill>
                    <a:srgbClr val="FFAB70"/>
                  </a:solidFill>
                  <a:effectLst/>
                  <a:latin typeface="Consolas" panose="020B0609020204030204" pitchFamily="49" charset="0"/>
                </a:rPr>
                <a:t>otherJSX</a:t>
              </a:r>
              <a:r>
                <a:rPr lang="en-IN" sz="2000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}&lt;/</a:t>
              </a:r>
              <a:r>
                <a:rPr lang="en-IN" sz="2000" b="0" dirty="0">
                  <a:solidFill>
                    <a:srgbClr val="85E89D"/>
                  </a:solidFill>
                  <a:effectLst/>
                  <a:latin typeface="Consolas" panose="020B0609020204030204" pitchFamily="49" charset="0"/>
                </a:rPr>
                <a:t>h1</a:t>
              </a:r>
              <a:r>
                <a:rPr lang="en-IN" sz="2000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&gt;;</a:t>
              </a:r>
            </a:p>
            <a:p>
              <a:pPr>
                <a:lnSpc>
                  <a:spcPct val="150000"/>
                </a:lnSpc>
              </a:pPr>
              <a:r>
                <a:rPr lang="en-IN" sz="2000" b="0" dirty="0">
                  <a:solidFill>
                    <a:srgbClr val="E1E4E8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79349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BD554-5A25-8018-41B6-8323765AB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30F58CB-168C-465E-9192-8E0D06F9B601}"/>
              </a:ext>
            </a:extLst>
          </p:cNvPr>
          <p:cNvGrpSpPr/>
          <p:nvPr/>
        </p:nvGrpSpPr>
        <p:grpSpPr>
          <a:xfrm>
            <a:off x="759757" y="684352"/>
            <a:ext cx="10566113" cy="5378606"/>
            <a:chOff x="753034" y="791928"/>
            <a:chExt cx="10566113" cy="5378606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39125DF-E37B-7604-806B-763264227DE6}"/>
                </a:ext>
              </a:extLst>
            </p:cNvPr>
            <p:cNvSpPr/>
            <p:nvPr/>
          </p:nvSpPr>
          <p:spPr>
            <a:xfrm>
              <a:off x="753034" y="791928"/>
              <a:ext cx="561243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5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Behind the Scenes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FEF3043-3BAD-4F7B-84C2-B12254CC969E}"/>
                </a:ext>
              </a:extLst>
            </p:cNvPr>
            <p:cNvSpPr txBox="1"/>
            <p:nvPr/>
          </p:nvSpPr>
          <p:spPr>
            <a:xfrm>
              <a:off x="806822" y="1804675"/>
              <a:ext cx="89691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2400"/>
                </a:spcAft>
              </a:pPr>
              <a:r>
                <a:rPr lang="en-US" sz="2800" dirty="0"/>
                <a:t>Compiled to </a:t>
              </a:r>
              <a:r>
                <a:rPr lang="en-US" sz="2800" dirty="0" err="1"/>
                <a:t>React.createElement</a:t>
              </a:r>
              <a:r>
                <a:rPr lang="en-US" sz="2800" dirty="0"/>
                <a:t>() behind the scenes.</a:t>
              </a:r>
              <a:endParaRPr lang="en-US" sz="2800" dirty="0">
                <a:latin typeface="Book Antiqua" panose="02040602050305030304" pitchFamily="18" charset="0"/>
              </a:endParaRP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1946984-E08A-4B90-89E3-9B8E7FDBE66A}"/>
                </a:ext>
              </a:extLst>
            </p:cNvPr>
            <p:cNvGrpSpPr/>
            <p:nvPr/>
          </p:nvGrpSpPr>
          <p:grpSpPr>
            <a:xfrm>
              <a:off x="806822" y="2541217"/>
              <a:ext cx="6127680" cy="1136426"/>
              <a:chOff x="806822" y="2027393"/>
              <a:chExt cx="6127680" cy="1136426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DB2133A7-7409-43E8-974E-96F225C9D02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780" t="50000" r="11084" b="30321"/>
              <a:stretch/>
            </p:blipFill>
            <p:spPr>
              <a:xfrm>
                <a:off x="903496" y="2595321"/>
                <a:ext cx="6031006" cy="568498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F995ADA-1E62-4E75-9215-4B4AD7E04A76}"/>
                  </a:ext>
                </a:extLst>
              </p:cNvPr>
              <p:cNvSpPr txBox="1"/>
              <p:nvPr/>
            </p:nvSpPr>
            <p:spPr>
              <a:xfrm>
                <a:off x="806822" y="2027393"/>
                <a:ext cx="105965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2400"/>
                  </a:spcAft>
                </a:pPr>
                <a:r>
                  <a:rPr lang="en-IN" sz="2800" dirty="0"/>
                  <a:t>JSX:</a:t>
                </a:r>
                <a:endParaRPr lang="en-US" sz="2800" dirty="0">
                  <a:latin typeface="Book Antiqua" panose="02040602050305030304" pitchFamily="18" charset="0"/>
                </a:endParaRP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AFC181C3-D3AF-43A7-B14B-DBF40E7DC6AC}"/>
                </a:ext>
              </a:extLst>
            </p:cNvPr>
            <p:cNvGrpSpPr/>
            <p:nvPr/>
          </p:nvGrpSpPr>
          <p:grpSpPr>
            <a:xfrm>
              <a:off x="806822" y="3917468"/>
              <a:ext cx="10512325" cy="2253066"/>
              <a:chOff x="712693" y="3555878"/>
              <a:chExt cx="10512325" cy="2253066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CD1190AE-3D64-4C47-87C3-05058EC76B5E}"/>
                  </a:ext>
                </a:extLst>
              </p:cNvPr>
              <p:cNvGrpSpPr/>
              <p:nvPr/>
            </p:nvGrpSpPr>
            <p:grpSpPr>
              <a:xfrm>
                <a:off x="712693" y="3555878"/>
                <a:ext cx="10512325" cy="1181135"/>
                <a:chOff x="1005984" y="4151502"/>
                <a:chExt cx="10512325" cy="1181135"/>
              </a:xfrm>
            </p:grpSpPr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329C99DE-D12F-4392-868A-ED4B7530A261}"/>
                    </a:ext>
                  </a:extLst>
                </p:cNvPr>
                <p:cNvSpPr txBox="1"/>
                <p:nvPr/>
              </p:nvSpPr>
              <p:spPr>
                <a:xfrm>
                  <a:off x="1005984" y="4151502"/>
                  <a:ext cx="1774286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2400"/>
                    </a:spcAft>
                  </a:pPr>
                  <a:r>
                    <a:rPr lang="en-IN" sz="2800" dirty="0"/>
                    <a:t>Compiled:</a:t>
                  </a:r>
                  <a:endParaRPr lang="en-US" sz="2800" dirty="0">
                    <a:latin typeface="Book Antiqua" panose="02040602050305030304" pitchFamily="18" charset="0"/>
                  </a:endParaRPr>
                </a:p>
              </p:txBody>
            </p:sp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43E2164E-910E-4BDA-8961-14F750589E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1029" t="50000" r="8251" b="32083"/>
                <a:stretch/>
              </p:blipFill>
              <p:spPr>
                <a:xfrm>
                  <a:off x="1102658" y="4764139"/>
                  <a:ext cx="10415651" cy="568498"/>
                </a:xfrm>
                <a:prstGeom prst="rect">
                  <a:avLst/>
                </a:prstGeom>
              </p:spPr>
            </p:pic>
          </p:grp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491FC90-D715-4C61-B548-87C0AFBD30D6}"/>
                  </a:ext>
                </a:extLst>
              </p:cNvPr>
              <p:cNvSpPr txBox="1"/>
              <p:nvPr/>
            </p:nvSpPr>
            <p:spPr>
              <a:xfrm>
                <a:off x="3029423" y="5347279"/>
                <a:ext cx="59755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 err="1"/>
                  <a:t>React.createElement</a:t>
                </a:r>
                <a:r>
                  <a:rPr lang="en-US" sz="2400" dirty="0"/>
                  <a:t>(</a:t>
                </a:r>
                <a:r>
                  <a:rPr lang="en-US" sz="2400" dirty="0">
                    <a:solidFill>
                      <a:srgbClr val="FFFF00"/>
                    </a:solidFill>
                  </a:rPr>
                  <a:t>type</a:t>
                </a:r>
                <a:r>
                  <a:rPr lang="en-US" sz="2400" dirty="0"/>
                  <a:t>, </a:t>
                </a:r>
                <a:r>
                  <a:rPr lang="en-US" sz="2400" dirty="0">
                    <a:solidFill>
                      <a:srgbClr val="FFFF00"/>
                    </a:solidFill>
                  </a:rPr>
                  <a:t>props</a:t>
                </a:r>
                <a:r>
                  <a:rPr lang="en-US" sz="2400" dirty="0"/>
                  <a:t>, </a:t>
                </a:r>
                <a:r>
                  <a:rPr lang="en-US" sz="2400" dirty="0">
                    <a:solidFill>
                      <a:srgbClr val="FFFF00"/>
                    </a:solidFill>
                  </a:rPr>
                  <a:t>...children</a:t>
                </a:r>
                <a:r>
                  <a:rPr lang="en-US" sz="2400" dirty="0"/>
                  <a:t>)</a:t>
                </a:r>
                <a:endParaRPr lang="en-IN" sz="2400" dirty="0"/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3FEFBB1D-B2D8-4F81-841C-8A8FB7CD5C20}"/>
                  </a:ext>
                </a:extLst>
              </p:cNvPr>
              <p:cNvCxnSpPr>
                <a:cxnSpLocks/>
                <a:stCxn id="14" idx="0"/>
                <a:endCxn id="8" idx="2"/>
              </p:cNvCxnSpPr>
              <p:nvPr/>
            </p:nvCxnSpPr>
            <p:spPr>
              <a:xfrm flipV="1">
                <a:off x="6017192" y="4737013"/>
                <a:ext cx="1" cy="610266"/>
              </a:xfrm>
              <a:prstGeom prst="straightConnector1">
                <a:avLst/>
              </a:prstGeom>
              <a:ln w="38100">
                <a:solidFill>
                  <a:srgbClr val="FFFF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196315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248FD-4897-1770-CD8C-FD498044C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CFCD7258-DB74-4475-B9E7-D53954913499}"/>
              </a:ext>
            </a:extLst>
          </p:cNvPr>
          <p:cNvGrpSpPr/>
          <p:nvPr/>
        </p:nvGrpSpPr>
        <p:grpSpPr>
          <a:xfrm>
            <a:off x="584946" y="378196"/>
            <a:ext cx="10287000" cy="5922598"/>
            <a:chOff x="813546" y="465602"/>
            <a:chExt cx="10287000" cy="592259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CEC7FEA-B8D6-4554-8DBE-01EF2632A502}"/>
                </a:ext>
              </a:extLst>
            </p:cNvPr>
            <p:cNvSpPr/>
            <p:nvPr/>
          </p:nvSpPr>
          <p:spPr>
            <a:xfrm>
              <a:off x="813546" y="465602"/>
              <a:ext cx="2856872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5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Practice: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BAE2F2F-0ECC-4897-BE37-527152C151A3}"/>
                </a:ext>
              </a:extLst>
            </p:cNvPr>
            <p:cNvSpPr txBox="1"/>
            <p:nvPr/>
          </p:nvSpPr>
          <p:spPr>
            <a:xfrm>
              <a:off x="813546" y="1579959"/>
              <a:ext cx="740458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2400"/>
                </a:spcAft>
              </a:pPr>
              <a:r>
                <a:rPr lang="en-US" sz="2800" dirty="0"/>
                <a:t>Convert these JSX into </a:t>
              </a:r>
              <a:r>
                <a:rPr lang="en-US" sz="2800" dirty="0" err="1"/>
                <a:t>createElement</a:t>
              </a:r>
              <a:r>
                <a:rPr lang="en-US" sz="2800" dirty="0"/>
                <a:t> syntax:</a:t>
              </a:r>
              <a:endParaRPr lang="en-US" sz="2800" dirty="0">
                <a:latin typeface="Book Antiqua" panose="02040602050305030304" pitchFamily="18" charset="0"/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8299B5F-B775-426E-A01F-E9487EE0ACFB}"/>
                </a:ext>
              </a:extLst>
            </p:cNvPr>
            <p:cNvGrpSpPr/>
            <p:nvPr/>
          </p:nvGrpSpPr>
          <p:grpSpPr>
            <a:xfrm>
              <a:off x="914399" y="2402097"/>
              <a:ext cx="10186147" cy="3986103"/>
              <a:chOff x="692523" y="1938174"/>
              <a:chExt cx="10186147" cy="3986103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CF1B9C2D-901A-4172-AD51-2AE5F21D09C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305" t="50000" r="7463" b="30680"/>
              <a:stretch/>
            </p:blipFill>
            <p:spPr>
              <a:xfrm>
                <a:off x="692523" y="5338079"/>
                <a:ext cx="9903758" cy="586198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8DF7A9A5-04B3-4B63-9AC6-BA60F19ED9C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343" t="50174" r="8496" b="31177"/>
              <a:stretch/>
            </p:blipFill>
            <p:spPr>
              <a:xfrm>
                <a:off x="692523" y="4440678"/>
                <a:ext cx="9198910" cy="586198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C8DFB9E1-2F1B-4662-BE85-8FF6F6F1012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92" t="48991" r="6360" b="31138"/>
              <a:stretch/>
            </p:blipFill>
            <p:spPr>
              <a:xfrm>
                <a:off x="692523" y="3606254"/>
                <a:ext cx="10186147" cy="523221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5BC04EE2-3A43-4B9B-B744-1C98FEA4FC5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411" t="51045" r="8785" b="32309"/>
              <a:stretch/>
            </p:blipFill>
            <p:spPr>
              <a:xfrm>
                <a:off x="692523" y="2771831"/>
                <a:ext cx="9157448" cy="523220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0091DDF0-A9FE-4B30-97C6-DC4E836AECA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054" t="51502" r="12512" b="32005"/>
              <a:stretch/>
            </p:blipFill>
            <p:spPr>
              <a:xfrm>
                <a:off x="692523" y="1938174"/>
                <a:ext cx="6118412" cy="518417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042540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248FD-4897-1770-CD8C-FD498044C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412F2C7F-1BC5-40B5-8B0F-2F513A5B7BBA}"/>
              </a:ext>
            </a:extLst>
          </p:cNvPr>
          <p:cNvGrpSpPr/>
          <p:nvPr/>
        </p:nvGrpSpPr>
        <p:grpSpPr>
          <a:xfrm>
            <a:off x="973791" y="1416036"/>
            <a:ext cx="10002755" cy="4025928"/>
            <a:chOff x="966916" y="1460472"/>
            <a:chExt cx="10002755" cy="402592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E09E1F2-6DEF-407F-A983-5F3070427BA5}"/>
                </a:ext>
              </a:extLst>
            </p:cNvPr>
            <p:cNvGrpSpPr/>
            <p:nvPr/>
          </p:nvGrpSpPr>
          <p:grpSpPr>
            <a:xfrm>
              <a:off x="966916" y="1460472"/>
              <a:ext cx="6252675" cy="4025928"/>
              <a:chOff x="960343" y="374890"/>
              <a:chExt cx="6252675" cy="4025928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3E860C53-6798-4D6C-84AD-DDA465CDFC7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348" t="32915" r="9503" b="19370"/>
              <a:stretch/>
            </p:blipFill>
            <p:spPr>
              <a:xfrm>
                <a:off x="960343" y="2614947"/>
                <a:ext cx="6252675" cy="1785871"/>
              </a:xfrm>
              <a:prstGeom prst="rect">
                <a:avLst/>
              </a:prstGeom>
            </p:spPr>
          </p:pic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9F7CCE22-C923-4B01-AB69-FE0C4FAD714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502" t="33622" r="14883" b="21150"/>
              <a:stretch/>
            </p:blipFill>
            <p:spPr>
              <a:xfrm>
                <a:off x="960343" y="374890"/>
                <a:ext cx="3482590" cy="1826045"/>
              </a:xfrm>
              <a:prstGeom prst="rect">
                <a:avLst/>
              </a:prstGeom>
            </p:spPr>
          </p:pic>
        </p:grp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EEADCFC-AB1E-418D-A405-55F45D80B23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86" t="23920" r="15655" b="13558"/>
            <a:stretch/>
          </p:blipFill>
          <p:spPr>
            <a:xfrm>
              <a:off x="7487081" y="1460472"/>
              <a:ext cx="3482590" cy="40259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04224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9DA63-E499-86FF-4BC3-2FE563E3E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BDC3546-C4DA-4EE8-8BC5-36F8AABDCDE5}"/>
              </a:ext>
            </a:extLst>
          </p:cNvPr>
          <p:cNvGrpSpPr/>
          <p:nvPr/>
        </p:nvGrpSpPr>
        <p:grpSpPr>
          <a:xfrm>
            <a:off x="863860" y="667445"/>
            <a:ext cx="9866893" cy="5375192"/>
            <a:chOff x="695772" y="335845"/>
            <a:chExt cx="9866893" cy="537519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1983009-98F9-05C5-1E66-A4DE60117ADC}"/>
                </a:ext>
              </a:extLst>
            </p:cNvPr>
            <p:cNvSpPr txBox="1"/>
            <p:nvPr/>
          </p:nvSpPr>
          <p:spPr>
            <a:xfrm>
              <a:off x="695772" y="1494498"/>
              <a:ext cx="9866893" cy="42165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14350" indent="-514350">
                <a:spcAft>
                  <a:spcPts val="3000"/>
                </a:spcAft>
                <a:buFont typeface="+mj-lt"/>
                <a:buAutoNum type="arabicPeriod"/>
              </a:pPr>
              <a:r>
                <a:rPr lang="en-US" sz="2400" dirty="0"/>
                <a:t>Must return single parent element. Wrap with div (&lt;div&gt;&lt;/div&gt;) or </a:t>
              </a:r>
              <a:r>
                <a:rPr lang="en-US" sz="2400" dirty="0">
                  <a:solidFill>
                    <a:srgbClr val="FFFF00"/>
                  </a:solidFill>
                </a:rPr>
                <a:t>fragments</a:t>
              </a:r>
              <a:r>
                <a:rPr lang="en-US" sz="2400" dirty="0"/>
                <a:t> (</a:t>
              </a:r>
              <a:r>
                <a:rPr lang="en-US" sz="2400" dirty="0">
                  <a:solidFill>
                    <a:srgbClr val="FFFF00"/>
                  </a:solidFill>
                </a:rPr>
                <a:t>&lt;&gt;&lt;/&gt;</a:t>
              </a:r>
              <a:r>
                <a:rPr lang="en-US" sz="2400" dirty="0"/>
                <a:t>)</a:t>
              </a:r>
            </a:p>
            <a:p>
              <a:pPr marL="514350" indent="-514350">
                <a:spcAft>
                  <a:spcPts val="3000"/>
                </a:spcAft>
                <a:buFont typeface="+mj-lt"/>
                <a:buAutoNum type="arabicPeriod"/>
              </a:pPr>
              <a:r>
                <a:rPr lang="en-US" sz="2400" dirty="0">
                  <a:latin typeface="Book Antiqua" panose="02040602050305030304" pitchFamily="18" charset="0"/>
                </a:rPr>
                <a:t>Use “</a:t>
              </a:r>
              <a:r>
                <a:rPr lang="en-US" sz="2400" dirty="0" err="1">
                  <a:solidFill>
                    <a:srgbClr val="FFFF00"/>
                  </a:solidFill>
                  <a:latin typeface="Book Antiqua" panose="02040602050305030304" pitchFamily="18" charset="0"/>
                </a:rPr>
                <a:t>className</a:t>
              </a:r>
              <a:r>
                <a:rPr lang="en-US" sz="2400" dirty="0">
                  <a:latin typeface="Book Antiqua" panose="02040602050305030304" pitchFamily="18" charset="0"/>
                </a:rPr>
                <a:t>” and “</a:t>
              </a:r>
              <a:r>
                <a:rPr lang="en-US" sz="2400" dirty="0" err="1">
                  <a:solidFill>
                    <a:srgbClr val="FFFF00"/>
                  </a:solidFill>
                  <a:latin typeface="Book Antiqua" panose="02040602050305030304" pitchFamily="18" charset="0"/>
                </a:rPr>
                <a:t>htmlFor</a:t>
              </a:r>
              <a:r>
                <a:rPr lang="en-US" sz="2400" dirty="0">
                  <a:latin typeface="Book Antiqua" panose="02040602050305030304" pitchFamily="18" charset="0"/>
                </a:rPr>
                <a:t>” props instead of “</a:t>
              </a:r>
              <a:r>
                <a:rPr lang="en-US" sz="2400" dirty="0">
                  <a:solidFill>
                    <a:srgbClr val="FFFF00"/>
                  </a:solidFill>
                  <a:latin typeface="Book Antiqua" panose="02040602050305030304" pitchFamily="18" charset="0"/>
                </a:rPr>
                <a:t>class</a:t>
              </a:r>
              <a:r>
                <a:rPr lang="en-US" sz="2400" dirty="0">
                  <a:latin typeface="Book Antiqua" panose="02040602050305030304" pitchFamily="18" charset="0"/>
                </a:rPr>
                <a:t>” and “</a:t>
              </a:r>
              <a:r>
                <a:rPr lang="en-US" sz="2400" dirty="0">
                  <a:solidFill>
                    <a:srgbClr val="FFFF00"/>
                  </a:solidFill>
                  <a:latin typeface="Book Antiqua" panose="02040602050305030304" pitchFamily="18" charset="0"/>
                </a:rPr>
                <a:t>for</a:t>
              </a:r>
              <a:r>
                <a:rPr lang="en-US" sz="2400" dirty="0">
                  <a:latin typeface="Book Antiqua" panose="02040602050305030304" pitchFamily="18" charset="0"/>
                </a:rPr>
                <a:t>” attribute. (class &amp; for are reserved keywords in JS)</a:t>
              </a:r>
            </a:p>
            <a:p>
              <a:pPr marL="514350" indent="-514350">
                <a:spcAft>
                  <a:spcPts val="3000"/>
                </a:spcAft>
                <a:buFont typeface="+mj-lt"/>
                <a:buAutoNum type="arabicPeriod"/>
              </a:pPr>
              <a:r>
                <a:rPr lang="en-US" sz="2400" dirty="0">
                  <a:solidFill>
                    <a:srgbClr val="FFFF00"/>
                  </a:solidFill>
                  <a:latin typeface="Book Antiqua" panose="02040602050305030304" pitchFamily="18" charset="0"/>
                </a:rPr>
                <a:t>Self-closing tags </a:t>
              </a:r>
              <a:r>
                <a:rPr lang="en-US" sz="2400" dirty="0">
                  <a:latin typeface="Book Antiqua" panose="02040602050305030304" pitchFamily="18" charset="0"/>
                </a:rPr>
                <a:t>are used for elements without children.</a:t>
              </a:r>
            </a:p>
            <a:p>
              <a:pPr marL="514350" indent="-514350">
                <a:spcAft>
                  <a:spcPts val="3000"/>
                </a:spcAft>
                <a:buFont typeface="+mj-lt"/>
                <a:buAutoNum type="arabicPeriod"/>
              </a:pPr>
              <a:r>
                <a:rPr lang="en-US" sz="2400" dirty="0">
                  <a:latin typeface="Book Antiqua" panose="02040602050305030304" pitchFamily="18" charset="0"/>
                </a:rPr>
                <a:t>Cannot use if-else directly — use ternary or logical &amp;&amp;</a:t>
              </a:r>
            </a:p>
            <a:p>
              <a:pPr marL="514350" indent="-514350">
                <a:spcAft>
                  <a:spcPts val="3000"/>
                </a:spcAft>
                <a:buFont typeface="+mj-lt"/>
                <a:buAutoNum type="arabicPeriod"/>
              </a:pPr>
              <a:r>
                <a:rPr lang="en-US" sz="2400" dirty="0">
                  <a:latin typeface="Book Antiqua" panose="02040602050305030304" pitchFamily="18" charset="0"/>
                </a:rPr>
                <a:t>JSX supports only expressions inside {} – not statements.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8A677B4-6902-4775-A5ED-DB52C5FB523E}"/>
                </a:ext>
              </a:extLst>
            </p:cNvPr>
            <p:cNvSpPr/>
            <p:nvPr/>
          </p:nvSpPr>
          <p:spPr>
            <a:xfrm>
              <a:off x="695772" y="335845"/>
              <a:ext cx="310052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5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JSX Rules: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15138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lk Glass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493</TotalTime>
  <Words>464</Words>
  <Application>Microsoft Office PowerPoint</Application>
  <PresentationFormat>Widescreen</PresentationFormat>
  <Paragraphs>64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Berlin Sans FB Demi</vt:lpstr>
      <vt:lpstr>Book Antiqua</vt:lpstr>
      <vt:lpstr>Calibri</vt:lpstr>
      <vt:lpstr>Calisto MT</vt:lpstr>
      <vt:lpstr>Consolas</vt:lpstr>
      <vt:lpstr>Wingdings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Manas Kumar Lal</dc:creator>
  <cp:lastModifiedBy>Manas Kumar Lal</cp:lastModifiedBy>
  <cp:revision>99</cp:revision>
  <dcterms:created xsi:type="dcterms:W3CDTF">2025-07-03T20:58:50Z</dcterms:created>
  <dcterms:modified xsi:type="dcterms:W3CDTF">2025-08-06T15:23:02Z</dcterms:modified>
</cp:coreProperties>
</file>