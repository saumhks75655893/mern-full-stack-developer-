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61" r:id="rId3"/>
    <p:sldId id="262" r:id="rId4"/>
    <p:sldId id="263" r:id="rId5"/>
    <p:sldId id="264" r:id="rId6"/>
    <p:sldId id="265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79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16-07-2025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1803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16-07-2025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78298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16-07-2025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3940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16-07-2025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7616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16-07-2025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35537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16-07-2025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6300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16-07-2025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5632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16-07-2025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12129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16-07-2025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6015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16-07-2025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3591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16-07-2025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71852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16-07-2025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705299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16-07-2025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88816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16-07-2025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02172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16-07-2025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76548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16-07-2025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94295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16-07-2025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59197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14170C16-CB02-44E1-8AF7-8DA3690E2582}" type="datetimeFigureOut">
              <a:rPr lang="en-IN" smtClean="0"/>
              <a:t>16-07-2025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001788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21A88-F58E-40FA-B67B-00C291E48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9AB3974-99A2-54F1-B67C-B9737230E3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514" y="430580"/>
            <a:ext cx="4269243" cy="599683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8CE5903-A156-FCE2-A560-3DCE80A52B50}"/>
              </a:ext>
            </a:extLst>
          </p:cNvPr>
          <p:cNvSpPr/>
          <p:nvPr/>
        </p:nvSpPr>
        <p:spPr>
          <a:xfrm>
            <a:off x="6235798" y="1516163"/>
            <a:ext cx="4001358" cy="34163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threePt" dir="t"/>
            </a:scene3d>
            <a:sp3d extrusionH="57150">
              <a:bevelT w="57150" h="38100" prst="artDeco"/>
            </a:sp3d>
          </a:bodyPr>
          <a:lstStyle/>
          <a:p>
            <a:pPr algn="ctr"/>
            <a:r>
              <a:rPr lang="en-US" sz="72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Berlin Sans FB Demi" panose="020E0802020502020306" pitchFamily="34" charset="0"/>
              </a:rPr>
              <a:t>📂 Folder Structure</a:t>
            </a:r>
          </a:p>
        </p:txBody>
      </p:sp>
    </p:spTree>
    <p:extLst>
      <p:ext uri="{BB962C8B-B14F-4D97-AF65-F5344CB8AC3E}">
        <p14:creationId xmlns:p14="http://schemas.microsoft.com/office/powerpoint/2010/main" val="20933416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AFB9EE-854D-0E6C-2680-C6379C3C5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017CFB9A-2C43-B459-46FC-704389D46D0F}"/>
              </a:ext>
            </a:extLst>
          </p:cNvPr>
          <p:cNvGrpSpPr/>
          <p:nvPr/>
        </p:nvGrpSpPr>
        <p:grpSpPr>
          <a:xfrm>
            <a:off x="873444" y="946583"/>
            <a:ext cx="9081829" cy="4841080"/>
            <a:chOff x="722189" y="854215"/>
            <a:chExt cx="9081829" cy="4841080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5B8C440A-C08A-32AB-6917-95CFF0F92C41}"/>
                </a:ext>
              </a:extLst>
            </p:cNvPr>
            <p:cNvGrpSpPr/>
            <p:nvPr/>
          </p:nvGrpSpPr>
          <p:grpSpPr>
            <a:xfrm>
              <a:off x="722189" y="854215"/>
              <a:ext cx="9081829" cy="1970484"/>
              <a:chOff x="722189" y="854215"/>
              <a:chExt cx="9081829" cy="1970484"/>
            </a:xfrm>
          </p:grpSpPr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4835C52-3A43-7A3D-5554-32DC627FCC23}"/>
                  </a:ext>
                </a:extLst>
              </p:cNvPr>
              <p:cNvSpPr txBox="1"/>
              <p:nvPr/>
            </p:nvSpPr>
            <p:spPr>
              <a:xfrm>
                <a:off x="722189" y="1593593"/>
                <a:ext cx="9081829" cy="12311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spcAft>
                    <a:spcPts val="1200"/>
                  </a:spcAft>
                  <a:buFont typeface="Wingdings" panose="05000000000000000000" pitchFamily="2" charset="2"/>
                  <a:buChar char="q"/>
                </a:pPr>
                <a:r>
                  <a:rPr lang="en-US" dirty="0">
                    <a:latin typeface="Book Antiqua" panose="02040602050305030304" pitchFamily="18" charset="0"/>
                  </a:rPr>
                  <a:t>Purpose: This folder contains all the dependencies and packages your project needs.</a:t>
                </a:r>
              </a:p>
              <a:p>
                <a:pPr marL="342900" indent="-342900">
                  <a:spcAft>
                    <a:spcPts val="1200"/>
                  </a:spcAft>
                  <a:buFont typeface="Wingdings" panose="05000000000000000000" pitchFamily="2" charset="2"/>
                  <a:buChar char="q"/>
                </a:pPr>
                <a:r>
                  <a:rPr lang="en-US" dirty="0">
                    <a:latin typeface="Book Antiqua" panose="02040602050305030304" pitchFamily="18" charset="0"/>
                  </a:rPr>
                  <a:t>Generated by: </a:t>
                </a:r>
                <a:r>
                  <a:rPr lang="en-US" dirty="0" err="1">
                    <a:latin typeface="Book Antiqua" panose="02040602050305030304" pitchFamily="18" charset="0"/>
                  </a:rPr>
                  <a:t>npm</a:t>
                </a:r>
                <a:r>
                  <a:rPr lang="en-US" dirty="0">
                    <a:latin typeface="Book Antiqua" panose="02040602050305030304" pitchFamily="18" charset="0"/>
                  </a:rPr>
                  <a:t> install</a:t>
                </a:r>
              </a:p>
              <a:p>
                <a:pPr marL="342900" indent="-342900">
                  <a:spcAft>
                    <a:spcPts val="1200"/>
                  </a:spcAft>
                  <a:buFont typeface="Wingdings" panose="05000000000000000000" pitchFamily="2" charset="2"/>
                  <a:buChar char="q"/>
                </a:pPr>
                <a:r>
                  <a:rPr lang="en-US" dirty="0">
                    <a:latin typeface="Book Antiqua" panose="02040602050305030304" pitchFamily="18" charset="0"/>
                  </a:rPr>
                  <a:t>Tip: Don’t touch this manually; it’s auto-managed. It's excluded using .</a:t>
                </a:r>
                <a:r>
                  <a:rPr lang="en-US" dirty="0" err="1">
                    <a:latin typeface="Book Antiqua" panose="02040602050305030304" pitchFamily="18" charset="0"/>
                  </a:rPr>
                  <a:t>gitignore</a:t>
                </a:r>
                <a:r>
                  <a:rPr lang="en-US" dirty="0">
                    <a:latin typeface="Book Antiqua" panose="02040602050305030304" pitchFamily="18" charset="0"/>
                  </a:rPr>
                  <a:t>.</a:t>
                </a:r>
              </a:p>
            </p:txBody>
          </p:sp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72932001-34BB-9A82-3986-0464C4D9BC8C}"/>
                  </a:ext>
                </a:extLst>
              </p:cNvPr>
              <p:cNvSpPr/>
              <p:nvPr/>
            </p:nvSpPr>
            <p:spPr>
              <a:xfrm>
                <a:off x="722189" y="854215"/>
                <a:ext cx="3858750" cy="584775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  <a:scene3d>
                  <a:camera prst="orthographicFront"/>
                  <a:lightRig rig="threePt" dir="t"/>
                </a:scene3d>
                <a:sp3d extrusionH="57150">
                  <a:bevelT w="57150" h="38100" prst="artDeco"/>
                </a:sp3d>
              </a:bodyPr>
              <a:lstStyle/>
              <a:p>
                <a:r>
                  <a:rPr lang="en-US" sz="3200" b="1" dirty="0">
                    <a:ln w="9525">
                      <a:solidFill>
                        <a:schemeClr val="bg1"/>
                      </a:solidFill>
                      <a:prstDash val="solid"/>
                    </a:ln>
                    <a:effectLst>
                      <a:outerShdw blurRad="12700" dist="38100" dir="2700000" algn="tl" rotWithShape="0">
                        <a:schemeClr val="bg1">
                          <a:lumMod val="50000"/>
                        </a:schemeClr>
                      </a:outerShdw>
                    </a:effectLst>
                    <a:latin typeface="Berlin Sans FB Demi" panose="020E0802020502020306" pitchFamily="34" charset="0"/>
                  </a:rPr>
                  <a:t>1. Node Modules 📂:</a:t>
                </a: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1CD46F01-BE31-4261-5145-804B3AFDB8E2}"/>
                </a:ext>
              </a:extLst>
            </p:cNvPr>
            <p:cNvGrpSpPr/>
            <p:nvPr/>
          </p:nvGrpSpPr>
          <p:grpSpPr>
            <a:xfrm>
              <a:off x="722189" y="3293924"/>
              <a:ext cx="8222431" cy="2401371"/>
              <a:chOff x="722189" y="3293924"/>
              <a:chExt cx="8222431" cy="2401371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13966B93-E84F-655A-B498-C2B0FE1DD831}"/>
                  </a:ext>
                </a:extLst>
              </p:cNvPr>
              <p:cNvSpPr/>
              <p:nvPr/>
            </p:nvSpPr>
            <p:spPr>
              <a:xfrm>
                <a:off x="722189" y="3293924"/>
                <a:ext cx="2513830" cy="584775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  <a:scene3d>
                  <a:camera prst="orthographicFront"/>
                  <a:lightRig rig="threePt" dir="t"/>
                </a:scene3d>
                <a:sp3d extrusionH="57150">
                  <a:bevelT w="57150" h="38100" prst="artDeco"/>
                </a:sp3d>
              </a:bodyPr>
              <a:lstStyle/>
              <a:p>
                <a:r>
                  <a:rPr lang="en-US" sz="3200" b="1" dirty="0">
                    <a:ln w="9525">
                      <a:solidFill>
                        <a:schemeClr val="bg1"/>
                      </a:solidFill>
                      <a:prstDash val="solid"/>
                    </a:ln>
                    <a:effectLst>
                      <a:outerShdw blurRad="12700" dist="38100" dir="2700000" algn="tl" rotWithShape="0">
                        <a:schemeClr val="bg1">
                          <a:lumMod val="50000"/>
                        </a:schemeClr>
                      </a:outerShdw>
                    </a:effectLst>
                    <a:latin typeface="Berlin Sans FB Demi" panose="020E0802020502020306" pitchFamily="34" charset="0"/>
                  </a:rPr>
                  <a:t>2. Public 📂:</a:t>
                </a: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AA07411-70E0-54B8-A15A-033AED7E241D}"/>
                  </a:ext>
                </a:extLst>
              </p:cNvPr>
              <p:cNvSpPr txBox="1"/>
              <p:nvPr/>
            </p:nvSpPr>
            <p:spPr>
              <a:xfrm>
                <a:off x="722189" y="4033302"/>
                <a:ext cx="8222431" cy="16619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spcAft>
                    <a:spcPts val="1200"/>
                  </a:spcAft>
                  <a:buFont typeface="Wingdings" panose="05000000000000000000" pitchFamily="2" charset="2"/>
                  <a:buChar char="q"/>
                </a:pPr>
                <a:r>
                  <a:rPr lang="en-US" dirty="0">
                    <a:latin typeface="Book Antiqua" panose="02040602050305030304" pitchFamily="18" charset="0"/>
                  </a:rPr>
                  <a:t>Purpose: Contains static files that do not go through the Vite build process.</a:t>
                </a:r>
              </a:p>
              <a:p>
                <a:pPr marL="342900" indent="-342900">
                  <a:spcAft>
                    <a:spcPts val="1200"/>
                  </a:spcAft>
                  <a:buFont typeface="Wingdings" panose="05000000000000000000" pitchFamily="2" charset="2"/>
                  <a:buChar char="q"/>
                </a:pPr>
                <a:r>
                  <a:rPr lang="en-US" dirty="0">
                    <a:latin typeface="Book Antiqua" panose="02040602050305030304" pitchFamily="18" charset="0"/>
                  </a:rPr>
                  <a:t>Example: </a:t>
                </a:r>
                <a:r>
                  <a:rPr lang="en-US" dirty="0" err="1">
                    <a:latin typeface="Book Antiqua" panose="02040602050305030304" pitchFamily="18" charset="0"/>
                  </a:rPr>
                  <a:t>vite.svg</a:t>
                </a:r>
                <a:r>
                  <a:rPr lang="en-US" dirty="0">
                    <a:latin typeface="Book Antiqua" panose="02040602050305030304" pitchFamily="18" charset="0"/>
                  </a:rPr>
                  <a:t> — a default logo provided by Vite.</a:t>
                </a:r>
              </a:p>
              <a:p>
                <a:pPr marL="342900" indent="-342900">
                  <a:spcAft>
                    <a:spcPts val="1200"/>
                  </a:spcAft>
                  <a:buFont typeface="Wingdings" panose="05000000000000000000" pitchFamily="2" charset="2"/>
                  <a:buChar char="q"/>
                </a:pPr>
                <a:r>
                  <a:rPr lang="en-US" dirty="0">
                    <a:latin typeface="Book Antiqua" panose="02040602050305030304" pitchFamily="18" charset="0"/>
                  </a:rPr>
                  <a:t>Use Case: Place public assets like logos, favicon, etc. here.</a:t>
                </a:r>
              </a:p>
              <a:p>
                <a:pPr marL="342900" indent="-342900">
                  <a:spcAft>
                    <a:spcPts val="1200"/>
                  </a:spcAft>
                  <a:buFont typeface="Wingdings" panose="05000000000000000000" pitchFamily="2" charset="2"/>
                  <a:buChar char="q"/>
                </a:pPr>
                <a:r>
                  <a:rPr lang="en-US" dirty="0">
                    <a:latin typeface="Book Antiqua" panose="02040602050305030304" pitchFamily="18" charset="0"/>
                  </a:rPr>
                  <a:t>Access: Use them with /</a:t>
                </a:r>
                <a:r>
                  <a:rPr lang="en-US" dirty="0" err="1">
                    <a:latin typeface="Book Antiqua" panose="02040602050305030304" pitchFamily="18" charset="0"/>
                  </a:rPr>
                  <a:t>vite.svg</a:t>
                </a:r>
                <a:r>
                  <a:rPr lang="en-US" dirty="0">
                    <a:latin typeface="Book Antiqua" panose="02040602050305030304" pitchFamily="18" charset="0"/>
                  </a:rPr>
                  <a:t> in your code.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2815061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2FDBD8-FBB0-43AB-1B1A-8FEF9561C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5939427-00BE-1A73-2A9A-F54B86B15A4C}"/>
              </a:ext>
            </a:extLst>
          </p:cNvPr>
          <p:cNvGrpSpPr/>
          <p:nvPr/>
        </p:nvGrpSpPr>
        <p:grpSpPr>
          <a:xfrm>
            <a:off x="900945" y="1150454"/>
            <a:ext cx="7844295" cy="4309586"/>
            <a:chOff x="722189" y="854215"/>
            <a:chExt cx="7844295" cy="4309586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2B19B52C-D325-5C4F-0EF2-90A6DFF8BCDD}"/>
                </a:ext>
              </a:extLst>
            </p:cNvPr>
            <p:cNvSpPr txBox="1"/>
            <p:nvPr/>
          </p:nvSpPr>
          <p:spPr>
            <a:xfrm>
              <a:off x="722190" y="1593593"/>
              <a:ext cx="7844294" cy="35702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2400"/>
                </a:spcAft>
              </a:pPr>
              <a:r>
                <a:rPr lang="en-US" dirty="0">
                  <a:latin typeface="Book Antiqua" panose="02040602050305030304" pitchFamily="18" charset="0"/>
                </a:rPr>
                <a:t>This is the main folder where your React application lives.</a:t>
              </a:r>
            </a:p>
            <a:p>
              <a:pPr marL="714375" indent="-357188">
                <a:spcAft>
                  <a:spcPts val="2400"/>
                </a:spcAft>
                <a:buFont typeface="Wingdings" panose="05000000000000000000" pitchFamily="2" charset="2"/>
                <a:buChar char="q"/>
              </a:pPr>
              <a:r>
                <a:rPr lang="fr-FR" dirty="0">
                  <a:solidFill>
                    <a:srgbClr val="FFFF00"/>
                  </a:solidFill>
                  <a:latin typeface="Book Antiqua" panose="02040602050305030304" pitchFamily="18" charset="0"/>
                </a:rPr>
                <a:t>Assets </a:t>
              </a:r>
              <a:r>
                <a:rPr lang="en-US" dirty="0">
                  <a:solidFill>
                    <a:srgbClr val="FFFF00"/>
                  </a:solidFill>
                  <a:latin typeface="Book Antiqua" panose="02040602050305030304" pitchFamily="18" charset="0"/>
                </a:rPr>
                <a:t>📂</a:t>
              </a:r>
              <a:r>
                <a:rPr lang="fr-FR" dirty="0">
                  <a:solidFill>
                    <a:srgbClr val="FFFF00"/>
                  </a:solidFill>
                  <a:latin typeface="Book Antiqua" panose="02040602050305030304" pitchFamily="18" charset="0"/>
                </a:rPr>
                <a:t>: </a:t>
              </a:r>
              <a:r>
                <a:rPr lang="fr-FR" dirty="0">
                  <a:latin typeface="Book Antiqua" panose="02040602050305030304" pitchFamily="18" charset="0"/>
                </a:rPr>
                <a:t>Stores images, logos, </a:t>
              </a:r>
              <a:r>
                <a:rPr lang="fr-FR" dirty="0" err="1">
                  <a:latin typeface="Book Antiqua" panose="02040602050305030304" pitchFamily="18" charset="0"/>
                </a:rPr>
                <a:t>icons</a:t>
              </a:r>
              <a:r>
                <a:rPr lang="fr-FR" dirty="0">
                  <a:latin typeface="Book Antiqua" panose="02040602050305030304" pitchFamily="18" charset="0"/>
                </a:rPr>
                <a:t>, etc.</a:t>
              </a:r>
            </a:p>
            <a:p>
              <a:pPr marL="714375" indent="-357188">
                <a:spcAft>
                  <a:spcPts val="2400"/>
                </a:spcAft>
                <a:buFont typeface="Wingdings" panose="05000000000000000000" pitchFamily="2" charset="2"/>
                <a:buChar char="q"/>
              </a:pPr>
              <a:r>
                <a:rPr lang="en-US" dirty="0" err="1">
                  <a:solidFill>
                    <a:srgbClr val="FFFF00"/>
                  </a:solidFill>
                  <a:latin typeface="Book Antiqua" panose="02040602050305030304" pitchFamily="18" charset="0"/>
                </a:rPr>
                <a:t>App.jsx</a:t>
              </a:r>
              <a:r>
                <a:rPr lang="en-US" dirty="0">
                  <a:solidFill>
                    <a:srgbClr val="FFFF00"/>
                  </a:solidFill>
                  <a:latin typeface="Book Antiqua" panose="02040602050305030304" pitchFamily="18" charset="0"/>
                </a:rPr>
                <a:t> : </a:t>
              </a:r>
              <a:r>
                <a:rPr lang="en-US" dirty="0">
                  <a:latin typeface="Book Antiqua" panose="02040602050305030304" pitchFamily="18" charset="0"/>
                </a:rPr>
                <a:t>This is the heart of your app, the main component. You write your app’s UI logic here. Used inside: </a:t>
              </a:r>
              <a:r>
                <a:rPr lang="en-US" dirty="0" err="1">
                  <a:latin typeface="Book Antiqua" panose="02040602050305030304" pitchFamily="18" charset="0"/>
                </a:rPr>
                <a:t>main.jsx</a:t>
              </a:r>
              <a:endParaRPr lang="en-US" dirty="0">
                <a:latin typeface="Book Antiqua" panose="02040602050305030304" pitchFamily="18" charset="0"/>
              </a:endParaRPr>
            </a:p>
            <a:p>
              <a:pPr marL="714375" indent="-357188">
                <a:spcAft>
                  <a:spcPts val="2400"/>
                </a:spcAft>
                <a:buFont typeface="Wingdings" panose="05000000000000000000" pitchFamily="2" charset="2"/>
                <a:buChar char="q"/>
              </a:pPr>
              <a:r>
                <a:rPr lang="en-US" dirty="0">
                  <a:solidFill>
                    <a:srgbClr val="FFFF00"/>
                  </a:solidFill>
                  <a:latin typeface="Book Antiqua" panose="02040602050305030304" pitchFamily="18" charset="0"/>
                </a:rPr>
                <a:t>App.css : </a:t>
              </a:r>
              <a:r>
                <a:rPr lang="en-US" dirty="0">
                  <a:latin typeface="Book Antiqua" panose="02040602050305030304" pitchFamily="18" charset="0"/>
                </a:rPr>
                <a:t>Styles for </a:t>
              </a:r>
              <a:r>
                <a:rPr lang="en-US" dirty="0" err="1">
                  <a:latin typeface="Book Antiqua" panose="02040602050305030304" pitchFamily="18" charset="0"/>
                </a:rPr>
                <a:t>App.jsx</a:t>
              </a:r>
              <a:r>
                <a:rPr lang="en-US" dirty="0">
                  <a:latin typeface="Book Antiqua" panose="02040602050305030304" pitchFamily="18" charset="0"/>
                </a:rPr>
                <a:t>. Helps you separate logic and design.</a:t>
              </a:r>
            </a:p>
            <a:p>
              <a:pPr marL="714375" indent="-357188">
                <a:spcAft>
                  <a:spcPts val="2400"/>
                </a:spcAft>
                <a:buFont typeface="Wingdings" panose="05000000000000000000" pitchFamily="2" charset="2"/>
                <a:buChar char="q"/>
              </a:pPr>
              <a:r>
                <a:rPr lang="en-US" dirty="0">
                  <a:solidFill>
                    <a:srgbClr val="FFFF00"/>
                  </a:solidFill>
                  <a:latin typeface="Book Antiqua" panose="02040602050305030304" pitchFamily="18" charset="0"/>
                </a:rPr>
                <a:t>index.css : </a:t>
              </a:r>
              <a:r>
                <a:rPr lang="en-US" dirty="0">
                  <a:latin typeface="Book Antiqua" panose="02040602050305030304" pitchFamily="18" charset="0"/>
                </a:rPr>
                <a:t>Global styles for your whole application.</a:t>
              </a:r>
            </a:p>
            <a:p>
              <a:pPr marL="714375" indent="-357188">
                <a:spcAft>
                  <a:spcPts val="2400"/>
                </a:spcAft>
                <a:buFont typeface="Wingdings" panose="05000000000000000000" pitchFamily="2" charset="2"/>
                <a:buChar char="q"/>
              </a:pPr>
              <a:r>
                <a:rPr lang="en-US" dirty="0" err="1">
                  <a:solidFill>
                    <a:srgbClr val="FFFF00"/>
                  </a:solidFill>
                  <a:latin typeface="Book Antiqua" panose="02040602050305030304" pitchFamily="18" charset="0"/>
                </a:rPr>
                <a:t>main.jsx</a:t>
              </a:r>
              <a:r>
                <a:rPr lang="en-US" dirty="0">
                  <a:solidFill>
                    <a:srgbClr val="FFFF00"/>
                  </a:solidFill>
                  <a:latin typeface="Book Antiqua" panose="02040602050305030304" pitchFamily="18" charset="0"/>
                </a:rPr>
                <a:t> : </a:t>
              </a:r>
              <a:r>
                <a:rPr lang="en-US" dirty="0">
                  <a:latin typeface="Book Antiqua" panose="02040602050305030304" pitchFamily="18" charset="0"/>
                </a:rPr>
                <a:t>Entry point for React app. Renders </a:t>
              </a:r>
              <a:r>
                <a:rPr lang="en-US" dirty="0" err="1">
                  <a:latin typeface="Book Antiqua" panose="02040602050305030304" pitchFamily="18" charset="0"/>
                </a:rPr>
                <a:t>App.jsx</a:t>
              </a:r>
              <a:r>
                <a:rPr lang="en-US" dirty="0">
                  <a:latin typeface="Book Antiqua" panose="02040602050305030304" pitchFamily="18" charset="0"/>
                </a:rPr>
                <a:t> into the DOM.</a:t>
              </a: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33DBA30-4584-E9A2-08CC-46C3E86DF5E5}"/>
                </a:ext>
              </a:extLst>
            </p:cNvPr>
            <p:cNvSpPr/>
            <p:nvPr/>
          </p:nvSpPr>
          <p:spPr>
            <a:xfrm>
              <a:off x="722189" y="854215"/>
              <a:ext cx="3550973" cy="584775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  <a:scene3d>
                <a:camera prst="orthographicFront"/>
                <a:lightRig rig="threePt" dir="t"/>
              </a:scene3d>
              <a:sp3d extrusionH="57150">
                <a:bevelT w="57150" h="38100" prst="artDeco"/>
              </a:sp3d>
            </a:bodyPr>
            <a:lstStyle/>
            <a:p>
              <a:r>
                <a:rPr lang="en-US" sz="3200" b="1" dirty="0">
                  <a:ln w="9525">
                    <a:solidFill>
                      <a:schemeClr val="bg1"/>
                    </a:solidFill>
                    <a:prstDash val="solid"/>
                  </a:ln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  <a:latin typeface="Berlin Sans FB Demi" panose="020E0802020502020306" pitchFamily="34" charset="0"/>
                </a:rPr>
                <a:t>3. </a:t>
              </a:r>
              <a:r>
                <a:rPr lang="en-US" sz="3200" b="1" dirty="0" err="1">
                  <a:ln w="9525">
                    <a:solidFill>
                      <a:schemeClr val="bg1"/>
                    </a:solidFill>
                    <a:prstDash val="solid"/>
                  </a:ln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  <a:latin typeface="Berlin Sans FB Demi" panose="020E0802020502020306" pitchFamily="34" charset="0"/>
                </a:rPr>
                <a:t>Src</a:t>
              </a:r>
              <a:r>
                <a:rPr lang="en-US" sz="3200" b="1" dirty="0">
                  <a:ln w="9525">
                    <a:solidFill>
                      <a:schemeClr val="bg1"/>
                    </a:solidFill>
                    <a:prstDash val="solid"/>
                  </a:ln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  <a:latin typeface="Berlin Sans FB Demi" panose="020E0802020502020306" pitchFamily="34" charset="0"/>
                </a:rPr>
                <a:t> 📂 (Source) :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144696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BB2021-1197-830A-004F-B76114BD9D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B1185A3D-4395-0D4E-85D4-8A50CCED6299}"/>
              </a:ext>
            </a:extLst>
          </p:cNvPr>
          <p:cNvGrpSpPr/>
          <p:nvPr/>
        </p:nvGrpSpPr>
        <p:grpSpPr>
          <a:xfrm>
            <a:off x="909202" y="829481"/>
            <a:ext cx="9169824" cy="4937781"/>
            <a:chOff x="716697" y="1008460"/>
            <a:chExt cx="9169824" cy="4937781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855DFFC0-5695-E9C5-F855-123F4942DC7D}"/>
                </a:ext>
              </a:extLst>
            </p:cNvPr>
            <p:cNvGrpSpPr/>
            <p:nvPr/>
          </p:nvGrpSpPr>
          <p:grpSpPr>
            <a:xfrm>
              <a:off x="716697" y="1008460"/>
              <a:ext cx="9169824" cy="1108710"/>
              <a:chOff x="634194" y="854215"/>
              <a:chExt cx="9169824" cy="1108710"/>
            </a:xfrm>
          </p:grpSpPr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892ABBD-D7BC-EB67-E2C0-2B6BE58A7452}"/>
                  </a:ext>
                </a:extLst>
              </p:cNvPr>
              <p:cNvSpPr txBox="1"/>
              <p:nvPr/>
            </p:nvSpPr>
            <p:spPr>
              <a:xfrm>
                <a:off x="722189" y="1593593"/>
                <a:ext cx="908182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spcAft>
                    <a:spcPts val="1200"/>
                  </a:spcAft>
                  <a:buFont typeface="Wingdings" panose="05000000000000000000" pitchFamily="2" charset="2"/>
                  <a:buChar char="q"/>
                </a:pPr>
                <a:r>
                  <a:rPr lang="en-US" dirty="0">
                    <a:latin typeface="Book Antiqua" panose="02040602050305030304" pitchFamily="18" charset="0"/>
                  </a:rPr>
                  <a:t>Purpose: Tells Git which files/folders to ignore (like </a:t>
                </a:r>
                <a:r>
                  <a:rPr lang="en-US" dirty="0" err="1">
                    <a:latin typeface="Book Antiqua" panose="02040602050305030304" pitchFamily="18" charset="0"/>
                  </a:rPr>
                  <a:t>node_modules</a:t>
                </a:r>
                <a:r>
                  <a:rPr lang="en-US" dirty="0">
                    <a:latin typeface="Book Antiqua" panose="02040602050305030304" pitchFamily="18" charset="0"/>
                  </a:rPr>
                  <a:t>, .env etc.)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C44D677D-0802-1994-C43D-C63C4A928A5D}"/>
                  </a:ext>
                </a:extLst>
              </p:cNvPr>
              <p:cNvSpPr/>
              <p:nvPr/>
            </p:nvSpPr>
            <p:spPr>
              <a:xfrm>
                <a:off x="634194" y="854215"/>
                <a:ext cx="2710999" cy="584775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  <a:scene3d>
                  <a:camera prst="orthographicFront"/>
                  <a:lightRig rig="threePt" dir="t"/>
                </a:scene3d>
                <a:sp3d extrusionH="57150">
                  <a:bevelT w="57150" h="38100" prst="artDeco"/>
                </a:sp3d>
              </a:bodyPr>
              <a:lstStyle/>
              <a:p>
                <a:r>
                  <a:rPr lang="en-US" sz="3200" b="1" dirty="0">
                    <a:ln w="9525">
                      <a:solidFill>
                        <a:schemeClr val="bg1"/>
                      </a:solidFill>
                      <a:prstDash val="solid"/>
                    </a:ln>
                    <a:effectLst>
                      <a:outerShdw blurRad="12700" dist="38100" dir="2700000" algn="tl" rotWithShape="0">
                        <a:schemeClr val="bg1">
                          <a:lumMod val="50000"/>
                        </a:schemeClr>
                      </a:outerShdw>
                    </a:effectLst>
                    <a:latin typeface="Berlin Sans FB Demi" panose="020E0802020502020306" pitchFamily="34" charset="0"/>
                  </a:rPr>
                  <a:t> 4. .</a:t>
                </a:r>
                <a:r>
                  <a:rPr lang="en-US" sz="3200" b="1" dirty="0" err="1">
                    <a:ln w="9525">
                      <a:solidFill>
                        <a:schemeClr val="bg1"/>
                      </a:solidFill>
                      <a:prstDash val="solid"/>
                    </a:ln>
                    <a:effectLst>
                      <a:outerShdw blurRad="12700" dist="38100" dir="2700000" algn="tl" rotWithShape="0">
                        <a:schemeClr val="bg1">
                          <a:lumMod val="50000"/>
                        </a:schemeClr>
                      </a:outerShdw>
                    </a:effectLst>
                    <a:latin typeface="Berlin Sans FB Demi" panose="020E0802020502020306" pitchFamily="34" charset="0"/>
                  </a:rPr>
                  <a:t>gitignore</a:t>
                </a:r>
                <a:r>
                  <a:rPr lang="en-US" sz="3200" b="1" dirty="0">
                    <a:ln w="9525">
                      <a:solidFill>
                        <a:schemeClr val="bg1"/>
                      </a:solidFill>
                      <a:prstDash val="solid"/>
                    </a:ln>
                    <a:effectLst>
                      <a:outerShdw blurRad="12700" dist="38100" dir="2700000" algn="tl" rotWithShape="0">
                        <a:schemeClr val="bg1">
                          <a:lumMod val="50000"/>
                        </a:schemeClr>
                      </a:outerShdw>
                    </a:effectLst>
                    <a:latin typeface="Berlin Sans FB Demi" panose="020E0802020502020306" pitchFamily="34" charset="0"/>
                  </a:rPr>
                  <a:t> :</a:t>
                </a: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CA0506CB-073E-27B9-6124-CDBBA2A9E121}"/>
                </a:ext>
              </a:extLst>
            </p:cNvPr>
            <p:cNvGrpSpPr/>
            <p:nvPr/>
          </p:nvGrpSpPr>
          <p:grpSpPr>
            <a:xfrm>
              <a:off x="804692" y="2492108"/>
              <a:ext cx="8227924" cy="1539597"/>
              <a:chOff x="716696" y="3293924"/>
              <a:chExt cx="8227924" cy="1539597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3B599425-9398-BD8E-A80E-CE66F5759CAA}"/>
                  </a:ext>
                </a:extLst>
              </p:cNvPr>
              <p:cNvSpPr/>
              <p:nvPr/>
            </p:nvSpPr>
            <p:spPr>
              <a:xfrm>
                <a:off x="716696" y="3293924"/>
                <a:ext cx="3376245" cy="584775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  <a:scene3d>
                  <a:camera prst="orthographicFront"/>
                  <a:lightRig rig="threePt" dir="t"/>
                </a:scene3d>
                <a:sp3d extrusionH="57150">
                  <a:bevelT w="57150" h="38100" prst="artDeco"/>
                </a:sp3d>
              </a:bodyPr>
              <a:lstStyle/>
              <a:p>
                <a:pPr algn="ctr"/>
                <a:r>
                  <a:rPr lang="en-US" sz="3200" b="1" dirty="0">
                    <a:ln w="9525">
                      <a:solidFill>
                        <a:schemeClr val="bg1"/>
                      </a:solidFill>
                      <a:prstDash val="solid"/>
                    </a:ln>
                    <a:effectLst>
                      <a:outerShdw blurRad="12700" dist="38100" dir="2700000" algn="tl" rotWithShape="0">
                        <a:schemeClr val="bg1">
                          <a:lumMod val="50000"/>
                        </a:schemeClr>
                      </a:outerShdw>
                    </a:effectLst>
                    <a:latin typeface="Berlin Sans FB Demi" panose="020E0802020502020306" pitchFamily="34" charset="0"/>
                  </a:rPr>
                  <a:t>5. eslint.config.js :</a:t>
                </a: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340ADC8-4479-18A3-CC91-84DDAB2E0212}"/>
                  </a:ext>
                </a:extLst>
              </p:cNvPr>
              <p:cNvSpPr txBox="1"/>
              <p:nvPr/>
            </p:nvSpPr>
            <p:spPr>
              <a:xfrm>
                <a:off x="722189" y="4033302"/>
                <a:ext cx="8222431" cy="8002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spcAft>
                    <a:spcPts val="1200"/>
                  </a:spcAft>
                  <a:buFont typeface="Wingdings" panose="05000000000000000000" pitchFamily="2" charset="2"/>
                  <a:buChar char="q"/>
                </a:pPr>
                <a:r>
                  <a:rPr lang="en-US" dirty="0">
                    <a:latin typeface="Book Antiqua" panose="02040602050305030304" pitchFamily="18" charset="0"/>
                  </a:rPr>
                  <a:t>ESLint helps catch errors and enforce code style.</a:t>
                </a:r>
              </a:p>
              <a:p>
                <a:pPr marL="342900" indent="-342900">
                  <a:spcAft>
                    <a:spcPts val="1200"/>
                  </a:spcAft>
                  <a:buFont typeface="Wingdings" panose="05000000000000000000" pitchFamily="2" charset="2"/>
                  <a:buChar char="q"/>
                </a:pPr>
                <a:r>
                  <a:rPr lang="en-US" dirty="0">
                    <a:latin typeface="Book Antiqua" panose="02040602050305030304" pitchFamily="18" charset="0"/>
                  </a:rPr>
                  <a:t>This config file defines rules and plugins.</a:t>
                </a:r>
              </a:p>
            </p:txBody>
          </p:sp>
        </p:grp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895F87FB-D4C9-A0FE-1FF9-6942E0305011}"/>
                </a:ext>
              </a:extLst>
            </p:cNvPr>
            <p:cNvGrpSpPr/>
            <p:nvPr/>
          </p:nvGrpSpPr>
          <p:grpSpPr>
            <a:xfrm>
              <a:off x="716697" y="4406644"/>
              <a:ext cx="8310426" cy="1539597"/>
              <a:chOff x="634194" y="3293924"/>
              <a:chExt cx="8310426" cy="1539597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CEB1D971-A3C1-AE1C-8566-D564F66A58A0}"/>
                  </a:ext>
                </a:extLst>
              </p:cNvPr>
              <p:cNvSpPr/>
              <p:nvPr/>
            </p:nvSpPr>
            <p:spPr>
              <a:xfrm>
                <a:off x="634194" y="3293924"/>
                <a:ext cx="2989030" cy="584775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>
                <a:spAutoFit/>
                <a:scene3d>
                  <a:camera prst="orthographicFront"/>
                  <a:lightRig rig="threePt" dir="t"/>
                </a:scene3d>
                <a:sp3d extrusionH="57150">
                  <a:bevelT w="57150" h="38100" prst="artDeco"/>
                </a:sp3d>
              </a:bodyPr>
              <a:lstStyle/>
              <a:p>
                <a:r>
                  <a:rPr lang="en-US" sz="3200" b="1" dirty="0">
                    <a:ln w="9525">
                      <a:solidFill>
                        <a:schemeClr val="bg1"/>
                      </a:solidFill>
                      <a:prstDash val="solid"/>
                    </a:ln>
                    <a:effectLst>
                      <a:outerShdw blurRad="12700" dist="38100" dir="2700000" algn="tl" rotWithShape="0">
                        <a:schemeClr val="bg1">
                          <a:lumMod val="50000"/>
                        </a:schemeClr>
                      </a:outerShdw>
                    </a:effectLst>
                    <a:latin typeface="Berlin Sans FB Demi" panose="020E0802020502020306" pitchFamily="34" charset="0"/>
                  </a:rPr>
                  <a:t> 6. index.html :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2942FD7-A6F7-884B-E94C-D256F43F8988}"/>
                  </a:ext>
                </a:extLst>
              </p:cNvPr>
              <p:cNvSpPr txBox="1"/>
              <p:nvPr/>
            </p:nvSpPr>
            <p:spPr>
              <a:xfrm>
                <a:off x="722189" y="4033302"/>
                <a:ext cx="8222431" cy="8002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spcAft>
                    <a:spcPts val="1200"/>
                  </a:spcAft>
                  <a:buFont typeface="Wingdings" panose="05000000000000000000" pitchFamily="2" charset="2"/>
                  <a:buChar char="q"/>
                </a:pPr>
                <a:r>
                  <a:rPr lang="en-US" dirty="0">
                    <a:latin typeface="Book Antiqua" panose="02040602050305030304" pitchFamily="18" charset="0"/>
                  </a:rPr>
                  <a:t>Main HTML file that Vite uses as a template.</a:t>
                </a:r>
              </a:p>
              <a:p>
                <a:pPr marL="342900" indent="-342900">
                  <a:spcAft>
                    <a:spcPts val="1200"/>
                  </a:spcAft>
                  <a:buFont typeface="Wingdings" panose="05000000000000000000" pitchFamily="2" charset="2"/>
                  <a:buChar char="q"/>
                </a:pPr>
                <a:r>
                  <a:rPr lang="en-US" dirty="0">
                    <a:latin typeface="Book Antiqua" panose="02040602050305030304" pitchFamily="18" charset="0"/>
                  </a:rPr>
                  <a:t>Contains: &lt;div id="root"&gt;&lt;/div&gt; where React mounts.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2458458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448C4-82A7-F5EE-7A1D-D4716C4A0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B2BFB057-1DB2-05AF-275A-88D2BED3B5B1}"/>
              </a:ext>
            </a:extLst>
          </p:cNvPr>
          <p:cNvGrpSpPr/>
          <p:nvPr/>
        </p:nvGrpSpPr>
        <p:grpSpPr>
          <a:xfrm>
            <a:off x="1036928" y="900729"/>
            <a:ext cx="8317153" cy="5056541"/>
            <a:chOff x="961301" y="712281"/>
            <a:chExt cx="8317153" cy="5056541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D6614032-ED2D-D9DF-75A1-49DBF2779ABD}"/>
                </a:ext>
              </a:extLst>
            </p:cNvPr>
            <p:cNvGrpSpPr/>
            <p:nvPr/>
          </p:nvGrpSpPr>
          <p:grpSpPr>
            <a:xfrm>
              <a:off x="1056023" y="712281"/>
              <a:ext cx="5039977" cy="2832259"/>
              <a:chOff x="722189" y="854215"/>
              <a:chExt cx="5039977" cy="2832259"/>
            </a:xfrm>
          </p:grpSpPr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EB30D9F-A502-BB31-CC07-E7A8ACF86B6B}"/>
                  </a:ext>
                </a:extLst>
              </p:cNvPr>
              <p:cNvSpPr txBox="1"/>
              <p:nvPr/>
            </p:nvSpPr>
            <p:spPr>
              <a:xfrm>
                <a:off x="722189" y="1593593"/>
                <a:ext cx="5039977" cy="20928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spcAft>
                    <a:spcPts val="1200"/>
                  </a:spcAft>
                  <a:buFont typeface="Wingdings" panose="05000000000000000000" pitchFamily="2" charset="2"/>
                  <a:buChar char="q"/>
                </a:pPr>
                <a:r>
                  <a:rPr lang="en-US" dirty="0">
                    <a:latin typeface="Book Antiqua" panose="02040602050305030304" pitchFamily="18" charset="0"/>
                  </a:rPr>
                  <a:t>Very important: It describes your project.</a:t>
                </a:r>
              </a:p>
              <a:p>
                <a:pPr marL="342900" indent="-342900">
                  <a:spcAft>
                    <a:spcPts val="1200"/>
                  </a:spcAft>
                  <a:buFont typeface="Wingdings" panose="05000000000000000000" pitchFamily="2" charset="2"/>
                  <a:buChar char="q"/>
                </a:pPr>
                <a:r>
                  <a:rPr lang="en-US" dirty="0">
                    <a:latin typeface="Book Antiqua" panose="02040602050305030304" pitchFamily="18" charset="0"/>
                  </a:rPr>
                  <a:t>Contains:</a:t>
                </a:r>
              </a:p>
              <a:p>
                <a:pPr marL="1079500" indent="-342900">
                  <a:spcAft>
                    <a:spcPts val="1200"/>
                  </a:spcAft>
                  <a:buFont typeface="Courier New" panose="02070309020205020404" pitchFamily="49" charset="0"/>
                  <a:buChar char="o"/>
                </a:pPr>
                <a:r>
                  <a:rPr lang="en-US" dirty="0">
                    <a:latin typeface="Book Antiqua" panose="02040602050305030304" pitchFamily="18" charset="0"/>
                  </a:rPr>
                  <a:t>Project name, version</a:t>
                </a:r>
              </a:p>
              <a:p>
                <a:pPr marL="1079500" indent="-342900">
                  <a:spcAft>
                    <a:spcPts val="1200"/>
                  </a:spcAft>
                  <a:buFont typeface="Courier New" panose="02070309020205020404" pitchFamily="49" charset="0"/>
                  <a:buChar char="o"/>
                </a:pPr>
                <a:r>
                  <a:rPr lang="en-US" dirty="0">
                    <a:latin typeface="Book Antiqua" panose="02040602050305030304" pitchFamily="18" charset="0"/>
                  </a:rPr>
                  <a:t>Scripts (dev, build, etc.)</a:t>
                </a:r>
              </a:p>
              <a:p>
                <a:pPr marL="1079500" indent="-342900">
                  <a:spcAft>
                    <a:spcPts val="1200"/>
                  </a:spcAft>
                  <a:buFont typeface="Courier New" panose="02070309020205020404" pitchFamily="49" charset="0"/>
                  <a:buChar char="o"/>
                </a:pPr>
                <a:r>
                  <a:rPr lang="en-US" dirty="0">
                    <a:latin typeface="Book Antiqua" panose="02040602050305030304" pitchFamily="18" charset="0"/>
                  </a:rPr>
                  <a:t>Dependencies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5BF94015-E483-2756-8B90-1650CF5A9171}"/>
                  </a:ext>
                </a:extLst>
              </p:cNvPr>
              <p:cNvSpPr/>
              <p:nvPr/>
            </p:nvSpPr>
            <p:spPr>
              <a:xfrm>
                <a:off x="722189" y="854215"/>
                <a:ext cx="3010761" cy="584775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  <a:scene3d>
                  <a:camera prst="orthographicFront"/>
                  <a:lightRig rig="threePt" dir="t"/>
                </a:scene3d>
                <a:sp3d extrusionH="57150">
                  <a:bevelT w="57150" h="38100" prst="artDeco"/>
                </a:sp3d>
              </a:bodyPr>
              <a:lstStyle/>
              <a:p>
                <a:r>
                  <a:rPr lang="en-US" sz="3200" b="1" dirty="0">
                    <a:ln w="9525">
                      <a:solidFill>
                        <a:schemeClr val="bg1"/>
                      </a:solidFill>
                      <a:prstDash val="solid"/>
                    </a:ln>
                    <a:effectLst>
                      <a:outerShdw blurRad="12700" dist="38100" dir="2700000" algn="tl" rotWithShape="0">
                        <a:schemeClr val="bg1">
                          <a:lumMod val="50000"/>
                        </a:schemeClr>
                      </a:outerShdw>
                    </a:effectLst>
                    <a:latin typeface="Berlin Sans FB Demi" panose="020E0802020502020306" pitchFamily="34" charset="0"/>
                  </a:rPr>
                  <a:t>7. </a:t>
                </a:r>
                <a:r>
                  <a:rPr lang="en-US" sz="3200" b="1" dirty="0" err="1">
                    <a:ln w="9525">
                      <a:solidFill>
                        <a:schemeClr val="bg1"/>
                      </a:solidFill>
                      <a:prstDash val="solid"/>
                    </a:ln>
                    <a:effectLst>
                      <a:outerShdw blurRad="12700" dist="38100" dir="2700000" algn="tl" rotWithShape="0">
                        <a:schemeClr val="bg1">
                          <a:lumMod val="50000"/>
                        </a:schemeClr>
                      </a:outerShdw>
                    </a:effectLst>
                    <a:latin typeface="Berlin Sans FB Demi" panose="020E0802020502020306" pitchFamily="34" charset="0"/>
                  </a:rPr>
                  <a:t>package.json</a:t>
                </a:r>
                <a:endParaRPr lang="en-US" sz="3200" b="1" dirty="0">
                  <a:ln w="9525">
                    <a:solidFill>
                      <a:schemeClr val="bg1"/>
                    </a:solidFill>
                    <a:prstDash val="solid"/>
                  </a:ln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  <a:latin typeface="Berlin Sans FB Demi" panose="020E0802020502020306" pitchFamily="34" charset="0"/>
                </a:endParaRPr>
              </a:p>
            </p:txBody>
          </p:sp>
        </p:grp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296AACFB-7B03-B2AB-C205-0B3E032ED1AF}"/>
                </a:ext>
              </a:extLst>
            </p:cNvPr>
            <p:cNvGrpSpPr/>
            <p:nvPr/>
          </p:nvGrpSpPr>
          <p:grpSpPr>
            <a:xfrm>
              <a:off x="961301" y="4224664"/>
              <a:ext cx="8317153" cy="1544158"/>
              <a:chOff x="627467" y="3440617"/>
              <a:chExt cx="8317153" cy="1544158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F905DFF1-3353-9539-5C97-188A144B99AD}"/>
                  </a:ext>
                </a:extLst>
              </p:cNvPr>
              <p:cNvSpPr/>
              <p:nvPr/>
            </p:nvSpPr>
            <p:spPr>
              <a:xfrm>
                <a:off x="627467" y="3440617"/>
                <a:ext cx="4157811" cy="584775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>
                <a:spAutoFit/>
                <a:scene3d>
                  <a:camera prst="orthographicFront"/>
                  <a:lightRig rig="threePt" dir="t"/>
                </a:scene3d>
                <a:sp3d extrusionH="57150">
                  <a:bevelT w="57150" h="38100" prst="artDeco"/>
                </a:sp3d>
              </a:bodyPr>
              <a:lstStyle/>
              <a:p>
                <a:r>
                  <a:rPr lang="en-US" sz="3200" b="1" dirty="0">
                    <a:ln w="9525">
                      <a:solidFill>
                        <a:schemeClr val="bg1"/>
                      </a:solidFill>
                      <a:prstDash val="solid"/>
                    </a:ln>
                    <a:effectLst>
                      <a:outerShdw blurRad="12700" dist="38100" dir="2700000" algn="tl" rotWithShape="0">
                        <a:schemeClr val="bg1">
                          <a:lumMod val="50000"/>
                        </a:schemeClr>
                      </a:outerShdw>
                    </a:effectLst>
                    <a:latin typeface="Berlin Sans FB Demi" panose="020E0802020502020306" pitchFamily="34" charset="0"/>
                  </a:rPr>
                  <a:t> 8. package-</a:t>
                </a:r>
                <a:r>
                  <a:rPr lang="en-US" sz="3200" b="1" dirty="0" err="1">
                    <a:ln w="9525">
                      <a:solidFill>
                        <a:schemeClr val="bg1"/>
                      </a:solidFill>
                      <a:prstDash val="solid"/>
                    </a:ln>
                    <a:effectLst>
                      <a:outerShdw blurRad="12700" dist="38100" dir="2700000" algn="tl" rotWithShape="0">
                        <a:schemeClr val="bg1">
                          <a:lumMod val="50000"/>
                        </a:schemeClr>
                      </a:outerShdw>
                    </a:effectLst>
                    <a:latin typeface="Berlin Sans FB Demi" panose="020E0802020502020306" pitchFamily="34" charset="0"/>
                  </a:rPr>
                  <a:t>lock.json</a:t>
                </a:r>
                <a:endParaRPr lang="en-US" sz="3200" b="1" dirty="0">
                  <a:ln w="9525">
                    <a:solidFill>
                      <a:schemeClr val="bg1"/>
                    </a:solidFill>
                    <a:prstDash val="solid"/>
                  </a:ln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  <a:latin typeface="Berlin Sans FB Demi" panose="020E0802020502020306" pitchFamily="34" charset="0"/>
                </a:endParaRP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B32E81E-26C5-3C58-1387-70C90DDC7B67}"/>
                  </a:ext>
                </a:extLst>
              </p:cNvPr>
              <p:cNvSpPr txBox="1"/>
              <p:nvPr/>
            </p:nvSpPr>
            <p:spPr>
              <a:xfrm>
                <a:off x="722189" y="4184556"/>
                <a:ext cx="8222431" cy="8002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spcAft>
                    <a:spcPts val="1200"/>
                  </a:spcAft>
                  <a:buFont typeface="Wingdings" panose="05000000000000000000" pitchFamily="2" charset="2"/>
                  <a:buChar char="q"/>
                </a:pPr>
                <a:r>
                  <a:rPr lang="en-US" dirty="0">
                    <a:latin typeface="Book Antiqua" panose="02040602050305030304" pitchFamily="18" charset="0"/>
                  </a:rPr>
                  <a:t>Auto-generated by </a:t>
                </a:r>
                <a:r>
                  <a:rPr lang="en-US" dirty="0" err="1">
                    <a:latin typeface="Book Antiqua" panose="02040602050305030304" pitchFamily="18" charset="0"/>
                  </a:rPr>
                  <a:t>npm</a:t>
                </a:r>
                <a:r>
                  <a:rPr lang="en-US" dirty="0">
                    <a:latin typeface="Book Antiqua" panose="02040602050305030304" pitchFamily="18" charset="0"/>
                  </a:rPr>
                  <a:t>.</a:t>
                </a:r>
              </a:p>
              <a:p>
                <a:pPr marL="342900" indent="-342900">
                  <a:spcAft>
                    <a:spcPts val="1200"/>
                  </a:spcAft>
                  <a:buFont typeface="Wingdings" panose="05000000000000000000" pitchFamily="2" charset="2"/>
                  <a:buChar char="q"/>
                </a:pPr>
                <a:r>
                  <a:rPr lang="en-US" dirty="0">
                    <a:latin typeface="Book Antiqua" panose="02040602050305030304" pitchFamily="18" charset="0"/>
                  </a:rPr>
                  <a:t>Locks exact versions of dependencies to ensure consistency.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650322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E57C32-B1F8-0560-40B1-D9F27DE9D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D3AB8278-6E3D-13ED-F9EB-50F40A76AA07}"/>
              </a:ext>
            </a:extLst>
          </p:cNvPr>
          <p:cNvGrpSpPr/>
          <p:nvPr/>
        </p:nvGrpSpPr>
        <p:grpSpPr>
          <a:xfrm>
            <a:off x="1049148" y="1245848"/>
            <a:ext cx="8222432" cy="3882868"/>
            <a:chOff x="1035397" y="778335"/>
            <a:chExt cx="8222432" cy="3882868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FB427A5B-3756-3CB8-D4C0-1EA699C0F2DE}"/>
                </a:ext>
              </a:extLst>
            </p:cNvPr>
            <p:cNvGrpSpPr/>
            <p:nvPr/>
          </p:nvGrpSpPr>
          <p:grpSpPr>
            <a:xfrm>
              <a:off x="1035398" y="778335"/>
              <a:ext cx="8222431" cy="1544158"/>
              <a:chOff x="722189" y="3440617"/>
              <a:chExt cx="8222431" cy="1544158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EEDD537F-B15A-D0CA-15C6-F49525211AFD}"/>
                  </a:ext>
                </a:extLst>
              </p:cNvPr>
              <p:cNvSpPr/>
              <p:nvPr/>
            </p:nvSpPr>
            <p:spPr>
              <a:xfrm>
                <a:off x="722189" y="3440617"/>
                <a:ext cx="4157811" cy="584775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>
                <a:spAutoFit/>
                <a:scene3d>
                  <a:camera prst="orthographicFront"/>
                  <a:lightRig rig="threePt" dir="t"/>
                </a:scene3d>
                <a:sp3d extrusionH="57150">
                  <a:bevelT w="57150" h="38100" prst="artDeco"/>
                </a:sp3d>
              </a:bodyPr>
              <a:lstStyle/>
              <a:p>
                <a:r>
                  <a:rPr lang="en-US" sz="3200" b="1" dirty="0">
                    <a:ln w="9525">
                      <a:solidFill>
                        <a:schemeClr val="bg1"/>
                      </a:solidFill>
                      <a:prstDash val="solid"/>
                    </a:ln>
                    <a:effectLst>
                      <a:outerShdw blurRad="12700" dist="38100" dir="2700000" algn="tl" rotWithShape="0">
                        <a:schemeClr val="bg1">
                          <a:lumMod val="50000"/>
                        </a:schemeClr>
                      </a:outerShdw>
                    </a:effectLst>
                    <a:latin typeface="Berlin Sans FB Demi" panose="020E0802020502020306" pitchFamily="34" charset="0"/>
                  </a:rPr>
                  <a:t>9. README.md :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60B4BEE-64CD-1FC6-CFFC-D649E00F035F}"/>
                  </a:ext>
                </a:extLst>
              </p:cNvPr>
              <p:cNvSpPr txBox="1"/>
              <p:nvPr/>
            </p:nvSpPr>
            <p:spPr>
              <a:xfrm>
                <a:off x="722189" y="4184556"/>
                <a:ext cx="8222431" cy="8002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spcAft>
                    <a:spcPts val="1200"/>
                  </a:spcAft>
                  <a:buFont typeface="Wingdings" panose="05000000000000000000" pitchFamily="2" charset="2"/>
                  <a:buChar char="q"/>
                </a:pPr>
                <a:r>
                  <a:rPr lang="en-US" dirty="0">
                    <a:latin typeface="Book Antiqua" panose="02040602050305030304" pitchFamily="18" charset="0"/>
                  </a:rPr>
                  <a:t>Markdown file for project description.</a:t>
                </a:r>
              </a:p>
              <a:p>
                <a:pPr marL="342900" indent="-342900">
                  <a:spcAft>
                    <a:spcPts val="1200"/>
                  </a:spcAft>
                  <a:buFont typeface="Wingdings" panose="05000000000000000000" pitchFamily="2" charset="2"/>
                  <a:buChar char="q"/>
                </a:pPr>
                <a:r>
                  <a:rPr lang="en-US" dirty="0">
                    <a:latin typeface="Book Antiqua" panose="02040602050305030304" pitchFamily="18" charset="0"/>
                  </a:rPr>
                  <a:t>You can write instructions, tech used, and how to run the project.</a:t>
                </a: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4B32A5D0-8A63-CFE3-F56E-7EF665722D37}"/>
                </a:ext>
              </a:extLst>
            </p:cNvPr>
            <p:cNvGrpSpPr/>
            <p:nvPr/>
          </p:nvGrpSpPr>
          <p:grpSpPr>
            <a:xfrm>
              <a:off x="1035397" y="3117045"/>
              <a:ext cx="8222431" cy="1544158"/>
              <a:chOff x="722189" y="3440617"/>
              <a:chExt cx="8222431" cy="1544158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1750C35B-0ED0-13CC-2914-D44951548C18}"/>
                  </a:ext>
                </a:extLst>
              </p:cNvPr>
              <p:cNvSpPr/>
              <p:nvPr/>
            </p:nvSpPr>
            <p:spPr>
              <a:xfrm>
                <a:off x="722189" y="3440617"/>
                <a:ext cx="3192843" cy="584775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>
                <a:spAutoFit/>
                <a:scene3d>
                  <a:camera prst="orthographicFront"/>
                  <a:lightRig rig="threePt" dir="t"/>
                </a:scene3d>
                <a:sp3d extrusionH="57150">
                  <a:bevelT w="57150" h="38100" prst="artDeco"/>
                </a:sp3d>
              </a:bodyPr>
              <a:lstStyle/>
              <a:p>
                <a:r>
                  <a:rPr lang="en-US" sz="3200" b="1" dirty="0">
                    <a:ln w="9525">
                      <a:solidFill>
                        <a:schemeClr val="bg1"/>
                      </a:solidFill>
                      <a:prstDash val="solid"/>
                    </a:ln>
                    <a:effectLst>
                      <a:outerShdw blurRad="12700" dist="38100" dir="2700000" algn="tl" rotWithShape="0">
                        <a:schemeClr val="bg1">
                          <a:lumMod val="50000"/>
                        </a:schemeClr>
                      </a:outerShdw>
                    </a:effectLst>
                    <a:latin typeface="Berlin Sans FB Demi" panose="020E0802020502020306" pitchFamily="34" charset="0"/>
                  </a:rPr>
                  <a:t>10. vite.config.js</a:t>
                </a: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4B0C40A-9D00-B4D4-212B-DF09104100D0}"/>
                  </a:ext>
                </a:extLst>
              </p:cNvPr>
              <p:cNvSpPr txBox="1"/>
              <p:nvPr/>
            </p:nvSpPr>
            <p:spPr>
              <a:xfrm>
                <a:off x="722189" y="4184556"/>
                <a:ext cx="8222431" cy="8002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spcAft>
                    <a:spcPts val="1200"/>
                  </a:spcAft>
                  <a:buFont typeface="Wingdings" panose="05000000000000000000" pitchFamily="2" charset="2"/>
                  <a:buChar char="q"/>
                </a:pPr>
                <a:r>
                  <a:rPr lang="en-US" dirty="0">
                    <a:latin typeface="Book Antiqua" panose="02040602050305030304" pitchFamily="18" charset="0"/>
                  </a:rPr>
                  <a:t>Configuration file for Vite.</a:t>
                </a:r>
              </a:p>
              <a:p>
                <a:pPr marL="342900" indent="-342900">
                  <a:spcAft>
                    <a:spcPts val="1200"/>
                  </a:spcAft>
                  <a:buFont typeface="Wingdings" panose="05000000000000000000" pitchFamily="2" charset="2"/>
                  <a:buChar char="q"/>
                </a:pPr>
                <a:r>
                  <a:rPr lang="en-US" dirty="0">
                    <a:latin typeface="Book Antiqua" panose="02040602050305030304" pitchFamily="18" charset="0"/>
                  </a:rPr>
                  <a:t>Used to add plugins, change default settings like aliases, server ports, etc.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81677765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ilk Glass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146</TotalTime>
  <Words>396</Words>
  <Application>Microsoft Office PowerPoint</Application>
  <PresentationFormat>Widescreen</PresentationFormat>
  <Paragraphs>40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Berlin Sans FB Demi</vt:lpstr>
      <vt:lpstr>Book Antiqua</vt:lpstr>
      <vt:lpstr>Calisto MT</vt:lpstr>
      <vt:lpstr>Courier New</vt:lpstr>
      <vt:lpstr>Wingdings</vt:lpstr>
      <vt:lpstr>Wingdings 2</vt:lpstr>
      <vt:lpstr>Slate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Manas Kumar Lal</dc:creator>
  <cp:lastModifiedBy>Manas Kumar Lal</cp:lastModifiedBy>
  <cp:revision>24</cp:revision>
  <dcterms:created xsi:type="dcterms:W3CDTF">2025-07-03T20:58:50Z</dcterms:created>
  <dcterms:modified xsi:type="dcterms:W3CDTF">2025-07-16T13:55:27Z</dcterms:modified>
</cp:coreProperties>
</file>