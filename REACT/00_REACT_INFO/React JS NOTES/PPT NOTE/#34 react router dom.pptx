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sldIdLst>
    <p:sldId id="266" r:id="rId2"/>
    <p:sldId id="374" r:id="rId3"/>
    <p:sldId id="519" r:id="rId4"/>
    <p:sldId id="520" r:id="rId5"/>
    <p:sldId id="313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861" autoAdjust="0"/>
    <p:restoredTop sz="94660"/>
  </p:normalViewPr>
  <p:slideViewPr>
    <p:cSldViewPr snapToGrid="0">
      <p:cViewPr varScale="1">
        <p:scale>
          <a:sx n="77" d="100"/>
          <a:sy n="77" d="100"/>
        </p:scale>
        <p:origin x="65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EEC0A7-5E88-49C8-86BE-5A895966D8E7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40B1A8-BDEA-4732-9714-BDE544A645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08993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40B1A8-BDEA-4732-9714-BDE544A645A3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72318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40B1A8-BDEA-4732-9714-BDE544A645A3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55959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18032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78298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39407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76164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35537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6300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56328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12129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60159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35910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71852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87052995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888164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021723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765488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942950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59197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14170C16-CB02-44E1-8AF7-8DA3690E2582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001788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73D259-E713-5A6D-29FD-7FA3E5815C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C34F5DFC-C246-5839-92FC-B4FEAD22E573}"/>
              </a:ext>
            </a:extLst>
          </p:cNvPr>
          <p:cNvSpPr/>
          <p:nvPr/>
        </p:nvSpPr>
        <p:spPr>
          <a:xfrm>
            <a:off x="1026735" y="794744"/>
            <a:ext cx="10138529" cy="433965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threePt" dir="t"/>
            </a:scene3d>
            <a:sp3d extrusionH="57150">
              <a:bevelT w="57150" h="38100" prst="artDeco"/>
            </a:sp3d>
          </a:bodyPr>
          <a:lstStyle/>
          <a:p>
            <a:pPr algn="ctr"/>
            <a:r>
              <a:rPr lang="en-US" sz="138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Berlin Sans FB Demi" panose="020E0802020502020306" pitchFamily="34" charset="0"/>
              </a:rPr>
              <a:t>React Router Dom</a:t>
            </a:r>
          </a:p>
        </p:txBody>
      </p:sp>
    </p:spTree>
    <p:extLst>
      <p:ext uri="{BB962C8B-B14F-4D97-AF65-F5344CB8AC3E}">
        <p14:creationId xmlns:p14="http://schemas.microsoft.com/office/powerpoint/2010/main" val="9540114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592C68-A678-CD92-3EED-328AC15E9B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C730C4F-DF00-4060-FE6F-F9EBEB46EA56}"/>
              </a:ext>
            </a:extLst>
          </p:cNvPr>
          <p:cNvGrpSpPr/>
          <p:nvPr/>
        </p:nvGrpSpPr>
        <p:grpSpPr>
          <a:xfrm>
            <a:off x="1075337" y="1551243"/>
            <a:ext cx="10359377" cy="3082885"/>
            <a:chOff x="1320808" y="1497057"/>
            <a:chExt cx="10359377" cy="3082885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CAB7BA6B-8A3D-5CD8-5C86-24D7117C32DA}"/>
                </a:ext>
              </a:extLst>
            </p:cNvPr>
            <p:cNvSpPr txBox="1"/>
            <p:nvPr/>
          </p:nvSpPr>
          <p:spPr>
            <a:xfrm>
              <a:off x="1320808" y="2610172"/>
              <a:ext cx="10359377" cy="196977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spcAft>
                  <a:spcPts val="3000"/>
                </a:spcAft>
              </a:pPr>
              <a:r>
                <a:rPr lang="en-US" dirty="0"/>
                <a:t>React Router is a client-side routing library that allows us to create Single Page Applications (SPA) where:</a:t>
              </a:r>
            </a:p>
            <a:p>
              <a:pPr marL="804863" indent="-285750">
                <a:spcAft>
                  <a:spcPts val="3000"/>
                </a:spcAft>
                <a:buFont typeface="Wingdings" panose="05000000000000000000" pitchFamily="2" charset="2"/>
                <a:buChar char="q"/>
              </a:pPr>
              <a:r>
                <a:rPr lang="en-US" dirty="0"/>
                <a:t>Users navigate between pages without refreshing the page.</a:t>
              </a:r>
            </a:p>
            <a:p>
              <a:pPr marL="804863" indent="-285750">
                <a:spcAft>
                  <a:spcPts val="3000"/>
                </a:spcAft>
                <a:buFont typeface="Wingdings" panose="05000000000000000000" pitchFamily="2" charset="2"/>
                <a:buChar char="q"/>
              </a:pPr>
              <a:r>
                <a:rPr lang="en-US" dirty="0"/>
                <a:t>Only the necessary components update, improving performance and UX.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BF4DAF4A-D27B-A8B7-92FE-254B73A5BD26}"/>
                </a:ext>
              </a:extLst>
            </p:cNvPr>
            <p:cNvSpPr/>
            <p:nvPr/>
          </p:nvSpPr>
          <p:spPr>
            <a:xfrm>
              <a:off x="1320808" y="1497057"/>
              <a:ext cx="6094089" cy="769441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  <a:scene3d>
                <a:camera prst="orthographicFront"/>
                <a:lightRig rig="threePt" dir="t"/>
              </a:scene3d>
              <a:sp3d extrusionH="57150">
                <a:bevelT w="57150" h="38100" prst="artDeco"/>
              </a:sp3d>
            </a:bodyPr>
            <a:lstStyle/>
            <a:p>
              <a:r>
                <a:rPr lang="en-US" sz="4400" b="1" dirty="0">
                  <a:ln w="9525">
                    <a:solidFill>
                      <a:schemeClr val="bg1"/>
                    </a:solidFill>
                    <a:prstDash val="solid"/>
                  </a:ln>
                  <a:effectLst>
                    <a:outerShdw blurRad="12700" dist="38100" dir="2700000" algn="tl" rotWithShape="0">
                      <a:schemeClr val="bg1">
                        <a:lumMod val="50000"/>
                      </a:schemeClr>
                    </a:outerShdw>
                  </a:effectLst>
                  <a:latin typeface="Berlin Sans FB Demi" panose="020E0802020502020306" pitchFamily="34" charset="0"/>
                </a:rPr>
                <a:t>What is React Router?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188713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592C68-A678-CD92-3EED-328AC15E9B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C730C4F-DF00-4060-FE6F-F9EBEB46EA56}"/>
              </a:ext>
            </a:extLst>
          </p:cNvPr>
          <p:cNvGrpSpPr/>
          <p:nvPr/>
        </p:nvGrpSpPr>
        <p:grpSpPr>
          <a:xfrm>
            <a:off x="1453025" y="845565"/>
            <a:ext cx="6776576" cy="4789463"/>
            <a:chOff x="1320808" y="1497057"/>
            <a:chExt cx="10623019" cy="4789463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CAB7BA6B-8A3D-5CD8-5C86-24D7117C32DA}"/>
                </a:ext>
              </a:extLst>
            </p:cNvPr>
            <p:cNvSpPr txBox="1"/>
            <p:nvPr/>
          </p:nvSpPr>
          <p:spPr>
            <a:xfrm>
              <a:off x="1320808" y="2608590"/>
              <a:ext cx="10359377" cy="367793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85750" indent="-285750">
                <a:spcAft>
                  <a:spcPts val="3000"/>
                </a:spcAft>
                <a:buFont typeface="Wingdings" panose="05000000000000000000" pitchFamily="2" charset="2"/>
                <a:buChar char="q"/>
              </a:pPr>
              <a:r>
                <a:rPr lang="en-US" dirty="0"/>
                <a:t>Basic Setup (</a:t>
              </a:r>
              <a:r>
                <a:rPr lang="en-US" dirty="0" err="1"/>
                <a:t>BrowserRouter</a:t>
              </a:r>
              <a:r>
                <a:rPr lang="en-US" dirty="0"/>
                <a:t> + Routes + Route)</a:t>
              </a:r>
            </a:p>
            <a:p>
              <a:pPr marL="285750" indent="-285750">
                <a:spcAft>
                  <a:spcPts val="3000"/>
                </a:spcAft>
                <a:buFont typeface="Wingdings" panose="05000000000000000000" pitchFamily="2" charset="2"/>
                <a:buChar char="q"/>
              </a:pPr>
              <a:r>
                <a:rPr lang="en-US" dirty="0"/>
                <a:t>Link &amp; </a:t>
              </a:r>
              <a:r>
                <a:rPr lang="en-US" dirty="0" err="1"/>
                <a:t>NavLink</a:t>
              </a:r>
              <a:endParaRPr lang="en-US" dirty="0"/>
            </a:p>
            <a:p>
              <a:pPr marL="285750" indent="-285750">
                <a:spcAft>
                  <a:spcPts val="3000"/>
                </a:spcAft>
                <a:buFont typeface="Wingdings" panose="05000000000000000000" pitchFamily="2" charset="2"/>
                <a:buChar char="q"/>
              </a:pPr>
              <a:r>
                <a:rPr lang="en-US" dirty="0"/>
                <a:t>Dynamic Routing</a:t>
              </a:r>
            </a:p>
            <a:p>
              <a:pPr marL="285750" indent="-285750">
                <a:spcAft>
                  <a:spcPts val="3000"/>
                </a:spcAft>
                <a:buFont typeface="Wingdings" panose="05000000000000000000" pitchFamily="2" charset="2"/>
                <a:buChar char="q"/>
              </a:pPr>
              <a:r>
                <a:rPr lang="en-US" dirty="0"/>
                <a:t>Programmatic Navigation (</a:t>
              </a:r>
              <a:r>
                <a:rPr lang="en-US" dirty="0" err="1"/>
                <a:t>useNavigate</a:t>
              </a:r>
              <a:r>
                <a:rPr lang="en-US" dirty="0"/>
                <a:t>)</a:t>
              </a:r>
            </a:p>
            <a:p>
              <a:pPr marL="285750" indent="-285750">
                <a:spcAft>
                  <a:spcPts val="3000"/>
                </a:spcAft>
                <a:buFont typeface="Wingdings" panose="05000000000000000000" pitchFamily="2" charset="2"/>
                <a:buChar char="q"/>
              </a:pPr>
              <a:r>
                <a:rPr lang="en-IN" dirty="0"/>
                <a:t>Redirect – Navigate component</a:t>
              </a:r>
            </a:p>
            <a:p>
              <a:pPr marL="285750" indent="-285750">
                <a:spcAft>
                  <a:spcPts val="3000"/>
                </a:spcAft>
                <a:buFont typeface="Wingdings" panose="05000000000000000000" pitchFamily="2" charset="2"/>
                <a:buChar char="q"/>
              </a:pPr>
              <a:r>
                <a:rPr lang="en-IN" dirty="0"/>
                <a:t>Nested Routing</a:t>
              </a:r>
              <a:endParaRPr lang="en-US" dirty="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BF4DAF4A-D27B-A8B7-92FE-254B73A5BD26}"/>
                </a:ext>
              </a:extLst>
            </p:cNvPr>
            <p:cNvSpPr/>
            <p:nvPr/>
          </p:nvSpPr>
          <p:spPr>
            <a:xfrm>
              <a:off x="1320808" y="1497057"/>
              <a:ext cx="10623019" cy="769441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  <a:scene3d>
                <a:camera prst="orthographicFront"/>
                <a:lightRig rig="threePt" dir="t"/>
              </a:scene3d>
              <a:sp3d extrusionH="57150">
                <a:bevelT w="57150" h="38100" prst="artDeco"/>
              </a:sp3d>
            </a:bodyPr>
            <a:lstStyle/>
            <a:p>
              <a:r>
                <a:rPr lang="en-US" sz="4400" b="1" dirty="0">
                  <a:ln w="9525">
                    <a:solidFill>
                      <a:schemeClr val="bg1"/>
                    </a:solidFill>
                    <a:prstDash val="solid"/>
                  </a:ln>
                  <a:effectLst>
                    <a:outerShdw blurRad="12700" dist="38100" dir="2700000" algn="tl" rotWithShape="0">
                      <a:schemeClr val="bg1">
                        <a:lumMod val="50000"/>
                      </a:schemeClr>
                    </a:outerShdw>
                  </a:effectLst>
                  <a:latin typeface="Berlin Sans FB Demi" panose="020E0802020502020306" pitchFamily="34" charset="0"/>
                </a:rPr>
                <a:t>React Router v6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551506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01DB29-EB6F-D710-15F3-6D1557B456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70D2CDF-EA27-45BD-B8CF-D5BCBBDFB5DB}"/>
              </a:ext>
            </a:extLst>
          </p:cNvPr>
          <p:cNvSpPr/>
          <p:nvPr/>
        </p:nvSpPr>
        <p:spPr>
          <a:xfrm>
            <a:off x="916311" y="656721"/>
            <a:ext cx="6259741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threePt" dir="t"/>
            </a:scene3d>
            <a:sp3d extrusionH="57150">
              <a:bevelT w="57150" h="38100" prst="artDeco"/>
            </a:sp3d>
          </a:bodyPr>
          <a:lstStyle/>
          <a:p>
            <a:r>
              <a:rPr lang="en-US" sz="44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Berlin Sans FB Demi" panose="020E0802020502020306" pitchFamily="34" charset="0"/>
              </a:rPr>
              <a:t>Newer Version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C0F8B69-520A-46E6-9694-0862A7CC4294}"/>
              </a:ext>
            </a:extLst>
          </p:cNvPr>
          <p:cNvSpPr txBox="1"/>
          <p:nvPr/>
        </p:nvSpPr>
        <p:spPr>
          <a:xfrm>
            <a:off x="916311" y="1748376"/>
            <a:ext cx="6608395" cy="4339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3000"/>
              </a:spcAft>
              <a:buFont typeface="Wingdings" panose="05000000000000000000" pitchFamily="2" charset="2"/>
              <a:buChar char="q"/>
            </a:pPr>
            <a:r>
              <a:rPr lang="en-US" dirty="0"/>
              <a:t>Basic Setup (</a:t>
            </a:r>
            <a:r>
              <a:rPr lang="en-US" dirty="0" err="1"/>
              <a:t>createBrowserRouter</a:t>
            </a:r>
            <a:r>
              <a:rPr lang="en-US" dirty="0"/>
              <a:t> + </a:t>
            </a:r>
            <a:r>
              <a:rPr lang="en-US" dirty="0" err="1"/>
              <a:t>RouterProvider</a:t>
            </a:r>
            <a:r>
              <a:rPr lang="en-US" dirty="0"/>
              <a:t>)</a:t>
            </a:r>
          </a:p>
          <a:p>
            <a:pPr marL="285750" indent="-285750">
              <a:spcAft>
                <a:spcPts val="3000"/>
              </a:spcAft>
              <a:buFont typeface="Wingdings" panose="05000000000000000000" pitchFamily="2" charset="2"/>
              <a:buChar char="q"/>
            </a:pPr>
            <a:r>
              <a:rPr lang="en-US" dirty="0"/>
              <a:t>Link &amp; </a:t>
            </a:r>
            <a:r>
              <a:rPr lang="en-US" dirty="0" err="1"/>
              <a:t>NavLink</a:t>
            </a:r>
            <a:endParaRPr lang="en-US" dirty="0"/>
          </a:p>
          <a:p>
            <a:pPr marL="285750" indent="-285750">
              <a:spcAft>
                <a:spcPts val="3000"/>
              </a:spcAft>
              <a:buFont typeface="Wingdings" panose="05000000000000000000" pitchFamily="2" charset="2"/>
              <a:buChar char="q"/>
            </a:pPr>
            <a:r>
              <a:rPr lang="en-US" dirty="0"/>
              <a:t>Dynamic Routing</a:t>
            </a:r>
          </a:p>
          <a:p>
            <a:pPr marL="285750" indent="-285750">
              <a:spcAft>
                <a:spcPts val="3000"/>
              </a:spcAft>
              <a:buFont typeface="Wingdings" panose="05000000000000000000" pitchFamily="2" charset="2"/>
              <a:buChar char="q"/>
            </a:pPr>
            <a:r>
              <a:rPr lang="en-US" dirty="0"/>
              <a:t>Programmatic Navigation (</a:t>
            </a:r>
            <a:r>
              <a:rPr lang="en-US" dirty="0" err="1"/>
              <a:t>useNavigate</a:t>
            </a:r>
            <a:r>
              <a:rPr lang="en-US" dirty="0"/>
              <a:t>)</a:t>
            </a:r>
          </a:p>
          <a:p>
            <a:pPr marL="285750" indent="-285750">
              <a:spcAft>
                <a:spcPts val="3000"/>
              </a:spcAft>
              <a:buFont typeface="Wingdings" panose="05000000000000000000" pitchFamily="2" charset="2"/>
              <a:buChar char="q"/>
            </a:pPr>
            <a:r>
              <a:rPr lang="en-IN" dirty="0"/>
              <a:t>Redirect – Navigate component</a:t>
            </a:r>
          </a:p>
          <a:p>
            <a:pPr marL="285750" indent="-285750">
              <a:spcAft>
                <a:spcPts val="3000"/>
              </a:spcAft>
              <a:buFont typeface="Wingdings" panose="05000000000000000000" pitchFamily="2" charset="2"/>
              <a:buChar char="q"/>
            </a:pPr>
            <a:r>
              <a:rPr lang="en-IN" dirty="0"/>
              <a:t>Nested Routing</a:t>
            </a:r>
          </a:p>
          <a:p>
            <a:pPr marL="285750" indent="-285750">
              <a:spcAft>
                <a:spcPts val="3000"/>
              </a:spcAft>
              <a:buFont typeface="Wingdings" panose="05000000000000000000" pitchFamily="2" charset="2"/>
              <a:buChar char="q"/>
            </a:pPr>
            <a:r>
              <a:rPr lang="en-US" dirty="0"/>
              <a:t>Fetch data before component loads</a:t>
            </a:r>
          </a:p>
        </p:txBody>
      </p:sp>
    </p:spTree>
    <p:extLst>
      <p:ext uri="{BB962C8B-B14F-4D97-AF65-F5344CB8AC3E}">
        <p14:creationId xmlns:p14="http://schemas.microsoft.com/office/powerpoint/2010/main" val="39086656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B31DEB-18E7-5965-8DAF-3F835ABC22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DAC84B9-4F01-C36B-EF4F-1CEB400338F0}"/>
              </a:ext>
            </a:extLst>
          </p:cNvPr>
          <p:cNvSpPr/>
          <p:nvPr/>
        </p:nvSpPr>
        <p:spPr>
          <a:xfrm>
            <a:off x="2541330" y="1259175"/>
            <a:ext cx="7109340" cy="433965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threePt" dir="t"/>
            </a:scene3d>
            <a:sp3d extrusionH="57150">
              <a:bevelT w="57150" h="38100" prst="artDeco"/>
            </a:sp3d>
          </a:bodyPr>
          <a:lstStyle/>
          <a:p>
            <a:pPr algn="ctr"/>
            <a:r>
              <a:rPr lang="en-US" sz="138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Berlin Sans FB Demi" panose="020E0802020502020306" pitchFamily="34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46133842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">
  <a:themeElements>
    <a:clrScheme name="Slate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Slate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ilk Glass">
      <a:fillStyleLst>
        <a:solidFill>
          <a:schemeClr val="phClr"/>
        </a:solidFill>
        <a:gradFill rotWithShape="1">
          <a:gsLst>
            <a:gs pos="0">
              <a:schemeClr val="phClr">
                <a:tint val="15000"/>
                <a:satMod val="250000"/>
              </a:schemeClr>
            </a:gs>
            <a:gs pos="49000">
              <a:schemeClr val="phClr">
                <a:tint val="50000"/>
                <a:satMod val="200000"/>
              </a:schemeClr>
            </a:gs>
            <a:gs pos="49100">
              <a:schemeClr val="phClr">
                <a:tint val="64000"/>
                <a:satMod val="160000"/>
              </a:schemeClr>
            </a:gs>
            <a:gs pos="92000">
              <a:schemeClr val="phClr">
                <a:tint val="50000"/>
                <a:satMod val="200000"/>
              </a:schemeClr>
            </a:gs>
            <a:gs pos="100000">
              <a:schemeClr val="phClr">
                <a:tint val="43000"/>
                <a:satMod val="19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4000"/>
              </a:schemeClr>
            </a:gs>
            <a:gs pos="49000">
              <a:schemeClr val="phClr">
                <a:tint val="96000"/>
                <a:shade val="84000"/>
                <a:satMod val="110000"/>
              </a:schemeClr>
            </a:gs>
            <a:gs pos="49100">
              <a:schemeClr val="phClr">
                <a:shade val="55000"/>
                <a:satMod val="150000"/>
              </a:schemeClr>
            </a:gs>
            <a:gs pos="92000">
              <a:schemeClr val="phClr">
                <a:tint val="98000"/>
                <a:shade val="90000"/>
                <a:satMod val="128000"/>
              </a:schemeClr>
            </a:gs>
            <a:gs pos="100000">
              <a:schemeClr val="phClr">
                <a:tint val="90000"/>
                <a:shade val="97000"/>
                <a:satMod val="128000"/>
              </a:schemeClr>
            </a:gs>
          </a:gsLst>
          <a:lin ang="5400000" scaled="1"/>
        </a:gradFill>
      </a:fillStyleLst>
      <a:lnStyleLst>
        <a:ln w="11430" cap="flat" cmpd="sng" algn="ctr">
          <a:solidFill>
            <a:schemeClr val="phClr"/>
          </a:solidFill>
          <a:prstDash val="solid"/>
        </a:ln>
        <a:ln w="40000" cap="flat" cmpd="sng" algn="ctr">
          <a:solidFill>
            <a:schemeClr val="phClr"/>
          </a:solidFill>
          <a:prstDash val="solid"/>
        </a:ln>
        <a:ln w="31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chemeClr val="phClr">
                <a:shade val="30000"/>
                <a:satMod val="150000"/>
                <a:alpha val="38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500000"/>
            </a:lightRig>
          </a:scene3d>
          <a:sp3d extrusionH="127000" prstMaterial="powder">
            <a:bevelT w="50800" h="63500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TM04033929[[fn=Slate]]</Template>
  <TotalTime>1633</TotalTime>
  <Words>110</Words>
  <Application>Microsoft Office PowerPoint</Application>
  <PresentationFormat>Widescreen</PresentationFormat>
  <Paragraphs>23</Paragraphs>
  <Slides>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Berlin Sans FB Demi</vt:lpstr>
      <vt:lpstr>Calibri</vt:lpstr>
      <vt:lpstr>Calisto MT</vt:lpstr>
      <vt:lpstr>Wingdings</vt:lpstr>
      <vt:lpstr>Wingdings 2</vt:lpstr>
      <vt:lpstr>Slate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Manas Kumar Lal</dc:creator>
  <cp:lastModifiedBy>Manas Kumar Lal</cp:lastModifiedBy>
  <cp:revision>333</cp:revision>
  <dcterms:created xsi:type="dcterms:W3CDTF">2025-07-03T20:58:50Z</dcterms:created>
  <dcterms:modified xsi:type="dcterms:W3CDTF">2025-11-25T14:48:22Z</dcterms:modified>
</cp:coreProperties>
</file>