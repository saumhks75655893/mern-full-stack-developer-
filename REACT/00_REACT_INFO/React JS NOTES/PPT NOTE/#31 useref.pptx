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6" r:id="rId2"/>
    <p:sldId id="356" r:id="rId3"/>
    <p:sldId id="371" r:id="rId4"/>
    <p:sldId id="369" r:id="rId5"/>
    <p:sldId id="368" r:id="rId6"/>
    <p:sldId id="370" r:id="rId7"/>
    <p:sldId id="362" r:id="rId8"/>
    <p:sldId id="31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2539246" y="1850514"/>
            <a:ext cx="7113507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useRef()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E3EA392-FBF5-65C0-F7D2-F19EB63B4B46}"/>
              </a:ext>
            </a:extLst>
          </p:cNvPr>
          <p:cNvGrpSpPr/>
          <p:nvPr/>
        </p:nvGrpSpPr>
        <p:grpSpPr>
          <a:xfrm>
            <a:off x="1320808" y="1458946"/>
            <a:ext cx="8606965" cy="3665102"/>
            <a:chOff x="1320808" y="1596449"/>
            <a:chExt cx="8606965" cy="36651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A6D7BE7-DCE6-805F-26BE-CC4EC9EE31F1}"/>
                </a:ext>
              </a:extLst>
            </p:cNvPr>
            <p:cNvGrpSpPr/>
            <p:nvPr/>
          </p:nvGrpSpPr>
          <p:grpSpPr>
            <a:xfrm>
              <a:off x="1320808" y="1596449"/>
              <a:ext cx="8606965" cy="1556926"/>
              <a:chOff x="1320808" y="1596449"/>
              <a:chExt cx="8606965" cy="155692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ABF976-D12B-6828-80A4-857405694E4F}"/>
                  </a:ext>
                </a:extLst>
              </p:cNvPr>
              <p:cNvSpPr txBox="1"/>
              <p:nvPr/>
            </p:nvSpPr>
            <p:spPr>
              <a:xfrm>
                <a:off x="1320808" y="2507044"/>
                <a:ext cx="86069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3000"/>
                  </a:spcAft>
                </a:pPr>
                <a:r>
                  <a:rPr lang="en-US" dirty="0"/>
                  <a:t>Before hooks, ref was used with class components to directly access DOM elements or React elements.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B66528-D9E6-BDB3-67BD-7EC13CB8019F}"/>
                  </a:ext>
                </a:extLst>
              </p:cNvPr>
              <p:cNvSpPr/>
              <p:nvPr/>
            </p:nvSpPr>
            <p:spPr>
              <a:xfrm>
                <a:off x="1320808" y="1596449"/>
                <a:ext cx="4908112" cy="8309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8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What is ref ?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AF60A6-AEBA-1E5F-5B3E-ACB7CC2FD3F3}"/>
                </a:ext>
              </a:extLst>
            </p:cNvPr>
            <p:cNvGrpSpPr/>
            <p:nvPr/>
          </p:nvGrpSpPr>
          <p:grpSpPr>
            <a:xfrm>
              <a:off x="1320808" y="3704625"/>
              <a:ext cx="8606965" cy="1556926"/>
              <a:chOff x="1320808" y="3316392"/>
              <a:chExt cx="8606965" cy="155692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99BBC88-5BD0-A30C-8DBF-81037C1743BC}"/>
                  </a:ext>
                </a:extLst>
              </p:cNvPr>
              <p:cNvSpPr/>
              <p:nvPr/>
            </p:nvSpPr>
            <p:spPr>
              <a:xfrm>
                <a:off x="1320808" y="3316392"/>
                <a:ext cx="5059366" cy="83099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r>
                  <a:rPr lang="en-US" sz="48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What is useRef ?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0719F7-BDE9-DD0C-6ED3-07090CB1E35B}"/>
                  </a:ext>
                </a:extLst>
              </p:cNvPr>
              <p:cNvSpPr txBox="1"/>
              <p:nvPr/>
            </p:nvSpPr>
            <p:spPr>
              <a:xfrm>
                <a:off x="1320808" y="4226987"/>
                <a:ext cx="86069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3000"/>
                  </a:spcAft>
                </a:pPr>
                <a:r>
                  <a:rPr lang="en-US" dirty="0"/>
                  <a:t>useRef is a Hook that returns a mutable ref object whose .current property persists across renders.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01DB-748A-1459-CD2E-D07C3468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08547B3-EA25-D3EC-001E-6206D3D9BCA5}"/>
              </a:ext>
            </a:extLst>
          </p:cNvPr>
          <p:cNvGrpSpPr/>
          <p:nvPr/>
        </p:nvGrpSpPr>
        <p:grpSpPr>
          <a:xfrm>
            <a:off x="581726" y="359932"/>
            <a:ext cx="8988537" cy="5900659"/>
            <a:chOff x="691728" y="380557"/>
            <a:chExt cx="8988537" cy="59006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F6A8142-640E-E5A6-2737-D30EE7BF59CE}"/>
                </a:ext>
              </a:extLst>
            </p:cNvPr>
            <p:cNvSpPr/>
            <p:nvPr/>
          </p:nvSpPr>
          <p:spPr>
            <a:xfrm>
              <a:off x="691728" y="380557"/>
              <a:ext cx="5500523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 Syntax: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43D7E2-B19E-7E49-8F96-24380D6E8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24" t="22123" r="8140" b="12819"/>
            <a:stretch>
              <a:fillRect/>
            </a:stretch>
          </p:blipFill>
          <p:spPr>
            <a:xfrm>
              <a:off x="790645" y="1333787"/>
              <a:ext cx="7418330" cy="337864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27C804-39C4-F7B0-F43D-1640DDF6BC2D}"/>
                </a:ext>
              </a:extLst>
            </p:cNvPr>
            <p:cNvSpPr txBox="1"/>
            <p:nvPr/>
          </p:nvSpPr>
          <p:spPr>
            <a:xfrm>
              <a:off x="691728" y="4896221"/>
              <a:ext cx="8988537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useRef() is like a box you can store anything inside (DOM node, number, object, etc.).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Changes to .current do not cause re-render.</a:t>
              </a:r>
            </a:p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It’s not reactive, but persistent.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10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D7A3-8B4A-CC72-311A-64DCBA74F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D61D456-0FFE-2D2E-2E21-18D325195558}"/>
              </a:ext>
            </a:extLst>
          </p:cNvPr>
          <p:cNvGrpSpPr/>
          <p:nvPr/>
        </p:nvGrpSpPr>
        <p:grpSpPr>
          <a:xfrm>
            <a:off x="1269245" y="1707467"/>
            <a:ext cx="7613497" cy="2665552"/>
            <a:chOff x="829233" y="793067"/>
            <a:chExt cx="7613497" cy="26655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0484485-BA6E-1563-D517-EA61749BCC69}"/>
                </a:ext>
              </a:extLst>
            </p:cNvPr>
            <p:cNvSpPr/>
            <p:nvPr/>
          </p:nvSpPr>
          <p:spPr>
            <a:xfrm>
              <a:off x="829233" y="793067"/>
              <a:ext cx="7537871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Two Main Uses of useRef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95F5E0-C22B-93B1-2378-497F421E682F}"/>
                </a:ext>
              </a:extLst>
            </p:cNvPr>
            <p:cNvSpPr txBox="1"/>
            <p:nvPr/>
          </p:nvSpPr>
          <p:spPr>
            <a:xfrm>
              <a:off x="904859" y="2119791"/>
              <a:ext cx="7537871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800" dirty="0"/>
                <a:t>Accessing DOM Elements</a:t>
              </a:r>
            </a:p>
            <a:p>
              <a:pPr marL="342900" indent="-342900">
                <a:spcAft>
                  <a:spcPts val="3000"/>
                </a:spcAft>
                <a:buFont typeface="+mj-lt"/>
                <a:buAutoNum type="arabicPeriod"/>
              </a:pPr>
              <a:r>
                <a:rPr lang="en-US" sz="2800" dirty="0"/>
                <a:t>Storing Mutable Values (Without Re-render)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49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2CF5-0E58-D8C4-FC68-2D0EFC6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60DD183-7D3F-078D-97C3-BBF85706FE5A}"/>
              </a:ext>
            </a:extLst>
          </p:cNvPr>
          <p:cNvGrpSpPr/>
          <p:nvPr/>
        </p:nvGrpSpPr>
        <p:grpSpPr>
          <a:xfrm>
            <a:off x="1042363" y="1496562"/>
            <a:ext cx="9593555" cy="3606087"/>
            <a:chOff x="794856" y="774667"/>
            <a:chExt cx="9593555" cy="360608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CE1F66-25AA-C69E-DB9F-E9469B284009}"/>
                </a:ext>
              </a:extLst>
            </p:cNvPr>
            <p:cNvSpPr/>
            <p:nvPr/>
          </p:nvSpPr>
          <p:spPr>
            <a:xfrm>
              <a:off x="794856" y="774667"/>
              <a:ext cx="682972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1. Accessing DOM Elements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AC9396-185B-1474-4FAC-E8FCFE9F0C43}"/>
                </a:ext>
              </a:extLst>
            </p:cNvPr>
            <p:cNvSpPr txBox="1"/>
            <p:nvPr/>
          </p:nvSpPr>
          <p:spPr>
            <a:xfrm>
              <a:off x="794857" y="1743109"/>
              <a:ext cx="95935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sz="2000" dirty="0"/>
                <a:t>When you need to directly manipulate a DOM element (e.g., focus, scroll, play video).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EF101E-3D31-0CD9-36A6-1B0C67BEB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11" t="34913" r="15846" b="20685"/>
            <a:stretch>
              <a:fillRect/>
            </a:stretch>
          </p:blipFill>
          <p:spPr>
            <a:xfrm>
              <a:off x="886899" y="2342220"/>
              <a:ext cx="4159489" cy="2038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052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558A-A7A4-431E-9804-5FC90D49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6C0D1B-B14B-9080-0A19-9BF9A2BA5308}"/>
              </a:ext>
            </a:extLst>
          </p:cNvPr>
          <p:cNvGrpSpPr/>
          <p:nvPr/>
        </p:nvGrpSpPr>
        <p:grpSpPr>
          <a:xfrm>
            <a:off x="842981" y="762025"/>
            <a:ext cx="9744808" cy="5109438"/>
            <a:chOff x="547349" y="768900"/>
            <a:chExt cx="9744808" cy="51094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1B41BC1-EDC2-3203-3FEC-684AF5B8150A}"/>
                </a:ext>
              </a:extLst>
            </p:cNvPr>
            <p:cNvSpPr/>
            <p:nvPr/>
          </p:nvSpPr>
          <p:spPr>
            <a:xfrm>
              <a:off x="547350" y="768900"/>
              <a:ext cx="9744807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3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2. Storing Mutable Values (Without Re-render)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E6F5EC6-FBD4-D3E2-5538-EBC818EBC67C}"/>
                </a:ext>
              </a:extLst>
            </p:cNvPr>
            <p:cNvSpPr txBox="1"/>
            <p:nvPr/>
          </p:nvSpPr>
          <p:spPr>
            <a:xfrm>
              <a:off x="547349" y="1729198"/>
              <a:ext cx="86069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200"/>
                </a:spcAft>
              </a:pPr>
              <a:r>
                <a:rPr lang="en-US" dirty="0"/>
                <a:t>Sometimes you want to store data between renders without triggering updates.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F7AE2B-ED2D-4C58-3470-369754346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81" t="21754" r="8480" b="12983"/>
            <a:stretch>
              <a:fillRect/>
            </a:stretch>
          </p:blipFill>
          <p:spPr>
            <a:xfrm>
              <a:off x="625641" y="2289387"/>
              <a:ext cx="7679585" cy="35889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535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658B-EB83-3C38-C32D-12358241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ADB445-7D28-2B2C-9C8B-37828B05F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21987"/>
              </p:ext>
            </p:extLst>
          </p:nvPr>
        </p:nvGraphicFramePr>
        <p:xfrm>
          <a:off x="825977" y="2283460"/>
          <a:ext cx="808426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680">
                  <a:extLst>
                    <a:ext uri="{9D8B030D-6E8A-4147-A177-3AD203B41FA5}">
                      <a16:colId xmlns:a16="http://schemas.microsoft.com/office/drawing/2014/main" val="179180911"/>
                    </a:ext>
                  </a:extLst>
                </a:gridCol>
                <a:gridCol w="1604537">
                  <a:extLst>
                    <a:ext uri="{9D8B030D-6E8A-4147-A177-3AD203B41FA5}">
                      <a16:colId xmlns:a16="http://schemas.microsoft.com/office/drawing/2014/main" val="443927668"/>
                    </a:ext>
                  </a:extLst>
                </a:gridCol>
                <a:gridCol w="3776050">
                  <a:extLst>
                    <a:ext uri="{9D8B030D-6E8A-4147-A177-3AD203B41FA5}">
                      <a16:colId xmlns:a16="http://schemas.microsoft.com/office/drawing/2014/main" val="396529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useRef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4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Triggers re-render on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48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Persistent between renders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36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UI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DOM reference or mutable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4635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9F37749-AA07-8125-A0FB-0A0E3468EA94}"/>
              </a:ext>
            </a:extLst>
          </p:cNvPr>
          <p:cNvSpPr/>
          <p:nvPr/>
        </p:nvSpPr>
        <p:spPr>
          <a:xfrm>
            <a:off x="724672" y="1340685"/>
            <a:ext cx="758743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Difference between </a:t>
            </a:r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useState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 and </a:t>
            </a:r>
            <a:r>
              <a:rPr lang="en-US" sz="32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useRef</a:t>
            </a:r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028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1326</TotalTime>
  <Words>185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277</cp:revision>
  <dcterms:created xsi:type="dcterms:W3CDTF">2025-07-03T20:58:50Z</dcterms:created>
  <dcterms:modified xsi:type="dcterms:W3CDTF">2025-11-17T11:05:10Z</dcterms:modified>
</cp:coreProperties>
</file>