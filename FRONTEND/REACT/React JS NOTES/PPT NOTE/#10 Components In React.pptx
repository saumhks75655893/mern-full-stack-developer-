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6" r:id="rId2"/>
    <p:sldId id="267" r:id="rId3"/>
    <p:sldId id="263" r:id="rId4"/>
    <p:sldId id="261" r:id="rId5"/>
    <p:sldId id="270" r:id="rId6"/>
    <p:sldId id="268" r:id="rId7"/>
    <p:sldId id="271" r:id="rId8"/>
    <p:sldId id="272" r:id="rId9"/>
    <p:sldId id="273" r:id="rId10"/>
    <p:sldId id="274" r:id="rId11"/>
    <p:sldId id="276" r:id="rId12"/>
    <p:sldId id="275" r:id="rId13"/>
    <p:sldId id="277" r:id="rId14"/>
    <p:sldId id="279" r:id="rId15"/>
    <p:sldId id="269" r:id="rId16"/>
    <p:sldId id="278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803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829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3940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7616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553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30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632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212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015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591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7185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705299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88816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02172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6548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94295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919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4170C16-CB02-44E1-8AF7-8DA3690E2582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00178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3D259-E713-5A6D-29FD-7FA3E5815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2C12B50B-E4E5-3BAC-AADF-AB428801D8EE}"/>
              </a:ext>
            </a:extLst>
          </p:cNvPr>
          <p:cNvGrpSpPr/>
          <p:nvPr/>
        </p:nvGrpSpPr>
        <p:grpSpPr>
          <a:xfrm>
            <a:off x="1058676" y="1254221"/>
            <a:ext cx="10250759" cy="3585305"/>
            <a:chOff x="536412" y="-9220"/>
            <a:chExt cx="10250759" cy="358530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34F5DFC-C246-5839-92FC-B4FEAD22E573}"/>
                </a:ext>
              </a:extLst>
            </p:cNvPr>
            <p:cNvSpPr/>
            <p:nvPr/>
          </p:nvSpPr>
          <p:spPr>
            <a:xfrm>
              <a:off x="536412" y="-9220"/>
              <a:ext cx="4007828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pPr algn="ctr"/>
              <a:r>
                <a:rPr lang="en-US" sz="5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Components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31A2BA5-D2BB-71D1-5324-DB0DF0043D15}"/>
                </a:ext>
              </a:extLst>
            </p:cNvPr>
            <p:cNvSpPr txBox="1"/>
            <p:nvPr/>
          </p:nvSpPr>
          <p:spPr>
            <a:xfrm>
              <a:off x="536412" y="1421649"/>
              <a:ext cx="10250759" cy="2154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spcBef>
                  <a:spcPts val="1800"/>
                </a:spcBef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r>
                <a:rPr lang="en-US" sz="2800" dirty="0">
                  <a:latin typeface="Book Antiqua" panose="02040602050305030304" pitchFamily="18" charset="0"/>
                </a:rPr>
                <a:t>A component is a reusable piece of UI.</a:t>
              </a:r>
            </a:p>
            <a:p>
              <a:pPr marL="457200" indent="-457200">
                <a:spcBef>
                  <a:spcPts val="1800"/>
                </a:spcBef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r>
                <a:rPr lang="en-US" sz="2800" dirty="0"/>
                <a:t>Building blocks of every React app.</a:t>
              </a:r>
            </a:p>
            <a:p>
              <a:pPr marL="457200" indent="-457200">
                <a:spcBef>
                  <a:spcPts val="1800"/>
                </a:spcBef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r>
                <a:rPr lang="en-US" sz="2800" dirty="0"/>
                <a:t>Can be combined to form complex interfaces.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54011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D8F65-4F10-BCD8-5074-10A86721F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ypes of React Components: All developers must know | by Narender Saini |  Medium">
            <a:extLst>
              <a:ext uri="{FF2B5EF4-FFF2-40B4-BE49-F238E27FC236}">
                <a16:creationId xmlns:a16="http://schemas.microsoft.com/office/drawing/2014/main" id="{EFFA2BFB-89D6-59CB-F9B0-DC1909C329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43" b="6318"/>
          <a:stretch>
            <a:fillRect/>
          </a:stretch>
        </p:blipFill>
        <p:spPr bwMode="auto">
          <a:xfrm>
            <a:off x="641901" y="499175"/>
            <a:ext cx="6408256" cy="5859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01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30741-1089-2BFA-0D1E-69D1BA8DC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184E8A-55FC-26C7-E15C-0FC433A745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62" r="134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98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31448-C38C-1249-B704-B4DE902AF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6761D65-9E45-44D4-482D-7795B9A5A3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16" r="581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60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4168C-CEDC-CEDC-99FF-F656D1E9B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A3F783B-14CA-E6D7-4542-AD64B069C9BD}"/>
              </a:ext>
            </a:extLst>
          </p:cNvPr>
          <p:cNvGrpSpPr/>
          <p:nvPr/>
        </p:nvGrpSpPr>
        <p:grpSpPr>
          <a:xfrm>
            <a:off x="1058265" y="1684916"/>
            <a:ext cx="10317020" cy="2946032"/>
            <a:chOff x="522749" y="202815"/>
            <a:chExt cx="10317020" cy="294603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952E97F-A7B2-2413-B07F-16EB01F1E835}"/>
                </a:ext>
              </a:extLst>
            </p:cNvPr>
            <p:cNvSpPr/>
            <p:nvPr/>
          </p:nvSpPr>
          <p:spPr>
            <a:xfrm>
              <a:off x="522749" y="202815"/>
              <a:ext cx="6712095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pPr algn="ctr"/>
              <a:r>
                <a:rPr lang="en-US" sz="5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Types of Components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50C1C54-5368-8AAC-3F01-6A731E8E5164}"/>
                </a:ext>
              </a:extLst>
            </p:cNvPr>
            <p:cNvSpPr txBox="1"/>
            <p:nvPr/>
          </p:nvSpPr>
          <p:spPr>
            <a:xfrm>
              <a:off x="589010" y="1733075"/>
              <a:ext cx="10250759" cy="14157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514350" indent="-514350">
                <a:spcAft>
                  <a:spcPts val="3600"/>
                </a:spcAft>
                <a:buFont typeface="+mj-lt"/>
                <a:buAutoNum type="arabicPeriod"/>
              </a:pPr>
              <a:r>
                <a:rPr lang="en-US" sz="2800" dirty="0">
                  <a:latin typeface="Book Antiqua" panose="02040602050305030304" pitchFamily="18" charset="0"/>
                </a:rPr>
                <a:t>Functional Components (Preferred, modern way)</a:t>
              </a:r>
            </a:p>
            <a:p>
              <a:pPr marL="514350" indent="-514350">
                <a:spcAft>
                  <a:spcPts val="3600"/>
                </a:spcAft>
                <a:buFont typeface="+mj-lt"/>
                <a:buAutoNum type="arabicPeriod"/>
              </a:pPr>
              <a:r>
                <a:rPr lang="en-US" sz="2800" dirty="0">
                  <a:latin typeface="Book Antiqua" panose="02040602050305030304" pitchFamily="18" charset="0"/>
                </a:rPr>
                <a:t>Class Components (Older, still important historically)</a:t>
              </a:r>
              <a:endParaRPr lang="en-IN" sz="2800" dirty="0">
                <a:latin typeface="Book Antiqua" panose="0204060205030503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54682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EAE98-A7FA-491F-A46A-4BF1D4E94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0EEDB0E-7602-0F1F-88F0-009D5AEF6330}"/>
              </a:ext>
            </a:extLst>
          </p:cNvPr>
          <p:cNvGrpSpPr/>
          <p:nvPr/>
        </p:nvGrpSpPr>
        <p:grpSpPr>
          <a:xfrm>
            <a:off x="663233" y="640054"/>
            <a:ext cx="10317020" cy="5336647"/>
            <a:chOff x="649981" y="593672"/>
            <a:chExt cx="10317020" cy="533664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1228BD4-C988-ECEB-B0DC-93FB324D733C}"/>
                </a:ext>
              </a:extLst>
            </p:cNvPr>
            <p:cNvSpPr/>
            <p:nvPr/>
          </p:nvSpPr>
          <p:spPr>
            <a:xfrm>
              <a:off x="649981" y="593672"/>
              <a:ext cx="7210627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pPr algn="ctr"/>
              <a:r>
                <a:rPr lang="en-US" sz="5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Functional Component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5281FB8-084F-E55F-631F-4ACED99E11EC}"/>
                </a:ext>
              </a:extLst>
            </p:cNvPr>
            <p:cNvSpPr txBox="1"/>
            <p:nvPr/>
          </p:nvSpPr>
          <p:spPr>
            <a:xfrm>
              <a:off x="716242" y="3806661"/>
              <a:ext cx="10250759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r>
                <a:rPr lang="en-US" sz="2800" dirty="0">
                  <a:latin typeface="Book Antiqua" panose="02040602050305030304" pitchFamily="18" charset="0"/>
                </a:rPr>
                <a:t>A function that returns JSX.</a:t>
              </a:r>
            </a:p>
            <a:p>
              <a:pPr marL="457200" indent="-457200"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r>
                <a:rPr lang="en-US" sz="2800" dirty="0">
                  <a:latin typeface="Book Antiqua" panose="02040602050305030304" pitchFamily="18" charset="0"/>
                </a:rPr>
                <a:t>No need for this, simpler &amp; cleaner.</a:t>
              </a:r>
            </a:p>
            <a:p>
              <a:pPr marL="457200" indent="-457200"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r>
                <a:rPr lang="en-US" sz="2800" dirty="0">
                  <a:latin typeface="Book Antiqua" panose="02040602050305030304" pitchFamily="18" charset="0"/>
                </a:rPr>
                <a:t>With Hooks, functional components replaced most class components.</a:t>
              </a:r>
              <a:endParaRPr lang="en-IN" sz="2800" dirty="0">
                <a:latin typeface="Book Antiqua" panose="02040602050305030304" pitchFamily="18" charset="0"/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5C50D43-8C73-E829-466E-2366200547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20" t="36290" r="12132" b="21876"/>
            <a:stretch>
              <a:fillRect/>
            </a:stretch>
          </p:blipFill>
          <p:spPr>
            <a:xfrm>
              <a:off x="795130" y="1777248"/>
              <a:ext cx="5572540" cy="17691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30685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8CCC4-E6D8-1F7B-2DD8-56AA68709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369A3F1-8F58-C644-14FC-9CFB9E18EE0E}"/>
              </a:ext>
            </a:extLst>
          </p:cNvPr>
          <p:cNvGrpSpPr/>
          <p:nvPr/>
        </p:nvGrpSpPr>
        <p:grpSpPr>
          <a:xfrm>
            <a:off x="734898" y="480839"/>
            <a:ext cx="5450531" cy="5896321"/>
            <a:chOff x="827663" y="538604"/>
            <a:chExt cx="5450531" cy="589632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CE113F7-6A3E-CDD0-6CCD-07A59FFDB3A3}"/>
                </a:ext>
              </a:extLst>
            </p:cNvPr>
            <p:cNvSpPr/>
            <p:nvPr/>
          </p:nvSpPr>
          <p:spPr>
            <a:xfrm>
              <a:off x="827663" y="538604"/>
              <a:ext cx="5450531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pPr algn="ctr"/>
              <a:r>
                <a:rPr lang="en-US" sz="5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Class Component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1251EB8-D387-65B0-B06D-6D2D4BF19DFA}"/>
                </a:ext>
              </a:extLst>
            </p:cNvPr>
            <p:cNvSpPr txBox="1"/>
            <p:nvPr/>
          </p:nvSpPr>
          <p:spPr>
            <a:xfrm>
              <a:off x="874281" y="4434377"/>
              <a:ext cx="5357293" cy="20005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spcAft>
                  <a:spcPts val="2400"/>
                </a:spcAft>
                <a:buFont typeface="Wingdings" panose="05000000000000000000" pitchFamily="2" charset="2"/>
                <a:buChar char="q"/>
              </a:pPr>
              <a:r>
                <a:rPr lang="en-US" sz="2800" dirty="0">
                  <a:latin typeface="Book Antiqua" panose="02040602050305030304" pitchFamily="18" charset="0"/>
                </a:rPr>
                <a:t>Older style, before Hooks.</a:t>
              </a:r>
            </a:p>
            <a:p>
              <a:pPr marL="457200" indent="-457200">
                <a:spcAft>
                  <a:spcPts val="2400"/>
                </a:spcAft>
                <a:buFont typeface="Wingdings" panose="05000000000000000000" pitchFamily="2" charset="2"/>
                <a:buChar char="q"/>
              </a:pPr>
              <a:r>
                <a:rPr lang="en-US" sz="2800" dirty="0">
                  <a:latin typeface="Book Antiqua" panose="02040602050305030304" pitchFamily="18" charset="0"/>
                </a:rPr>
                <a:t>Uses render() method.</a:t>
              </a:r>
            </a:p>
            <a:p>
              <a:pPr marL="457200" indent="-457200">
                <a:spcAft>
                  <a:spcPts val="2400"/>
                </a:spcAft>
                <a:buFont typeface="Wingdings" panose="05000000000000000000" pitchFamily="2" charset="2"/>
                <a:buChar char="q"/>
              </a:pPr>
              <a:r>
                <a:rPr lang="en-US" sz="2800" dirty="0">
                  <a:latin typeface="Book Antiqua" panose="02040602050305030304" pitchFamily="18" charset="0"/>
                </a:rPr>
                <a:t>Still seen in legacy codebases.</a:t>
              </a:r>
              <a:endParaRPr lang="en-IN" sz="2800" dirty="0">
                <a:latin typeface="Book Antiqua" panose="02040602050305030304" pitchFamily="18" charset="0"/>
              </a:endParaRP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AC7A20A-2DC9-2D09-CE98-F2A0D00FF8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684" t="27065" r="11900" b="16210"/>
            <a:stretch>
              <a:fillRect/>
            </a:stretch>
          </p:blipFill>
          <p:spPr>
            <a:xfrm>
              <a:off x="970620" y="1656284"/>
              <a:ext cx="4300330" cy="252410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72532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B851A-DC50-3403-2947-ECB27D256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2F10089-13FB-D9A2-3996-A9B3A975EAA3}"/>
              </a:ext>
            </a:extLst>
          </p:cNvPr>
          <p:cNvGrpSpPr/>
          <p:nvPr/>
        </p:nvGrpSpPr>
        <p:grpSpPr>
          <a:xfrm>
            <a:off x="672025" y="492189"/>
            <a:ext cx="10307848" cy="5873621"/>
            <a:chOff x="705156" y="273560"/>
            <a:chExt cx="10307848" cy="587362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377327A-4CE8-E706-EE9C-6A5CFEC17D27}"/>
                </a:ext>
              </a:extLst>
            </p:cNvPr>
            <p:cNvSpPr/>
            <p:nvPr/>
          </p:nvSpPr>
          <p:spPr>
            <a:xfrm>
              <a:off x="705156" y="273560"/>
              <a:ext cx="8332730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pPr algn="ctr"/>
              <a:r>
                <a:rPr lang="en-US" sz="5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Props (Component Inputs)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182A612-BB5E-D4F5-0C84-A67D2DA9623D}"/>
                </a:ext>
              </a:extLst>
            </p:cNvPr>
            <p:cNvSpPr txBox="1"/>
            <p:nvPr/>
          </p:nvSpPr>
          <p:spPr>
            <a:xfrm>
              <a:off x="762245" y="3869634"/>
              <a:ext cx="10250759" cy="22775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200"/>
                </a:spcAft>
              </a:pPr>
              <a:r>
                <a:rPr lang="en-US" sz="2800" dirty="0">
                  <a:latin typeface="Book Antiqua" panose="02040602050305030304" pitchFamily="18" charset="0"/>
                </a:rPr>
                <a:t>Props = Properties</a:t>
              </a:r>
            </a:p>
            <a:p>
              <a:pPr>
                <a:spcAft>
                  <a:spcPts val="1200"/>
                </a:spcAft>
              </a:pPr>
              <a:r>
                <a:rPr lang="en-US" sz="2800" dirty="0">
                  <a:latin typeface="Book Antiqua" panose="02040602050305030304" pitchFamily="18" charset="0"/>
                </a:rPr>
                <a:t>Passed from parent to child</a:t>
              </a:r>
            </a:p>
            <a:p>
              <a:pPr>
                <a:spcAft>
                  <a:spcPts val="1200"/>
                </a:spcAft>
              </a:pPr>
              <a:r>
                <a:rPr lang="en-US" sz="2800" dirty="0">
                  <a:latin typeface="Book Antiqua" panose="02040602050305030304" pitchFamily="18" charset="0"/>
                </a:rPr>
                <a:t>Read-only (cannot be changed inside child)</a:t>
              </a:r>
            </a:p>
            <a:p>
              <a:pPr>
                <a:spcAft>
                  <a:spcPts val="1200"/>
                </a:spcAft>
              </a:pPr>
              <a:r>
                <a:rPr lang="en-US" sz="2800" dirty="0">
                  <a:latin typeface="Book Antiqua" panose="02040602050305030304" pitchFamily="18" charset="0"/>
                </a:rPr>
                <a:t>Props make components dynamic &amp; reusable.</a:t>
              </a:r>
              <a:endParaRPr lang="en-IN" sz="2800" dirty="0">
                <a:latin typeface="Book Antiqua" panose="02040602050305030304" pitchFamily="18" charset="0"/>
              </a:endParaRP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930ABC6-4F7D-090D-B365-40FD1964C9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561" t="31605" r="11581" b="18093"/>
            <a:stretch>
              <a:fillRect/>
            </a:stretch>
          </p:blipFill>
          <p:spPr>
            <a:xfrm>
              <a:off x="835132" y="1456168"/>
              <a:ext cx="5207860" cy="21541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65714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0636E-5F3C-1103-B4BA-F8E40AB2D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E31EA90-FA82-A3C6-CD7D-B2B00540D037}"/>
              </a:ext>
            </a:extLst>
          </p:cNvPr>
          <p:cNvGrpSpPr/>
          <p:nvPr/>
        </p:nvGrpSpPr>
        <p:grpSpPr>
          <a:xfrm>
            <a:off x="633312" y="283149"/>
            <a:ext cx="8603657" cy="2518566"/>
            <a:chOff x="674713" y="238909"/>
            <a:chExt cx="8603657" cy="251856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A771EB2-100E-2CF6-39DB-784443AE7185}"/>
                </a:ext>
              </a:extLst>
            </p:cNvPr>
            <p:cNvSpPr/>
            <p:nvPr/>
          </p:nvSpPr>
          <p:spPr>
            <a:xfrm>
              <a:off x="674713" y="238909"/>
              <a:ext cx="7792518" cy="83099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pPr algn="ctr"/>
              <a:r>
                <a:rPr lang="en-US" sz="48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State (Component Memory)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E91788E-01DD-E080-DDDB-00C1AB0B993A}"/>
                </a:ext>
              </a:extLst>
            </p:cNvPr>
            <p:cNvSpPr txBox="1"/>
            <p:nvPr/>
          </p:nvSpPr>
          <p:spPr>
            <a:xfrm>
              <a:off x="743767" y="1249370"/>
              <a:ext cx="8534603" cy="15081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200"/>
                </a:spcAft>
              </a:pPr>
              <a:r>
                <a:rPr lang="en-US" sz="2400" dirty="0">
                  <a:latin typeface="Book Antiqua" panose="02040602050305030304" pitchFamily="18" charset="0"/>
                </a:rPr>
                <a:t>State = Data that changes inside component</a:t>
              </a:r>
            </a:p>
            <a:p>
              <a:pPr>
                <a:spcAft>
                  <a:spcPts val="1200"/>
                </a:spcAft>
              </a:pPr>
              <a:r>
                <a:rPr lang="en-US" sz="2400" dirty="0">
                  <a:latin typeface="Book Antiqua" panose="02040602050305030304" pitchFamily="18" charset="0"/>
                </a:rPr>
                <a:t>Managed with </a:t>
              </a:r>
              <a:r>
                <a:rPr lang="en-US" sz="2400" dirty="0" err="1">
                  <a:latin typeface="Book Antiqua" panose="02040602050305030304" pitchFamily="18" charset="0"/>
                </a:rPr>
                <a:t>useState</a:t>
              </a:r>
              <a:r>
                <a:rPr lang="en-US" sz="2400" dirty="0">
                  <a:latin typeface="Book Antiqua" panose="02040602050305030304" pitchFamily="18" charset="0"/>
                </a:rPr>
                <a:t> in functional components</a:t>
              </a:r>
            </a:p>
            <a:p>
              <a:pPr>
                <a:spcAft>
                  <a:spcPts val="1200"/>
                </a:spcAft>
              </a:pPr>
              <a:r>
                <a:rPr lang="en-US" sz="2400" dirty="0">
                  <a:latin typeface="Book Antiqua" panose="02040602050305030304" pitchFamily="18" charset="0"/>
                </a:rPr>
                <a:t>Props = external input, State = internal memory.</a:t>
              </a:r>
              <a:endParaRPr lang="en-IN" sz="2400" dirty="0">
                <a:latin typeface="Book Antiqua" panose="02040602050305030304" pitchFamily="18" charset="0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A2449C0-2F15-9AC3-CC43-0913F0CAF9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20" t="19028" r="6302" b="11375"/>
          <a:stretch>
            <a:fillRect/>
          </a:stretch>
        </p:blipFill>
        <p:spPr>
          <a:xfrm>
            <a:off x="788505" y="3081130"/>
            <a:ext cx="7938053" cy="3407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593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D44D8-B765-F0A4-F471-340926C24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FA7B4AB-2CFF-85C8-155D-E13123B7FFF6}"/>
              </a:ext>
            </a:extLst>
          </p:cNvPr>
          <p:cNvGrpSpPr/>
          <p:nvPr/>
        </p:nvGrpSpPr>
        <p:grpSpPr>
          <a:xfrm>
            <a:off x="934152" y="1499386"/>
            <a:ext cx="8026170" cy="3639801"/>
            <a:chOff x="516708" y="247056"/>
            <a:chExt cx="8026170" cy="363980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9B25D6-6F60-A7B8-2A8F-90F6CF464C66}"/>
                </a:ext>
              </a:extLst>
            </p:cNvPr>
            <p:cNvSpPr/>
            <p:nvPr/>
          </p:nvSpPr>
          <p:spPr>
            <a:xfrm>
              <a:off x="516708" y="247056"/>
              <a:ext cx="788709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pPr algn="ctr"/>
              <a:r>
                <a:rPr lang="en-US" sz="5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Component Composition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3E84D13-2679-1F70-6248-1FEA128C4207}"/>
                </a:ext>
              </a:extLst>
            </p:cNvPr>
            <p:cNvSpPr txBox="1"/>
            <p:nvPr/>
          </p:nvSpPr>
          <p:spPr>
            <a:xfrm>
              <a:off x="655781" y="1578533"/>
              <a:ext cx="7887097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spcAft>
                  <a:spcPts val="3600"/>
                </a:spcAft>
                <a:buFont typeface="Wingdings" panose="05000000000000000000" pitchFamily="2" charset="2"/>
                <a:buChar char="q"/>
              </a:pPr>
              <a:r>
                <a:rPr lang="en-US" sz="2800" dirty="0">
                  <a:latin typeface="Book Antiqua" panose="02040602050305030304" pitchFamily="18" charset="0"/>
                </a:rPr>
                <a:t>Nesting components inside others</a:t>
              </a:r>
            </a:p>
            <a:p>
              <a:pPr marL="457200" indent="-457200">
                <a:spcAft>
                  <a:spcPts val="3600"/>
                </a:spcAft>
                <a:buFont typeface="Wingdings" panose="05000000000000000000" pitchFamily="2" charset="2"/>
                <a:buChar char="q"/>
              </a:pPr>
              <a:r>
                <a:rPr lang="en-US" sz="2800" dirty="0">
                  <a:latin typeface="Book Antiqua" panose="02040602050305030304" pitchFamily="18" charset="0"/>
                </a:rPr>
                <a:t>Makes UI modular</a:t>
              </a:r>
            </a:p>
            <a:p>
              <a:pPr marL="457200" indent="-457200">
                <a:spcAft>
                  <a:spcPts val="3600"/>
                </a:spcAft>
                <a:buFont typeface="Wingdings" panose="05000000000000000000" pitchFamily="2" charset="2"/>
                <a:buChar char="q"/>
              </a:pPr>
              <a:r>
                <a:rPr lang="en-US" sz="2800" dirty="0">
                  <a:latin typeface="Book Antiqua" panose="02040602050305030304" pitchFamily="18" charset="0"/>
                </a:rPr>
                <a:t>Small components combined → complex UIs.</a:t>
              </a:r>
              <a:endParaRPr lang="en-IN" sz="2800" dirty="0">
                <a:latin typeface="Book Antiqua" panose="0204060205030503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688434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C1C99-C55F-E350-7729-60A8648C8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0B439B4-66BC-68C6-05E4-BF7D017EC6B4}"/>
              </a:ext>
            </a:extLst>
          </p:cNvPr>
          <p:cNvGrpSpPr/>
          <p:nvPr/>
        </p:nvGrpSpPr>
        <p:grpSpPr>
          <a:xfrm>
            <a:off x="566725" y="541053"/>
            <a:ext cx="10419840" cy="5775894"/>
            <a:chOff x="414325" y="388600"/>
            <a:chExt cx="10419840" cy="577589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A2DE7A4-D0CF-8008-0B67-5D0B7477B03A}"/>
                </a:ext>
              </a:extLst>
            </p:cNvPr>
            <p:cNvSpPr/>
            <p:nvPr/>
          </p:nvSpPr>
          <p:spPr>
            <a:xfrm>
              <a:off x="414325" y="388600"/>
              <a:ext cx="10419840" cy="83099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pPr algn="ctr"/>
              <a:r>
                <a:rPr lang="en-US" sz="48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Component Lifecycle (Class vs Hooks)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AEFE7F5-14C7-3108-1DA1-4A74F4892A94}"/>
                </a:ext>
              </a:extLst>
            </p:cNvPr>
            <p:cNvSpPr txBox="1"/>
            <p:nvPr/>
          </p:nvSpPr>
          <p:spPr>
            <a:xfrm>
              <a:off x="493542" y="3979280"/>
              <a:ext cx="8166754" cy="2185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spcAft>
                  <a:spcPts val="2400"/>
                </a:spcAft>
                <a:buFont typeface="Wingdings" panose="05000000000000000000" pitchFamily="2" charset="2"/>
                <a:buChar char="q"/>
              </a:pPr>
              <a:r>
                <a:rPr lang="en-US" sz="2400" dirty="0">
                  <a:latin typeface="Book Antiqua" panose="02040602050305030304" pitchFamily="18" charset="0"/>
                </a:rPr>
                <a:t>Mounting → Updating → Unmounting</a:t>
              </a:r>
            </a:p>
            <a:p>
              <a:pPr marL="342900" indent="-342900">
                <a:spcAft>
                  <a:spcPts val="2400"/>
                </a:spcAft>
                <a:buFont typeface="Wingdings" panose="05000000000000000000" pitchFamily="2" charset="2"/>
                <a:buChar char="q"/>
              </a:pPr>
              <a:r>
                <a:rPr lang="en-US" sz="2400" dirty="0">
                  <a:latin typeface="Book Antiqua" panose="02040602050305030304" pitchFamily="18" charset="0"/>
                </a:rPr>
                <a:t>Class: </a:t>
              </a:r>
              <a:r>
                <a:rPr lang="en-US" sz="2400" dirty="0" err="1">
                  <a:latin typeface="Book Antiqua" panose="02040602050305030304" pitchFamily="18" charset="0"/>
                </a:rPr>
                <a:t>componentDidMount</a:t>
              </a:r>
              <a:r>
                <a:rPr lang="en-US" sz="2400" dirty="0">
                  <a:latin typeface="Book Antiqua" panose="02040602050305030304" pitchFamily="18" charset="0"/>
                </a:rPr>
                <a:t>, </a:t>
              </a:r>
              <a:r>
                <a:rPr lang="en-US" sz="2400" dirty="0" err="1">
                  <a:latin typeface="Book Antiqua" panose="02040602050305030304" pitchFamily="18" charset="0"/>
                </a:rPr>
                <a:t>componentDidUpdate</a:t>
              </a:r>
              <a:r>
                <a:rPr lang="en-US" sz="2400" dirty="0">
                  <a:latin typeface="Book Antiqua" panose="02040602050305030304" pitchFamily="18" charset="0"/>
                </a:rPr>
                <a:t>, </a:t>
              </a:r>
              <a:r>
                <a:rPr lang="en-US" sz="2400" dirty="0" err="1">
                  <a:latin typeface="Book Antiqua" panose="02040602050305030304" pitchFamily="18" charset="0"/>
                </a:rPr>
                <a:t>componentWillUnmount</a:t>
              </a:r>
              <a:endParaRPr lang="en-US" sz="2400" dirty="0">
                <a:latin typeface="Book Antiqua" panose="02040602050305030304" pitchFamily="18" charset="0"/>
              </a:endParaRPr>
            </a:p>
            <a:p>
              <a:pPr marL="342900" indent="-342900">
                <a:spcAft>
                  <a:spcPts val="2400"/>
                </a:spcAft>
                <a:buFont typeface="Wingdings" panose="05000000000000000000" pitchFamily="2" charset="2"/>
                <a:buChar char="q"/>
              </a:pPr>
              <a:r>
                <a:rPr lang="en-US" sz="2400" dirty="0">
                  <a:latin typeface="Book Antiqua" panose="02040602050305030304" pitchFamily="18" charset="0"/>
                </a:rPr>
                <a:t>Function: </a:t>
              </a:r>
              <a:r>
                <a:rPr lang="en-US" sz="2400" dirty="0" err="1">
                  <a:latin typeface="Book Antiqua" panose="02040602050305030304" pitchFamily="18" charset="0"/>
                </a:rPr>
                <a:t>useEffect</a:t>
              </a:r>
              <a:r>
                <a:rPr lang="en-US" sz="2400" dirty="0">
                  <a:latin typeface="Book Antiqua" panose="02040602050305030304" pitchFamily="18" charset="0"/>
                </a:rPr>
                <a:t> hook</a:t>
              </a:r>
              <a:endParaRPr lang="en-IN" sz="2400" dirty="0">
                <a:latin typeface="Book Antiqua" panose="02040602050305030304" pitchFamily="18" charset="0"/>
              </a:endParaRP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14EA676-3D64-A6A4-A429-E0E9812401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141" t="26093" r="8861" b="23055"/>
            <a:stretch>
              <a:fillRect/>
            </a:stretch>
          </p:blipFill>
          <p:spPr>
            <a:xfrm>
              <a:off x="569640" y="1493390"/>
              <a:ext cx="7375037" cy="22646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222079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8A953-AB51-45B2-FD3F-469EEA0D9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B54481F-4363-FC89-2D07-1F533970D4BF}"/>
              </a:ext>
            </a:extLst>
          </p:cNvPr>
          <p:cNvGrpSpPr/>
          <p:nvPr/>
        </p:nvGrpSpPr>
        <p:grpSpPr>
          <a:xfrm>
            <a:off x="611948" y="694748"/>
            <a:ext cx="11222243" cy="5468503"/>
            <a:chOff x="348102" y="209441"/>
            <a:chExt cx="11222243" cy="546850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A3639B6-EE68-F8F7-2DA5-320AE7A2BB5F}"/>
                </a:ext>
              </a:extLst>
            </p:cNvPr>
            <p:cNvSpPr/>
            <p:nvPr/>
          </p:nvSpPr>
          <p:spPr>
            <a:xfrm>
              <a:off x="348102" y="209441"/>
              <a:ext cx="9844362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pPr algn="ctr"/>
              <a:r>
                <a:rPr lang="en-US" sz="5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Advanced Component Patterns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F05158C-0736-FE48-0BF9-D6435373F269}"/>
                </a:ext>
              </a:extLst>
            </p:cNvPr>
            <p:cNvSpPr txBox="1"/>
            <p:nvPr/>
          </p:nvSpPr>
          <p:spPr>
            <a:xfrm>
              <a:off x="405632" y="1461405"/>
              <a:ext cx="11164713" cy="42165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spcAft>
                  <a:spcPts val="2400"/>
                </a:spcAft>
                <a:buFont typeface="Wingdings" panose="05000000000000000000" pitchFamily="2" charset="2"/>
                <a:buChar char="q"/>
              </a:pPr>
              <a:r>
                <a:rPr lang="en-US" sz="2800" dirty="0">
                  <a:latin typeface="Book Antiqua" panose="02040602050305030304" pitchFamily="18" charset="0"/>
                </a:rPr>
                <a:t>Controlled vs Uncontrolled Components</a:t>
              </a:r>
            </a:p>
            <a:p>
              <a:pPr marL="457200" indent="-457200">
                <a:spcAft>
                  <a:spcPts val="2400"/>
                </a:spcAft>
                <a:buFont typeface="Wingdings" panose="05000000000000000000" pitchFamily="2" charset="2"/>
                <a:buChar char="q"/>
              </a:pPr>
              <a:r>
                <a:rPr lang="en-US" sz="2800" dirty="0">
                  <a:latin typeface="Book Antiqua" panose="02040602050305030304" pitchFamily="18" charset="0"/>
                </a:rPr>
                <a:t>Higher-Order Components (HOC)</a:t>
              </a:r>
            </a:p>
            <a:p>
              <a:pPr marL="457200" indent="-457200">
                <a:spcAft>
                  <a:spcPts val="2400"/>
                </a:spcAft>
                <a:buFont typeface="Wingdings" panose="05000000000000000000" pitchFamily="2" charset="2"/>
                <a:buChar char="q"/>
              </a:pPr>
              <a:r>
                <a:rPr lang="en-US" sz="2800" dirty="0">
                  <a:latin typeface="Book Antiqua" panose="02040602050305030304" pitchFamily="18" charset="0"/>
                </a:rPr>
                <a:t>Render Props</a:t>
              </a:r>
            </a:p>
            <a:p>
              <a:pPr marL="457200" indent="-457200">
                <a:spcAft>
                  <a:spcPts val="2400"/>
                </a:spcAft>
                <a:buFont typeface="Wingdings" panose="05000000000000000000" pitchFamily="2" charset="2"/>
                <a:buChar char="q"/>
              </a:pPr>
              <a:r>
                <a:rPr lang="en-US" sz="2800" dirty="0">
                  <a:latin typeface="Book Antiqua" panose="02040602050305030304" pitchFamily="18" charset="0"/>
                </a:rPr>
                <a:t>Compound Components</a:t>
              </a:r>
            </a:p>
            <a:p>
              <a:pPr marL="457200" indent="-457200">
                <a:spcAft>
                  <a:spcPts val="2400"/>
                </a:spcAft>
                <a:buFont typeface="Wingdings" panose="05000000000000000000" pitchFamily="2" charset="2"/>
                <a:buChar char="q"/>
              </a:pPr>
              <a:r>
                <a:rPr lang="en-US" sz="2800" dirty="0">
                  <a:latin typeface="Book Antiqua" panose="02040602050305030304" pitchFamily="18" charset="0"/>
                </a:rPr>
                <a:t>Custom Hooks</a:t>
              </a:r>
            </a:p>
            <a:p>
              <a:pPr marL="457200" indent="-457200">
                <a:spcAft>
                  <a:spcPts val="2400"/>
                </a:spcAft>
                <a:buFont typeface="Wingdings" panose="05000000000000000000" pitchFamily="2" charset="2"/>
                <a:buChar char="q"/>
              </a:pPr>
              <a:r>
                <a:rPr lang="en-US" sz="2800" dirty="0">
                  <a:latin typeface="Book Antiqua" panose="02040602050305030304" pitchFamily="18" charset="0"/>
                </a:rPr>
                <a:t>Notes:👉 Useful when scaling apps and managing complex UIs.</a:t>
              </a:r>
              <a:endParaRPr lang="en-IN" sz="2800" dirty="0">
                <a:latin typeface="Book Antiqua" panose="0204060205030503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551616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200B1-8786-D85F-B429-CFEA39CFA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A02B7156-0DE0-B5CE-DB02-AA535B5C6277}"/>
              </a:ext>
            </a:extLst>
          </p:cNvPr>
          <p:cNvGrpSpPr/>
          <p:nvPr/>
        </p:nvGrpSpPr>
        <p:grpSpPr>
          <a:xfrm>
            <a:off x="1020662" y="1135333"/>
            <a:ext cx="9163633" cy="4421682"/>
            <a:chOff x="584537" y="110431"/>
            <a:chExt cx="9163633" cy="442168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0D50E99-DE6B-83F9-D313-62D6BCC5E906}"/>
                </a:ext>
              </a:extLst>
            </p:cNvPr>
            <p:cNvSpPr/>
            <p:nvPr/>
          </p:nvSpPr>
          <p:spPr>
            <a:xfrm>
              <a:off x="584537" y="110431"/>
              <a:ext cx="440056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pPr algn="ctr"/>
              <a:r>
                <a:rPr lang="en-US" sz="5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Best Practices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7CEDE38-DEFE-7289-B19F-E5E81216C0F7}"/>
                </a:ext>
              </a:extLst>
            </p:cNvPr>
            <p:cNvSpPr txBox="1"/>
            <p:nvPr/>
          </p:nvSpPr>
          <p:spPr>
            <a:xfrm>
              <a:off x="584537" y="1362014"/>
              <a:ext cx="9163633" cy="317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spcAft>
                  <a:spcPts val="2400"/>
                </a:spcAft>
                <a:buFont typeface="Wingdings" panose="05000000000000000000" pitchFamily="2" charset="2"/>
                <a:buChar char="q"/>
              </a:pPr>
              <a:r>
                <a:rPr lang="en-US" sz="2800" dirty="0">
                  <a:latin typeface="Book Antiqua" panose="02040602050305030304" pitchFamily="18" charset="0"/>
                </a:rPr>
                <a:t>Keep components small &amp; focused</a:t>
              </a:r>
            </a:p>
            <a:p>
              <a:pPr marL="457200" indent="-457200">
                <a:spcAft>
                  <a:spcPts val="2400"/>
                </a:spcAft>
                <a:buFont typeface="Wingdings" panose="05000000000000000000" pitchFamily="2" charset="2"/>
                <a:buChar char="q"/>
              </a:pPr>
              <a:r>
                <a:rPr lang="en-US" sz="2800" dirty="0">
                  <a:latin typeface="Book Antiqua" panose="02040602050305030304" pitchFamily="18" charset="0"/>
                </a:rPr>
                <a:t>Use </a:t>
              </a:r>
              <a:r>
                <a:rPr lang="en-US" sz="2800" dirty="0" err="1">
                  <a:latin typeface="Book Antiqua" panose="02040602050305030304" pitchFamily="18" charset="0"/>
                </a:rPr>
                <a:t>PascalCase</a:t>
              </a:r>
              <a:r>
                <a:rPr lang="en-US" sz="2800" dirty="0">
                  <a:latin typeface="Book Antiqua" panose="02040602050305030304" pitchFamily="18" charset="0"/>
                </a:rPr>
                <a:t> for component names</a:t>
              </a:r>
            </a:p>
            <a:p>
              <a:pPr marL="457200" indent="-457200">
                <a:spcAft>
                  <a:spcPts val="2400"/>
                </a:spcAft>
                <a:buFont typeface="Wingdings" panose="05000000000000000000" pitchFamily="2" charset="2"/>
                <a:buChar char="q"/>
              </a:pPr>
              <a:r>
                <a:rPr lang="en-US" sz="2800" dirty="0">
                  <a:latin typeface="Book Antiqua" panose="02040602050305030304" pitchFamily="18" charset="0"/>
                </a:rPr>
                <a:t>Reuse logic with custom hooks instead of duplicating</a:t>
              </a:r>
            </a:p>
            <a:p>
              <a:pPr marL="457200" indent="-457200">
                <a:spcAft>
                  <a:spcPts val="2400"/>
                </a:spcAft>
                <a:buFont typeface="Wingdings" panose="05000000000000000000" pitchFamily="2" charset="2"/>
                <a:buChar char="q"/>
              </a:pPr>
              <a:r>
                <a:rPr lang="en-US" sz="2800" dirty="0">
                  <a:latin typeface="Book Antiqua" panose="02040602050305030304" pitchFamily="18" charset="0"/>
                </a:rPr>
                <a:t>Separate UI (presentational) from business logic (container components)</a:t>
              </a:r>
              <a:endParaRPr lang="en-IN" sz="2800" dirty="0">
                <a:latin typeface="Book Antiqua" panose="0204060205030503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45362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1A7F5-941A-0F65-F1E6-7E51983C5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DDD2525-8E44-51B1-2F6A-4A2445CF5B2C}"/>
              </a:ext>
            </a:extLst>
          </p:cNvPr>
          <p:cNvSpPr/>
          <p:nvPr/>
        </p:nvSpPr>
        <p:spPr>
          <a:xfrm>
            <a:off x="79514" y="411121"/>
            <a:ext cx="788709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Component v/s Functions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64EC45D-89D9-D726-CE05-58D41A0AC6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0499757"/>
              </p:ext>
            </p:extLst>
          </p:nvPr>
        </p:nvGraphicFramePr>
        <p:xfrm>
          <a:off x="198782" y="1493658"/>
          <a:ext cx="11794435" cy="49532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9009">
                  <a:extLst>
                    <a:ext uri="{9D8B030D-6E8A-4147-A177-3AD203B41FA5}">
                      <a16:colId xmlns:a16="http://schemas.microsoft.com/office/drawing/2014/main" val="1627293475"/>
                    </a:ext>
                  </a:extLst>
                </a:gridCol>
                <a:gridCol w="5049078">
                  <a:extLst>
                    <a:ext uri="{9D8B030D-6E8A-4147-A177-3AD203B41FA5}">
                      <a16:colId xmlns:a16="http://schemas.microsoft.com/office/drawing/2014/main" val="2610947622"/>
                    </a:ext>
                  </a:extLst>
                </a:gridCol>
                <a:gridCol w="4406348">
                  <a:extLst>
                    <a:ext uri="{9D8B030D-6E8A-4147-A177-3AD203B41FA5}">
                      <a16:colId xmlns:a16="http://schemas.microsoft.com/office/drawing/2014/main" val="3832642218"/>
                    </a:ext>
                  </a:extLst>
                </a:gridCol>
              </a:tblGrid>
              <a:tr h="3710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Aspect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JavaScript Function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React Component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8902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Definition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 block of code that performs a specific task and returns a value.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 special function (or class) that returns JSX to describe UI.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3730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Return Value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Returns primitive values, objects, arrays, or other functions.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Must return </a:t>
                      </a:r>
                      <a:r>
                        <a:rPr lang="en-US" b="1"/>
                        <a:t>JSX (React elements)</a:t>
                      </a:r>
                      <a:r>
                        <a:rPr lang="en-US"/>
                        <a:t> or null.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3295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Naming Convention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Can be lowercase or uppercase (sum, </a:t>
                      </a:r>
                      <a:r>
                        <a:rPr lang="en-US" dirty="0" err="1"/>
                        <a:t>addNumbers</a:t>
                      </a:r>
                      <a:r>
                        <a:rPr lang="en-US" dirty="0"/>
                        <a:t>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Must be </a:t>
                      </a:r>
                      <a:r>
                        <a:rPr lang="en-US" b="1"/>
                        <a:t>PascalCase</a:t>
                      </a:r>
                      <a:r>
                        <a:rPr lang="en-US"/>
                        <a:t> (Greeting, UserCard).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019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Input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Takes parameters/arguments.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Takes </a:t>
                      </a:r>
                      <a:r>
                        <a:rPr lang="en-IN" b="1"/>
                        <a:t>props</a:t>
                      </a:r>
                      <a:r>
                        <a:rPr lang="en-IN"/>
                        <a:t> as input.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388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Usage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Called directly like sum(2,3).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Used like an </a:t>
                      </a:r>
                      <a:r>
                        <a:rPr lang="en-US" b="1"/>
                        <a:t>HTML tag</a:t>
                      </a:r>
                      <a:r>
                        <a:rPr lang="en-US"/>
                        <a:t>: &lt;Greeting name="Manas" /&gt;.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0459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State Handling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Functions don’t have built-in memory/state.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Components can manage </a:t>
                      </a:r>
                      <a:r>
                        <a:rPr lang="en-US" b="1" dirty="0"/>
                        <a:t>state</a:t>
                      </a:r>
                      <a:r>
                        <a:rPr lang="en-US" dirty="0"/>
                        <a:t> with </a:t>
                      </a:r>
                      <a:r>
                        <a:rPr lang="en-US" dirty="0" err="1"/>
                        <a:t>useState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useReducer</a:t>
                      </a:r>
                      <a:r>
                        <a:rPr lang="en-US" dirty="0"/>
                        <a:t>, etc.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2965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Reusability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Reusable logic, but not tied to UI.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Reusable </a:t>
                      </a:r>
                      <a:r>
                        <a:rPr lang="en-US" b="1"/>
                        <a:t>UI + logic</a:t>
                      </a:r>
                      <a:r>
                        <a:rPr lang="en-US"/>
                        <a:t> as building blocks.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4539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Lifecycle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Functions don’t have lifecycle.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Components have lifecycle (mount, update, unmount).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62667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2716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B760A-CFD2-74D1-4169-DB8287DF0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E201A4C8-7622-9AE1-528F-D22D05726282}"/>
              </a:ext>
            </a:extLst>
          </p:cNvPr>
          <p:cNvGrpSpPr/>
          <p:nvPr/>
        </p:nvGrpSpPr>
        <p:grpSpPr>
          <a:xfrm>
            <a:off x="1033914" y="1042186"/>
            <a:ext cx="7970937" cy="4354530"/>
            <a:chOff x="584537" y="-247759"/>
            <a:chExt cx="7970937" cy="435453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1F573A5-03DA-DAAE-FBEA-F45FD4426862}"/>
                </a:ext>
              </a:extLst>
            </p:cNvPr>
            <p:cNvSpPr/>
            <p:nvPr/>
          </p:nvSpPr>
          <p:spPr>
            <a:xfrm>
              <a:off x="584537" y="-247759"/>
              <a:ext cx="5888150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pPr algn="ctr"/>
              <a:r>
                <a:rPr lang="en-US" sz="5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Why Components?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A3FFD22-FF37-C966-9A77-8C4BC60FA3C9}"/>
                </a:ext>
              </a:extLst>
            </p:cNvPr>
            <p:cNvSpPr txBox="1"/>
            <p:nvPr/>
          </p:nvSpPr>
          <p:spPr>
            <a:xfrm>
              <a:off x="644171" y="1136727"/>
              <a:ext cx="7911303" cy="29700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spcAft>
                  <a:spcPts val="3000"/>
                </a:spcAft>
                <a:buFont typeface="Wingdings" panose="05000000000000000000" pitchFamily="2" charset="2"/>
                <a:buChar char="q"/>
              </a:pPr>
              <a:r>
                <a:rPr lang="en-US" sz="2800" dirty="0">
                  <a:latin typeface="Book Antiqua" panose="02040602050305030304" pitchFamily="18" charset="0"/>
                </a:rPr>
                <a:t>Reusability → Write once, use anywhere</a:t>
              </a:r>
            </a:p>
            <a:p>
              <a:pPr marL="457200" indent="-457200">
                <a:spcAft>
                  <a:spcPts val="3000"/>
                </a:spcAft>
                <a:buFont typeface="Wingdings" panose="05000000000000000000" pitchFamily="2" charset="2"/>
                <a:buChar char="q"/>
              </a:pPr>
              <a:r>
                <a:rPr lang="en-US" sz="2800" dirty="0">
                  <a:latin typeface="Book Antiqua" panose="02040602050305030304" pitchFamily="18" charset="0"/>
                </a:rPr>
                <a:t>Maintainability → Code is easier to manage</a:t>
              </a:r>
            </a:p>
            <a:p>
              <a:pPr marL="457200" indent="-457200">
                <a:spcAft>
                  <a:spcPts val="3000"/>
                </a:spcAft>
                <a:buFont typeface="Wingdings" panose="05000000000000000000" pitchFamily="2" charset="2"/>
                <a:buChar char="q"/>
              </a:pPr>
              <a:r>
                <a:rPr lang="en-US" sz="2800" dirty="0">
                  <a:latin typeface="Book Antiqua" panose="02040602050305030304" pitchFamily="18" charset="0"/>
                </a:rPr>
                <a:t>Readability → UI is split into logical parts</a:t>
              </a:r>
            </a:p>
            <a:p>
              <a:pPr marL="457200" indent="-457200">
                <a:spcAft>
                  <a:spcPts val="3000"/>
                </a:spcAft>
                <a:buFont typeface="Wingdings" panose="05000000000000000000" pitchFamily="2" charset="2"/>
                <a:buChar char="q"/>
              </a:pPr>
              <a:r>
                <a:rPr lang="en-US" sz="2800" dirty="0">
                  <a:latin typeface="Book Antiqua" panose="02040602050305030304" pitchFamily="18" charset="0"/>
                </a:rPr>
                <a:t>Scalability → Large apps made manageable</a:t>
              </a:r>
              <a:endParaRPr lang="en-IN" sz="2800" dirty="0">
                <a:latin typeface="Book Antiqua" panose="0204060205030503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733640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8F09C-7F3F-9939-CC26-300AA2DDE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EDF868-5567-DEDA-AEE3-0C60697C5631}"/>
              </a:ext>
            </a:extLst>
          </p:cNvPr>
          <p:cNvGrpSpPr/>
          <p:nvPr/>
        </p:nvGrpSpPr>
        <p:grpSpPr>
          <a:xfrm>
            <a:off x="736709" y="708000"/>
            <a:ext cx="10250759" cy="5441999"/>
            <a:chOff x="413227" y="-545933"/>
            <a:chExt cx="10250759" cy="544199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E419768-7713-B494-5030-E4BC10C4CF74}"/>
                </a:ext>
              </a:extLst>
            </p:cNvPr>
            <p:cNvSpPr/>
            <p:nvPr/>
          </p:nvSpPr>
          <p:spPr>
            <a:xfrm>
              <a:off x="413227" y="-545933"/>
              <a:ext cx="312777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pPr algn="ctr"/>
              <a:r>
                <a:rPr lang="en-US" sz="5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Summary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2C97530-7E29-730B-A48F-FA0AB983AB77}"/>
                </a:ext>
              </a:extLst>
            </p:cNvPr>
            <p:cNvSpPr txBox="1"/>
            <p:nvPr/>
          </p:nvSpPr>
          <p:spPr>
            <a:xfrm>
              <a:off x="413227" y="679527"/>
              <a:ext cx="10250759" cy="42165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1200"/>
                </a:spcBef>
                <a:spcAft>
                  <a:spcPts val="1200"/>
                </a:spcAft>
              </a:pPr>
              <a:r>
                <a:rPr lang="en-US" sz="2800" dirty="0">
                  <a:latin typeface="Book Antiqua" panose="02040602050305030304" pitchFamily="18" charset="0"/>
                </a:rPr>
                <a:t>Components = building blocks of React</a:t>
              </a:r>
            </a:p>
            <a:p>
              <a:pPr>
                <a:spcBef>
                  <a:spcPts val="1200"/>
                </a:spcBef>
                <a:spcAft>
                  <a:spcPts val="1200"/>
                </a:spcAft>
              </a:pPr>
              <a:r>
                <a:rPr lang="en-US" sz="2800" dirty="0">
                  <a:latin typeface="Book Antiqua" panose="02040602050305030304" pitchFamily="18" charset="0"/>
                </a:rPr>
                <a:t>Functional components are standard</a:t>
              </a:r>
            </a:p>
            <a:p>
              <a:pPr>
                <a:spcBef>
                  <a:spcPts val="1200"/>
                </a:spcBef>
                <a:spcAft>
                  <a:spcPts val="1200"/>
                </a:spcAft>
              </a:pPr>
              <a:r>
                <a:rPr lang="en-US" sz="2800" dirty="0">
                  <a:latin typeface="Book Antiqua" panose="02040602050305030304" pitchFamily="18" charset="0"/>
                </a:rPr>
                <a:t>Props = input, State = memory</a:t>
              </a:r>
            </a:p>
            <a:p>
              <a:pPr>
                <a:spcBef>
                  <a:spcPts val="1200"/>
                </a:spcBef>
                <a:spcAft>
                  <a:spcPts val="1200"/>
                </a:spcAft>
              </a:pPr>
              <a:r>
                <a:rPr lang="en-US" sz="2800" dirty="0">
                  <a:latin typeface="Book Antiqua" panose="02040602050305030304" pitchFamily="18" charset="0"/>
                </a:rPr>
                <a:t>Composition makes apps scalable</a:t>
              </a:r>
            </a:p>
            <a:p>
              <a:pPr>
                <a:spcBef>
                  <a:spcPts val="1200"/>
                </a:spcBef>
                <a:spcAft>
                  <a:spcPts val="1200"/>
                </a:spcAft>
              </a:pPr>
              <a:r>
                <a:rPr lang="en-US" sz="2800" dirty="0">
                  <a:latin typeface="Book Antiqua" panose="02040602050305030304" pitchFamily="18" charset="0"/>
                </a:rPr>
                <a:t>Lifecycle managed with Hooks</a:t>
              </a:r>
            </a:p>
            <a:p>
              <a:pPr>
                <a:spcBef>
                  <a:spcPts val="1200"/>
                </a:spcBef>
                <a:spcAft>
                  <a:spcPts val="1200"/>
                </a:spcAft>
              </a:pPr>
              <a:r>
                <a:rPr lang="en-US" sz="2800" dirty="0">
                  <a:latin typeface="Book Antiqua" panose="02040602050305030304" pitchFamily="18" charset="0"/>
                </a:rPr>
                <a:t>Advanced patterns → reusable, maintainable apps</a:t>
              </a:r>
              <a:endParaRPr lang="en-IN" sz="2800" dirty="0">
                <a:latin typeface="Book Antiqua" panose="0204060205030503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70977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ilk Glass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316</TotalTime>
  <Words>482</Words>
  <Application>Microsoft Office PowerPoint</Application>
  <PresentationFormat>Widescreen</PresentationFormat>
  <Paragraphs>84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Berlin Sans FB Demi</vt:lpstr>
      <vt:lpstr>Book Antiqua</vt:lpstr>
      <vt:lpstr>Calisto MT</vt:lpstr>
      <vt:lpstr>Wingdings</vt:lpstr>
      <vt:lpstr>Wingdings 2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Manas Kumar Lal</dc:creator>
  <cp:lastModifiedBy>Manas Kumar Lal</cp:lastModifiedBy>
  <cp:revision>74</cp:revision>
  <dcterms:created xsi:type="dcterms:W3CDTF">2025-07-03T20:58:50Z</dcterms:created>
  <dcterms:modified xsi:type="dcterms:W3CDTF">2025-09-15T17:25:15Z</dcterms:modified>
</cp:coreProperties>
</file>