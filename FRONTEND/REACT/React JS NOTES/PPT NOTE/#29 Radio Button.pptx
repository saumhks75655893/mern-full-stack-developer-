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6" r:id="rId2"/>
    <p:sldId id="356" r:id="rId3"/>
    <p:sldId id="365" r:id="rId4"/>
    <p:sldId id="368" r:id="rId5"/>
    <p:sldId id="362" r:id="rId6"/>
    <p:sldId id="31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7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1322349" y="1472379"/>
            <a:ext cx="9547301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Handle</a:t>
            </a:r>
          </a:p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Radio Buttons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BD52-A56B-7E9F-A9EF-6ACC498D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3CD8CD-A584-6D4B-2F78-F057745D3EE0}"/>
              </a:ext>
            </a:extLst>
          </p:cNvPr>
          <p:cNvGrpSpPr/>
          <p:nvPr/>
        </p:nvGrpSpPr>
        <p:grpSpPr>
          <a:xfrm>
            <a:off x="1320808" y="1596449"/>
            <a:ext cx="9139790" cy="3140548"/>
            <a:chOff x="935798" y="551419"/>
            <a:chExt cx="9139790" cy="31405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ABF976-D12B-6828-80A4-857405694E4F}"/>
                </a:ext>
              </a:extLst>
            </p:cNvPr>
            <p:cNvSpPr txBox="1"/>
            <p:nvPr/>
          </p:nvSpPr>
          <p:spPr>
            <a:xfrm>
              <a:off x="990797" y="1999196"/>
              <a:ext cx="8606965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Radio buttons let users select only one option from a group.</a:t>
              </a:r>
            </a:p>
            <a:p>
              <a:pPr marL="285750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All radio buttons in the same group share the same name attribute.</a:t>
              </a:r>
            </a:p>
            <a:p>
              <a:pPr marL="285750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In React, we manage which one is selected using state.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B66528-D9E6-BDB3-67BD-7EC13CB8019F}"/>
                </a:ext>
              </a:extLst>
            </p:cNvPr>
            <p:cNvSpPr/>
            <p:nvPr/>
          </p:nvSpPr>
          <p:spPr>
            <a:xfrm>
              <a:off x="935798" y="551419"/>
              <a:ext cx="9139790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a Radio Buttons?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714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8772E-E658-825F-0137-4B82D364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A6FE39F-0825-F362-6E8D-3665632B88C0}"/>
              </a:ext>
            </a:extLst>
          </p:cNvPr>
          <p:cNvGrpSpPr/>
          <p:nvPr/>
        </p:nvGrpSpPr>
        <p:grpSpPr>
          <a:xfrm>
            <a:off x="746731" y="593687"/>
            <a:ext cx="6912229" cy="5423118"/>
            <a:chOff x="595477" y="448293"/>
            <a:chExt cx="6912229" cy="542311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DE4009-EBFE-4317-076C-72BB523835A0}"/>
                </a:ext>
              </a:extLst>
            </p:cNvPr>
            <p:cNvSpPr/>
            <p:nvPr/>
          </p:nvSpPr>
          <p:spPr>
            <a:xfrm>
              <a:off x="595477" y="448293"/>
              <a:ext cx="550052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Basic Radio Button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0170F-B0BD-4894-B2EA-CB16A4D30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46" t="22457" r="10935" b="13383"/>
            <a:stretch>
              <a:fillRect/>
            </a:stretch>
          </p:blipFill>
          <p:spPr>
            <a:xfrm>
              <a:off x="673770" y="1471291"/>
              <a:ext cx="6833936" cy="44001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27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F2CF5-0E58-D8C4-FC68-2D0EFC6E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B57C146-EB87-4450-127B-EA81ED7684CC}"/>
              </a:ext>
            </a:extLst>
          </p:cNvPr>
          <p:cNvGrpSpPr/>
          <p:nvPr/>
        </p:nvGrpSpPr>
        <p:grpSpPr>
          <a:xfrm>
            <a:off x="609226" y="375907"/>
            <a:ext cx="8655092" cy="5941179"/>
            <a:chOff x="870483" y="511186"/>
            <a:chExt cx="8655092" cy="594117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DCE1F66-25AA-C69E-DB9F-E9469B284009}"/>
                </a:ext>
              </a:extLst>
            </p:cNvPr>
            <p:cNvSpPr/>
            <p:nvPr/>
          </p:nvSpPr>
          <p:spPr>
            <a:xfrm>
              <a:off x="870483" y="511186"/>
              <a:ext cx="6829727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Grouping Radio Buttons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AC9396-185B-1474-4FAC-E8FCFE9F0C43}"/>
                </a:ext>
              </a:extLst>
            </p:cNvPr>
            <p:cNvSpPr txBox="1"/>
            <p:nvPr/>
          </p:nvSpPr>
          <p:spPr>
            <a:xfrm>
              <a:off x="918610" y="1450329"/>
              <a:ext cx="86069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4200"/>
                </a:spcAft>
              </a:pPr>
              <a:r>
                <a:rPr lang="en-US" dirty="0"/>
                <a:t>If you have multiple options, map them dynamically instead of repeating code.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FF67B8C-9F8D-19AA-C934-6A39F7BA3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01" t="17444" r="9184" b="10275"/>
            <a:stretch>
              <a:fillRect/>
            </a:stretch>
          </p:blipFill>
          <p:spPr>
            <a:xfrm>
              <a:off x="973609" y="1989363"/>
              <a:ext cx="6149085" cy="44630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0529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658B-EB83-3C38-C32D-12358241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ADB445-7D28-2B2C-9C8B-37828B05F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201951"/>
              </p:ext>
            </p:extLst>
          </p:nvPr>
        </p:nvGraphicFramePr>
        <p:xfrm>
          <a:off x="681599" y="1417817"/>
          <a:ext cx="795363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589">
                  <a:extLst>
                    <a:ext uri="{9D8B030D-6E8A-4147-A177-3AD203B41FA5}">
                      <a16:colId xmlns:a16="http://schemas.microsoft.com/office/drawing/2014/main" val="179180911"/>
                    </a:ext>
                  </a:extLst>
                </a:gridCol>
                <a:gridCol w="2598821">
                  <a:extLst>
                    <a:ext uri="{9D8B030D-6E8A-4147-A177-3AD203B41FA5}">
                      <a16:colId xmlns:a16="http://schemas.microsoft.com/office/drawing/2014/main" val="443927668"/>
                    </a:ext>
                  </a:extLst>
                </a:gridCol>
                <a:gridCol w="3733228">
                  <a:extLst>
                    <a:ext uri="{9D8B030D-6E8A-4147-A177-3AD203B41FA5}">
                      <a16:colId xmlns:a16="http://schemas.microsoft.com/office/drawing/2014/main" val="396529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546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Groups radios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ahnschrift" panose="020B0502040204020203" pitchFamily="34" charset="0"/>
                        </a:rPr>
                        <a:t>All radios share same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48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ahnschrift" panose="020B0502040204020203" pitchFamily="34" charset="0"/>
                        </a:rPr>
                        <a:t>Defines 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value="Male"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361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checked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Determines selected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checked={gender==="Male"}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4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onChange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Updates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setGender(e.target.value)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29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useState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ahnschrift" panose="020B0502040204020203" pitchFamily="34" charset="0"/>
                        </a:rPr>
                        <a:t>Controls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Bahnschrift" panose="020B0502040204020203" pitchFamily="34" charset="0"/>
                        </a:rPr>
                        <a:t>const</a:t>
                      </a:r>
                      <a:r>
                        <a:rPr lang="en-IN" dirty="0">
                          <a:latin typeface="Bahnschrift" panose="020B0502040204020203" pitchFamily="34" charset="0"/>
                        </a:rPr>
                        <a:t> [gender, </a:t>
                      </a:r>
                      <a:r>
                        <a:rPr lang="en-IN" dirty="0" err="1">
                          <a:latin typeface="Bahnschrift" panose="020B0502040204020203" pitchFamily="34" charset="0"/>
                        </a:rPr>
                        <a:t>setGender</a:t>
                      </a:r>
                      <a:r>
                        <a:rPr lang="en-IN" dirty="0">
                          <a:latin typeface="Bahnschrift" panose="020B0502040204020203" pitchFamily="34" charset="0"/>
                        </a:rPr>
                        <a:t>] = </a:t>
                      </a:r>
                      <a:r>
                        <a:rPr lang="en-IN" dirty="0" err="1">
                          <a:latin typeface="Bahnschrift" panose="020B0502040204020203" pitchFamily="34" charset="0"/>
                        </a:rPr>
                        <a:t>useState</a:t>
                      </a:r>
                      <a:r>
                        <a:rPr lang="en-IN" dirty="0">
                          <a:latin typeface="Bahnschrift" panose="020B0502040204020203" pitchFamily="34" charset="0"/>
                        </a:rPr>
                        <a:t>("")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42622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549D103-26E3-5044-D5D0-EB2FCDE5D9B1}"/>
              </a:ext>
            </a:extLst>
          </p:cNvPr>
          <p:cNvSpPr/>
          <p:nvPr/>
        </p:nvSpPr>
        <p:spPr>
          <a:xfrm>
            <a:off x="559667" y="403068"/>
            <a:ext cx="298105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Summary: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F56C64-7F92-2864-247C-936BFF270BB3}"/>
              </a:ext>
            </a:extLst>
          </p:cNvPr>
          <p:cNvGrpSpPr/>
          <p:nvPr/>
        </p:nvGrpSpPr>
        <p:grpSpPr>
          <a:xfrm>
            <a:off x="559667" y="4324461"/>
            <a:ext cx="9376802" cy="1862143"/>
            <a:chOff x="559667" y="4475715"/>
            <a:chExt cx="9376802" cy="186214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7643203-B3F0-CE8B-22EF-9B883727BCCD}"/>
                </a:ext>
              </a:extLst>
            </p:cNvPr>
            <p:cNvSpPr txBox="1"/>
            <p:nvPr/>
          </p:nvSpPr>
          <p:spPr>
            <a:xfrm>
              <a:off x="559667" y="4475715"/>
              <a:ext cx="93768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dirty="0"/>
                <a:t>Q. Imagine you have a list of payment options and want to display details for the selected one.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FCCFD01-71C2-A2BB-E1D0-ABFBDDAB3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45" t="34463" r="9208" b="20910"/>
            <a:stretch>
              <a:fillRect/>
            </a:stretch>
          </p:blipFill>
          <p:spPr>
            <a:xfrm>
              <a:off x="937325" y="4963885"/>
              <a:ext cx="5827860" cy="1373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0288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1178</TotalTime>
  <Words>140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Bahnschrift</vt:lpstr>
      <vt:lpstr>Berlin Sans FB Demi</vt:lpstr>
      <vt:lpstr>Calibri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263</cp:revision>
  <dcterms:created xsi:type="dcterms:W3CDTF">2025-07-03T20:58:50Z</dcterms:created>
  <dcterms:modified xsi:type="dcterms:W3CDTF">2025-11-13T05:18:35Z</dcterms:modified>
</cp:coreProperties>
</file>