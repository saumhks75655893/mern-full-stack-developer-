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66" r:id="rId2"/>
    <p:sldId id="321" r:id="rId3"/>
    <p:sldId id="356" r:id="rId4"/>
    <p:sldId id="359" r:id="rId5"/>
    <p:sldId id="327" r:id="rId6"/>
    <p:sldId id="357" r:id="rId7"/>
    <p:sldId id="358" r:id="rId8"/>
    <p:sldId id="361" r:id="rId9"/>
    <p:sldId id="364" r:id="rId10"/>
    <p:sldId id="348" r:id="rId11"/>
    <p:sldId id="31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2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EEC0A7-5E88-49C8-86BE-5A895966D8E7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0B1A8-BDEA-4732-9714-BDE544A64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899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A2155-7B5D-AC0A-9D19-7E8A3B3CA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03D15-4A0B-DAEF-F71E-A3DC45BAA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C8BCD2-7F74-D1B4-8F3A-4DA3F2EA6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5E36B-BD0C-8842-1D78-5EDF289628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0B1A8-BDEA-4732-9714-BDE544A645A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491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80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82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94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61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55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3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3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21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1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59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8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0529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881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217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654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429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91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4170C16-CB02-44E1-8AF7-8DA3690E258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17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D259-E713-5A6D-29FD-7FA3E581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4F5DFC-C246-5839-92FC-B4FEAD22E573}"/>
              </a:ext>
            </a:extLst>
          </p:cNvPr>
          <p:cNvSpPr/>
          <p:nvPr/>
        </p:nvSpPr>
        <p:spPr>
          <a:xfrm>
            <a:off x="1322349" y="1314250"/>
            <a:ext cx="9547301" cy="36317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115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List</a:t>
            </a:r>
          </a:p>
          <a:p>
            <a:pPr algn="ctr"/>
            <a:r>
              <a:rPr lang="en-US" sz="115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Rendering</a:t>
            </a:r>
          </a:p>
        </p:txBody>
      </p:sp>
    </p:spTree>
    <p:extLst>
      <p:ext uri="{BB962C8B-B14F-4D97-AF65-F5344CB8AC3E}">
        <p14:creationId xmlns:p14="http://schemas.microsoft.com/office/powerpoint/2010/main" val="954011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40223-8F11-C227-09BE-7D068A5F4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D518DCC-3EBC-05F9-18CC-8F2E44C8FD5F}"/>
              </a:ext>
            </a:extLst>
          </p:cNvPr>
          <p:cNvGrpSpPr/>
          <p:nvPr/>
        </p:nvGrpSpPr>
        <p:grpSpPr>
          <a:xfrm>
            <a:off x="1004548" y="695798"/>
            <a:ext cx="8125702" cy="5278739"/>
            <a:chOff x="935796" y="551419"/>
            <a:chExt cx="8125702" cy="527873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E8FFC67-B37A-2B34-24AB-85B814170F3E}"/>
                </a:ext>
              </a:extLst>
            </p:cNvPr>
            <p:cNvSpPr txBox="1"/>
            <p:nvPr/>
          </p:nvSpPr>
          <p:spPr>
            <a:xfrm>
              <a:off x="935796" y="1517932"/>
              <a:ext cx="8125702" cy="8002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dirty="0"/>
                <a:t>List Rendering means displaying multiple items (like data from an array) in JSX.</a:t>
              </a:r>
            </a:p>
            <a:p>
              <a:pPr>
                <a:spcAft>
                  <a:spcPts val="1200"/>
                </a:spcAft>
              </a:pPr>
              <a:r>
                <a:rPr lang="en-US" dirty="0"/>
                <a:t>we use JavaScript’s .map() method to loop through data and return JSX elements.</a:t>
              </a:r>
              <a:endParaRPr lang="en-IN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CE1B922-8A9C-4E9B-C97A-CCD487028CAC}"/>
                </a:ext>
              </a:extLst>
            </p:cNvPr>
            <p:cNvSpPr/>
            <p:nvPr/>
          </p:nvSpPr>
          <p:spPr>
            <a:xfrm>
              <a:off x="935797" y="551419"/>
              <a:ext cx="8125701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8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What is List Rendering?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989693-4ED2-3250-CACA-E855AB319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054" t="23187" r="11030" b="14393"/>
            <a:stretch>
              <a:fillRect/>
            </a:stretch>
          </p:blipFill>
          <p:spPr>
            <a:xfrm>
              <a:off x="999193" y="2530069"/>
              <a:ext cx="5205139" cy="33000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08257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BD52-A56B-7E9F-A9EF-6ACC498D4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F3CD8CD-A584-6D4B-2F78-F057745D3EE0}"/>
              </a:ext>
            </a:extLst>
          </p:cNvPr>
          <p:cNvGrpSpPr/>
          <p:nvPr/>
        </p:nvGrpSpPr>
        <p:grpSpPr>
          <a:xfrm>
            <a:off x="1410186" y="1486445"/>
            <a:ext cx="8180702" cy="3186715"/>
            <a:chOff x="935798" y="551419"/>
            <a:chExt cx="8180702" cy="318671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5ABF976-D12B-6828-80A4-857405694E4F}"/>
                </a:ext>
              </a:extLst>
            </p:cNvPr>
            <p:cNvSpPr txBox="1"/>
            <p:nvPr/>
          </p:nvSpPr>
          <p:spPr>
            <a:xfrm>
              <a:off x="990798" y="1999196"/>
              <a:ext cx="8125702" cy="1738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4200"/>
                </a:spcAft>
              </a:pPr>
              <a:r>
                <a:rPr lang="en-US" dirty="0"/>
                <a:t>React works with immutable UI updates, and .map() creates a new array without modifying the original.</a:t>
              </a:r>
            </a:p>
            <a:p>
              <a:pPr>
                <a:spcAft>
                  <a:spcPts val="4200"/>
                </a:spcAft>
              </a:pPr>
              <a:r>
                <a:rPr lang="en-US" dirty="0"/>
                <a:t>JSX can embed JavaScript expressions inside { }, so we can directly use </a:t>
              </a:r>
              <a:r>
                <a:rPr lang="en-US" dirty="0" err="1"/>
                <a:t>array.map</a:t>
              </a:r>
              <a:r>
                <a:rPr lang="en-US" dirty="0"/>
                <a:t>() in our JSX return.</a:t>
              </a:r>
              <a:endParaRPr lang="en-IN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FB66528-D9E6-BDB3-67BD-7EC13CB8019F}"/>
                </a:ext>
              </a:extLst>
            </p:cNvPr>
            <p:cNvSpPr/>
            <p:nvPr/>
          </p:nvSpPr>
          <p:spPr>
            <a:xfrm>
              <a:off x="935798" y="551419"/>
              <a:ext cx="8077574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8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Why we use .map() in React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7141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7A1B6-ABAC-70EC-DC43-B059CCA43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ACA70EE-DCE8-2B8D-B5F6-D23D84D073BA}"/>
              </a:ext>
            </a:extLst>
          </p:cNvPr>
          <p:cNvSpPr/>
          <p:nvPr/>
        </p:nvSpPr>
        <p:spPr>
          <a:xfrm>
            <a:off x="1205470" y="1747386"/>
            <a:ext cx="954730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8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Different Types of Arrays to Render</a:t>
            </a:r>
          </a:p>
        </p:txBody>
      </p:sp>
    </p:spTree>
    <p:extLst>
      <p:ext uri="{BB962C8B-B14F-4D97-AF65-F5344CB8AC3E}">
        <p14:creationId xmlns:p14="http://schemas.microsoft.com/office/powerpoint/2010/main" val="1942103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C3950-4648-1AE6-F8FF-CC1E64EBF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AFE87B7-8F20-0E5A-79C1-8F8E6BEE3789}"/>
              </a:ext>
            </a:extLst>
          </p:cNvPr>
          <p:cNvGrpSpPr/>
          <p:nvPr/>
        </p:nvGrpSpPr>
        <p:grpSpPr>
          <a:xfrm>
            <a:off x="1073301" y="1186421"/>
            <a:ext cx="9431795" cy="3749964"/>
            <a:chOff x="619539" y="553904"/>
            <a:chExt cx="9431795" cy="374996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A8C8836-698D-9F94-2B2E-45CFDD67F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65" t="51640" r="11954" b="31299"/>
            <a:stretch>
              <a:fillRect/>
            </a:stretch>
          </p:blipFill>
          <p:spPr>
            <a:xfrm>
              <a:off x="749394" y="1766923"/>
              <a:ext cx="7839287" cy="62908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5EA388E-9386-DD65-CE2B-F68683F74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757" t="41333" r="10067" b="24888"/>
            <a:stretch>
              <a:fillRect/>
            </a:stretch>
          </p:blipFill>
          <p:spPr>
            <a:xfrm>
              <a:off x="749394" y="2775857"/>
              <a:ext cx="9301940" cy="1528011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C63DE9A-4BD6-3F04-48D7-B384A25511E5}"/>
                </a:ext>
              </a:extLst>
            </p:cNvPr>
            <p:cNvSpPr/>
            <p:nvPr/>
          </p:nvSpPr>
          <p:spPr>
            <a:xfrm>
              <a:off x="619539" y="553904"/>
              <a:ext cx="5361875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8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(A) Normal Array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708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663F9-5AF2-7D34-F6E0-643211B98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F9FD9C89-1360-DD06-F33F-D9D9E19354ED}"/>
              </a:ext>
            </a:extLst>
          </p:cNvPr>
          <p:cNvGrpSpPr/>
          <p:nvPr/>
        </p:nvGrpSpPr>
        <p:grpSpPr>
          <a:xfrm>
            <a:off x="1032050" y="730173"/>
            <a:ext cx="5313749" cy="5192676"/>
            <a:chOff x="598913" y="455166"/>
            <a:chExt cx="5313749" cy="519267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B217C0A-4528-9237-9765-A51E27BC7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469" t="30370" r="11984" b="17629"/>
            <a:stretch>
              <a:fillRect/>
            </a:stretch>
          </p:blipFill>
          <p:spPr>
            <a:xfrm>
              <a:off x="715020" y="3474080"/>
              <a:ext cx="4888258" cy="217376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2E06012-A94B-C0F3-CF12-0B61574B3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355" t="33864" r="12965" b="20312"/>
            <a:stretch>
              <a:fillRect/>
            </a:stretch>
          </p:blipFill>
          <p:spPr>
            <a:xfrm>
              <a:off x="715020" y="1591102"/>
              <a:ext cx="4143069" cy="1516483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5BBF39D-AC73-3806-F197-A78AD47A31FD}"/>
                </a:ext>
              </a:extLst>
            </p:cNvPr>
            <p:cNvSpPr/>
            <p:nvPr/>
          </p:nvSpPr>
          <p:spPr>
            <a:xfrm>
              <a:off x="598913" y="455166"/>
              <a:ext cx="5313749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(B) Array of Objects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6161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C2652-ED96-0B0C-51CB-89A6C0ED5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C339574-9FD4-98A4-33B5-4D8B6CE2AA42}"/>
              </a:ext>
            </a:extLst>
          </p:cNvPr>
          <p:cNvGrpSpPr/>
          <p:nvPr/>
        </p:nvGrpSpPr>
        <p:grpSpPr>
          <a:xfrm>
            <a:off x="1119137" y="815702"/>
            <a:ext cx="5217495" cy="5226596"/>
            <a:chOff x="605789" y="576063"/>
            <a:chExt cx="5217495" cy="522659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397C1F3-7283-698E-B1D1-FACBC710C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111" t="26006" r="12944" b="16044"/>
            <a:stretch>
              <a:fillRect/>
            </a:stretch>
          </p:blipFill>
          <p:spPr>
            <a:xfrm>
              <a:off x="714660" y="3176336"/>
              <a:ext cx="3694394" cy="262632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B3BFCB4-9276-38FA-9452-24A55F8B7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631" t="38336" r="12116" b="22810"/>
            <a:stretch>
              <a:fillRect/>
            </a:stretch>
          </p:blipFill>
          <p:spPr>
            <a:xfrm>
              <a:off x="714660" y="1627386"/>
              <a:ext cx="4846161" cy="1267068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93B8A88-84D0-F7FB-EA85-C884B56ACADB}"/>
                </a:ext>
              </a:extLst>
            </p:cNvPr>
            <p:cNvSpPr/>
            <p:nvPr/>
          </p:nvSpPr>
          <p:spPr>
            <a:xfrm>
              <a:off x="605789" y="576063"/>
              <a:ext cx="5217495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(C) Array of Arrays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1033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AC5B2-2334-7A22-4BAC-BD35667C7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7C69D1D-A7F4-566D-7401-CE6FDD8684FB}"/>
              </a:ext>
            </a:extLst>
          </p:cNvPr>
          <p:cNvGrpSpPr/>
          <p:nvPr/>
        </p:nvGrpSpPr>
        <p:grpSpPr>
          <a:xfrm>
            <a:off x="1044657" y="740258"/>
            <a:ext cx="7611206" cy="5377484"/>
            <a:chOff x="831525" y="686220"/>
            <a:chExt cx="7611206" cy="537748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78C6623-E5E6-3EFA-4E63-EB86A6D1D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45" t="12732" r="5983" b="7770"/>
            <a:stretch>
              <a:fillRect/>
            </a:stretch>
          </p:blipFill>
          <p:spPr>
            <a:xfrm>
              <a:off x="879653" y="1968461"/>
              <a:ext cx="6744189" cy="409524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70CA3E1-8B28-CF9C-68AE-580CC3BB911D}"/>
                </a:ext>
              </a:extLst>
            </p:cNvPr>
            <p:cNvSpPr/>
            <p:nvPr/>
          </p:nvSpPr>
          <p:spPr>
            <a:xfrm>
              <a:off x="831525" y="686220"/>
              <a:ext cx="7611206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36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Rendering Components with .map()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62B2CDF-063A-A20E-9CDF-86B99EA3BBA5}"/>
                </a:ext>
              </a:extLst>
            </p:cNvPr>
            <p:cNvSpPr txBox="1"/>
            <p:nvPr/>
          </p:nvSpPr>
          <p:spPr>
            <a:xfrm>
              <a:off x="879653" y="1465840"/>
              <a:ext cx="54386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dirty="0"/>
                <a:t>Instead of inline JSX, create a reusable component.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116310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4ED7D-1300-EC77-D01A-160D1B6B6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4B7C8CB-EBE6-7844-07DF-89C28003AF96}"/>
              </a:ext>
            </a:extLst>
          </p:cNvPr>
          <p:cNvGrpSpPr/>
          <p:nvPr/>
        </p:nvGrpSpPr>
        <p:grpSpPr>
          <a:xfrm>
            <a:off x="1127159" y="1194021"/>
            <a:ext cx="8621857" cy="4006591"/>
            <a:chOff x="1044657" y="740258"/>
            <a:chExt cx="8621857" cy="400659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DD2C60B-AB50-8B65-303A-232A13B93105}"/>
                </a:ext>
              </a:extLst>
            </p:cNvPr>
            <p:cNvGrpSpPr/>
            <p:nvPr/>
          </p:nvGrpSpPr>
          <p:grpSpPr>
            <a:xfrm>
              <a:off x="1044657" y="740258"/>
              <a:ext cx="8408726" cy="1148952"/>
              <a:chOff x="831525" y="686220"/>
              <a:chExt cx="8408726" cy="1148952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6D51D82-729F-1B0B-B4FE-A3BB0F736327}"/>
                  </a:ext>
                </a:extLst>
              </p:cNvPr>
              <p:cNvSpPr/>
              <p:nvPr/>
            </p:nvSpPr>
            <p:spPr>
              <a:xfrm>
                <a:off x="831525" y="686220"/>
                <a:ext cx="8408726" cy="64633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/>
                  <a:lightRig rig="threePt" dir="t"/>
                </a:scene3d>
                <a:sp3d extrusionH="57150">
                  <a:bevelT w="57150" h="38100" prst="artDeco"/>
                </a:sp3d>
              </a:bodyPr>
              <a:lstStyle/>
              <a:p>
                <a:r>
                  <a:rPr lang="en-US" sz="3600" b="1" dirty="0">
                    <a:ln w="9525">
                      <a:solidFill>
                        <a:schemeClr val="bg1"/>
                      </a:solidFill>
                      <a:prstDash val="solid"/>
                    </a:ln>
                    <a:effectLst>
                      <a:outerShdw blurRad="12700" dist="38100" dir="2700000" algn="tl" rotWithShape="0">
                        <a:schemeClr val="bg1">
                          <a:lumMod val="50000"/>
                        </a:schemeClr>
                      </a:outerShdw>
                    </a:effectLst>
                    <a:latin typeface="Berlin Sans FB Demi" panose="020E0802020502020306" pitchFamily="34" charset="0"/>
                  </a:rPr>
                  <a:t>Conditional Rendering with Mapping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3C3247-8145-6342-A374-B9EAFEED230C}"/>
                  </a:ext>
                </a:extLst>
              </p:cNvPr>
              <p:cNvSpPr txBox="1"/>
              <p:nvPr/>
            </p:nvSpPr>
            <p:spPr>
              <a:xfrm>
                <a:off x="879652" y="1465840"/>
                <a:ext cx="61742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dirty="0"/>
                  <a:t>You can also conditionally show elements during map</a:t>
                </a:r>
                <a:endParaRPr lang="en-IN" dirty="0"/>
              </a:p>
            </p:txBody>
          </p:sp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65729B6-DB2F-C6D7-60E3-1034542AF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76" t="34992" r="6108" b="18465"/>
            <a:stretch>
              <a:fillRect/>
            </a:stretch>
          </p:blipFill>
          <p:spPr>
            <a:xfrm>
              <a:off x="1092784" y="3596687"/>
              <a:ext cx="8573730" cy="115016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E9278CB-A8B1-594E-918A-67AF19940D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586" t="34434" r="7350" b="20325"/>
            <a:stretch>
              <a:fillRect/>
            </a:stretch>
          </p:blipFill>
          <p:spPr>
            <a:xfrm>
              <a:off x="1092784" y="2117055"/>
              <a:ext cx="7605742" cy="1251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21387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C219D-9958-684D-0FA4-8FEB38862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2AF3F59-6384-E33E-FD5E-856B09D530A1}"/>
              </a:ext>
            </a:extLst>
          </p:cNvPr>
          <p:cNvGrpSpPr/>
          <p:nvPr/>
        </p:nvGrpSpPr>
        <p:grpSpPr>
          <a:xfrm>
            <a:off x="701785" y="863577"/>
            <a:ext cx="10456646" cy="4857573"/>
            <a:chOff x="1024918" y="808576"/>
            <a:chExt cx="10456646" cy="485757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CEA7E03-D493-AB5D-EF75-7E96F77096AA}"/>
                </a:ext>
              </a:extLst>
            </p:cNvPr>
            <p:cNvSpPr/>
            <p:nvPr/>
          </p:nvSpPr>
          <p:spPr>
            <a:xfrm>
              <a:off x="1024918" y="808576"/>
              <a:ext cx="7390311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32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Common Beginner Mistakes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C5CC0D-3CE0-C70B-7F8B-437747975694}"/>
                </a:ext>
              </a:extLst>
            </p:cNvPr>
            <p:cNvSpPr txBox="1"/>
            <p:nvPr/>
          </p:nvSpPr>
          <p:spPr>
            <a:xfrm>
              <a:off x="1024918" y="1646811"/>
              <a:ext cx="76034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0"/>
                </a:spcAft>
              </a:pPr>
              <a:r>
                <a:rPr lang="en-US" dirty="0"/>
                <a:t>🚫 Mistake 1: Forgetting return when using curly braces in arrow function:</a:t>
              </a:r>
              <a:endParaRPr lang="en-IN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4C48AA1-7068-047B-DB5C-5D51EA8A46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755" t="23041" r="8406" b="13790"/>
            <a:stretch>
              <a:fillRect/>
            </a:stretch>
          </p:blipFill>
          <p:spPr>
            <a:xfrm>
              <a:off x="1168782" y="2158810"/>
              <a:ext cx="5060138" cy="1868884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202A4FA-D662-56DD-9989-7017AA62E3B1}"/>
                </a:ext>
              </a:extLst>
            </p:cNvPr>
            <p:cNvSpPr txBox="1"/>
            <p:nvPr/>
          </p:nvSpPr>
          <p:spPr>
            <a:xfrm>
              <a:off x="1024918" y="4281154"/>
              <a:ext cx="10456646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en-US" dirty="0"/>
                <a:t>🚫 Mistake 2: Not using key prop.</a:t>
              </a:r>
            </a:p>
            <a:p>
              <a:pPr>
                <a:spcAft>
                  <a:spcPts val="1800"/>
                </a:spcAft>
              </a:pPr>
              <a:r>
                <a:rPr lang="en-US" dirty="0"/>
                <a:t>🚫 Mistake 3: Mutating the original array before mapping.</a:t>
              </a:r>
            </a:p>
            <a:p>
              <a:pPr>
                <a:spcAft>
                  <a:spcPts val="1800"/>
                </a:spcAft>
              </a:pPr>
              <a:r>
                <a:rPr lang="en-US" dirty="0"/>
                <a:t>🚫 Mistake 4: Returning multiple root elements inside .map() without wrapping (use &lt;</a:t>
              </a:r>
              <a:r>
                <a:rPr lang="en-US" dirty="0" err="1"/>
                <a:t>React.Fragment</a:t>
              </a:r>
              <a:r>
                <a:rPr lang="en-US" dirty="0"/>
                <a:t>&gt;).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666109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31DEB-18E7-5965-8DAF-3F835ABC2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AC84B9-4F01-C36B-EF4F-1CEB400338F0}"/>
              </a:ext>
            </a:extLst>
          </p:cNvPr>
          <p:cNvSpPr/>
          <p:nvPr/>
        </p:nvSpPr>
        <p:spPr>
          <a:xfrm>
            <a:off x="2541330" y="1259175"/>
            <a:ext cx="7109340" cy="43396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13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613384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962</TotalTime>
  <Words>201</Words>
  <Application>Microsoft Office PowerPoint</Application>
  <PresentationFormat>Widescreen</PresentationFormat>
  <Paragraphs>23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Berlin Sans FB Demi</vt:lpstr>
      <vt:lpstr>Calibri</vt:lpstr>
      <vt:lpstr>Calisto MT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 Kumar Lal</dc:creator>
  <cp:lastModifiedBy>Manas Kumar Lal</cp:lastModifiedBy>
  <cp:revision>235</cp:revision>
  <dcterms:created xsi:type="dcterms:W3CDTF">2025-07-03T20:58:50Z</dcterms:created>
  <dcterms:modified xsi:type="dcterms:W3CDTF">2025-10-13T14:10:55Z</dcterms:modified>
</cp:coreProperties>
</file>