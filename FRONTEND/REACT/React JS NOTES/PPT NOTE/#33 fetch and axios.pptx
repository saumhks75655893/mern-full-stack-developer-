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6" r:id="rId2"/>
    <p:sldId id="448" r:id="rId3"/>
    <p:sldId id="484" r:id="rId4"/>
    <p:sldId id="497" r:id="rId5"/>
    <p:sldId id="374" r:id="rId6"/>
    <p:sldId id="356" r:id="rId7"/>
    <p:sldId id="365" r:id="rId8"/>
    <p:sldId id="379" r:id="rId9"/>
    <p:sldId id="380" r:id="rId10"/>
    <p:sldId id="378" r:id="rId11"/>
    <p:sldId id="504" r:id="rId12"/>
    <p:sldId id="505" r:id="rId13"/>
    <p:sldId id="507" r:id="rId14"/>
    <p:sldId id="518" r:id="rId15"/>
    <p:sldId id="508" r:id="rId16"/>
    <p:sldId id="512" r:id="rId17"/>
    <p:sldId id="509" r:id="rId18"/>
    <p:sldId id="511" r:id="rId19"/>
    <p:sldId id="514" r:id="rId20"/>
    <p:sldId id="515" r:id="rId21"/>
    <p:sldId id="516" r:id="rId22"/>
    <p:sldId id="31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2539246" y="1080494"/>
            <a:ext cx="7113507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Fetch &amp; Axios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25D93D-4C8A-C89C-F201-D41D3C09D7BB}"/>
              </a:ext>
            </a:extLst>
          </p:cNvPr>
          <p:cNvGrpSpPr/>
          <p:nvPr/>
        </p:nvGrpSpPr>
        <p:grpSpPr>
          <a:xfrm>
            <a:off x="7818507" y="2194864"/>
            <a:ext cx="4085854" cy="3072466"/>
            <a:chOff x="7340903" y="2315350"/>
            <a:chExt cx="4085854" cy="3072466"/>
          </a:xfrm>
        </p:grpSpPr>
        <p:pic>
          <p:nvPicPr>
            <p:cNvPr id="1034" name="Picture 10" descr="Server PNG transparent image download, size: 1789x1105px">
              <a:extLst>
                <a:ext uri="{FF2B5EF4-FFF2-40B4-BE49-F238E27FC236}">
                  <a16:creationId xmlns:a16="http://schemas.microsoft.com/office/drawing/2014/main" id="{64115A69-F6E9-5E23-FBBC-75EF86D58D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0903" y="2315350"/>
              <a:ext cx="4085854" cy="2523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4983BA-3D7B-551D-C887-E5B05B83C9B5}"/>
                </a:ext>
              </a:extLst>
            </p:cNvPr>
            <p:cNvSpPr txBox="1"/>
            <p:nvPr/>
          </p:nvSpPr>
          <p:spPr>
            <a:xfrm>
              <a:off x="8862460" y="4926151"/>
              <a:ext cx="124440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Server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40A67D4-FCF3-197F-9A7B-931DB359B421}"/>
              </a:ext>
            </a:extLst>
          </p:cNvPr>
          <p:cNvGrpSpPr/>
          <p:nvPr/>
        </p:nvGrpSpPr>
        <p:grpSpPr>
          <a:xfrm>
            <a:off x="719847" y="2536164"/>
            <a:ext cx="2607013" cy="2851652"/>
            <a:chOff x="719847" y="2536164"/>
            <a:chExt cx="2607013" cy="2851652"/>
          </a:xfrm>
        </p:grpSpPr>
        <p:pic>
          <p:nvPicPr>
            <p:cNvPr id="1030" name="Picture 6" descr="Computer desktop PC PNG transparent image download, size: 512x439px">
              <a:extLst>
                <a:ext uri="{FF2B5EF4-FFF2-40B4-BE49-F238E27FC236}">
                  <a16:creationId xmlns:a16="http://schemas.microsoft.com/office/drawing/2014/main" id="{B8EDA69A-1F2F-9C86-B9FD-C81F5CDB6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847" y="2536164"/>
              <a:ext cx="2607013" cy="223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41BDC4-5CFF-A2CD-CCF1-A678ED982BD9}"/>
                </a:ext>
              </a:extLst>
            </p:cNvPr>
            <p:cNvSpPr txBox="1"/>
            <p:nvPr/>
          </p:nvSpPr>
          <p:spPr>
            <a:xfrm>
              <a:off x="1492137" y="4926151"/>
              <a:ext cx="124440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Client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15BC59-0753-4004-9D05-B43CD9051038}"/>
              </a:ext>
            </a:extLst>
          </p:cNvPr>
          <p:cNvGrpSpPr/>
          <p:nvPr/>
        </p:nvGrpSpPr>
        <p:grpSpPr>
          <a:xfrm>
            <a:off x="3631661" y="2490695"/>
            <a:ext cx="4131012" cy="2326247"/>
            <a:chOff x="3651116" y="2676059"/>
            <a:chExt cx="4131012" cy="2326247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3979013-261C-1A07-5D71-ECCF9445AB94}"/>
                </a:ext>
              </a:extLst>
            </p:cNvPr>
            <p:cNvCxnSpPr>
              <a:cxnSpLocks/>
            </p:cNvCxnSpPr>
            <p:nvPr/>
          </p:nvCxnSpPr>
          <p:spPr>
            <a:xfrm>
              <a:off x="3651116" y="3312267"/>
              <a:ext cx="4131012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FB00FC1-D3B2-CA7E-D789-C199DA710C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1116" y="4366097"/>
              <a:ext cx="4131012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97B5C3-7F90-A945-0F35-86BF87483C48}"/>
                </a:ext>
              </a:extLst>
            </p:cNvPr>
            <p:cNvSpPr txBox="1"/>
            <p:nvPr/>
          </p:nvSpPr>
          <p:spPr>
            <a:xfrm>
              <a:off x="4969935" y="2676059"/>
              <a:ext cx="124440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request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8FD472-3E56-7E10-3569-A47FDEB0D2A9}"/>
                </a:ext>
              </a:extLst>
            </p:cNvPr>
            <p:cNvSpPr txBox="1"/>
            <p:nvPr/>
          </p:nvSpPr>
          <p:spPr>
            <a:xfrm>
              <a:off x="4906620" y="4540641"/>
              <a:ext cx="13710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response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EAD4D3C-DD7C-A639-0933-929D12CA5803}"/>
              </a:ext>
            </a:extLst>
          </p:cNvPr>
          <p:cNvSpPr/>
          <p:nvPr/>
        </p:nvSpPr>
        <p:spPr>
          <a:xfrm>
            <a:off x="611517" y="974049"/>
            <a:ext cx="668305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Client Server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4192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B73-D205-3B9A-206F-AE6C83AF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F1D18-34ED-569F-48E4-B051ECEC3D90}"/>
              </a:ext>
            </a:extLst>
          </p:cNvPr>
          <p:cNvSpPr txBox="1"/>
          <p:nvPr/>
        </p:nvSpPr>
        <p:spPr>
          <a:xfrm>
            <a:off x="874520" y="1539314"/>
            <a:ext cx="66222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JSON stands for JavaScript Object Notation.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It’s a lightweight data format used to store and exchange data — like sending data between a browser and a server.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D508BB-FC32-5E0E-C227-705D8AF6F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6" t="21182" r="15098" b="12719"/>
          <a:stretch>
            <a:fillRect/>
          </a:stretch>
        </p:blipFill>
        <p:spPr>
          <a:xfrm>
            <a:off x="953309" y="2833566"/>
            <a:ext cx="3164733" cy="340854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BEDBBF-FC85-EDC7-1DEC-90D880118033}"/>
              </a:ext>
            </a:extLst>
          </p:cNvPr>
          <p:cNvSpPr/>
          <p:nvPr/>
        </p:nvSpPr>
        <p:spPr>
          <a:xfrm>
            <a:off x="4558249" y="2833141"/>
            <a:ext cx="5063550" cy="13966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00"/>
                </a:solidFill>
              </a:rPr>
              <a:t>Note: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Keys and string values are wrapped in double quotes.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It's a string, not an object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6AED9-A222-628C-3F1D-DE6480926C44}"/>
              </a:ext>
            </a:extLst>
          </p:cNvPr>
          <p:cNvSpPr/>
          <p:nvPr/>
        </p:nvSpPr>
        <p:spPr>
          <a:xfrm>
            <a:off x="874520" y="458915"/>
            <a:ext cx="162117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367909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369C7-5373-3739-01BC-AE2611C1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11AD06-CB9B-3E19-999F-DBAB4501E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94"/>
          <a:stretch>
            <a:fillRect/>
          </a:stretch>
        </p:blipFill>
        <p:spPr>
          <a:xfrm>
            <a:off x="596630" y="530664"/>
            <a:ext cx="10583774" cy="553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6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2C68-A678-CD92-3EED-328AC15E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C730C4F-DF00-4060-FE6F-F9EBEB46EA56}"/>
              </a:ext>
            </a:extLst>
          </p:cNvPr>
          <p:cNvGrpSpPr/>
          <p:nvPr/>
        </p:nvGrpSpPr>
        <p:grpSpPr>
          <a:xfrm>
            <a:off x="916311" y="1044348"/>
            <a:ext cx="10359377" cy="4383876"/>
            <a:chOff x="1320808" y="1596449"/>
            <a:chExt cx="10359377" cy="438387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B7BA6B-8A3D-5CD8-5C86-24D7117C32DA}"/>
                </a:ext>
              </a:extLst>
            </p:cNvPr>
            <p:cNvSpPr txBox="1"/>
            <p:nvPr/>
          </p:nvSpPr>
          <p:spPr>
            <a:xfrm>
              <a:off x="1320808" y="2610172"/>
              <a:ext cx="10359377" cy="3370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dirty="0"/>
                <a:t>Tells a server what action to perform on a resource, such as creating, reading, updating, or deleting data.</a:t>
              </a:r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GET: </a:t>
              </a:r>
              <a:r>
                <a:rPr lang="en-US" dirty="0"/>
                <a:t>Get/fetch existing data.</a:t>
              </a:r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POST: </a:t>
              </a:r>
              <a:r>
                <a:rPr lang="en-US" dirty="0"/>
                <a:t>Add new data.</a:t>
              </a:r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PUT: </a:t>
              </a:r>
              <a:r>
                <a:rPr lang="en-US" dirty="0"/>
                <a:t>Modify existing data. (</a:t>
              </a:r>
              <a:r>
                <a:rPr lang="en-IN" dirty="0"/>
                <a:t>Replaces the entire resource)</a:t>
              </a:r>
              <a:endParaRPr lang="en-US" dirty="0"/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PATCH: </a:t>
              </a:r>
              <a:r>
                <a:rPr lang="en-US" dirty="0"/>
                <a:t>Modify existing data. (update specific fields without affecting others)</a:t>
              </a:r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</a:rPr>
                <a:t>DELETE: </a:t>
              </a:r>
              <a:r>
                <a:rPr lang="en-US" dirty="0"/>
                <a:t>Remove existing data.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4DAF4A-D27B-A8B7-92FE-254B73A5BD26}"/>
                </a:ext>
              </a:extLst>
            </p:cNvPr>
            <p:cNvSpPr/>
            <p:nvPr/>
          </p:nvSpPr>
          <p:spPr>
            <a:xfrm>
              <a:off x="1320808" y="1596449"/>
              <a:ext cx="4446715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HTTP Methods: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87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A6D7BE7-DCE6-805F-26BE-CC4EC9EE31F1}"/>
              </a:ext>
            </a:extLst>
          </p:cNvPr>
          <p:cNvGrpSpPr/>
          <p:nvPr/>
        </p:nvGrpSpPr>
        <p:grpSpPr>
          <a:xfrm>
            <a:off x="997674" y="847055"/>
            <a:ext cx="6358777" cy="4797389"/>
            <a:chOff x="1320808" y="1596449"/>
            <a:chExt cx="6358777" cy="479738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BF976-D12B-6828-80A4-857405694E4F}"/>
                </a:ext>
              </a:extLst>
            </p:cNvPr>
            <p:cNvSpPr txBox="1"/>
            <p:nvPr/>
          </p:nvSpPr>
          <p:spPr>
            <a:xfrm>
              <a:off x="1320808" y="2733925"/>
              <a:ext cx="6358777" cy="36599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Browser ka built-in function</a:t>
              </a:r>
            </a:p>
            <a:p>
              <a:pPr marL="285750" indent="-285750">
                <a:lnSpc>
                  <a:spcPct val="150000"/>
                </a:lnSpc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No installation</a:t>
              </a:r>
            </a:p>
            <a:p>
              <a:pPr marL="285750" indent="-285750">
                <a:lnSpc>
                  <a:spcPct val="150000"/>
                </a:lnSpc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Returns Promise</a:t>
              </a:r>
            </a:p>
            <a:p>
              <a:pPr marL="285750" indent="-285750">
                <a:lnSpc>
                  <a:spcPct val="150000"/>
                </a:lnSpc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Needs to convert JSON into readable JavaScript </a:t>
              </a:r>
              <a:r>
                <a:rPr lang="en-US" dirty="0" err="1"/>
                <a:t>Ojbect</a:t>
              </a:r>
              <a:endParaRPr lang="en-US" dirty="0"/>
            </a:p>
            <a:p>
              <a:pPr marL="285750" indent="-285750">
                <a:lnSpc>
                  <a:spcPct val="150000"/>
                </a:lnSpc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More code, less features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66528-D9E6-BDB3-67BD-7EC13CB8019F}"/>
                </a:ext>
              </a:extLst>
            </p:cNvPr>
            <p:cNvSpPr/>
            <p:nvPr/>
          </p:nvSpPr>
          <p:spPr>
            <a:xfrm>
              <a:off x="1320808" y="1596449"/>
              <a:ext cx="451622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Fetch?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772E-E658-825F-0137-4B82D364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EB29AC9-18F8-FE4A-7EBA-D38B3D7FBAB8}"/>
              </a:ext>
            </a:extLst>
          </p:cNvPr>
          <p:cNvGrpSpPr/>
          <p:nvPr/>
        </p:nvGrpSpPr>
        <p:grpSpPr>
          <a:xfrm>
            <a:off x="1185209" y="1220986"/>
            <a:ext cx="8495056" cy="3439210"/>
            <a:chOff x="1033955" y="932228"/>
            <a:chExt cx="8495056" cy="34392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283904-EF78-117C-98DB-255F1B351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94" t="27655" r="8307" b="15588"/>
            <a:stretch>
              <a:fillRect/>
            </a:stretch>
          </p:blipFill>
          <p:spPr>
            <a:xfrm>
              <a:off x="1120656" y="1925054"/>
              <a:ext cx="8408355" cy="244638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A8C31EA-9927-9C7F-2938-301392A69714}"/>
                </a:ext>
              </a:extLst>
            </p:cNvPr>
            <p:cNvSpPr/>
            <p:nvPr/>
          </p:nvSpPr>
          <p:spPr>
            <a:xfrm>
              <a:off x="1033955" y="932228"/>
              <a:ext cx="6447395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Basic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7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7049-3681-5336-7522-213D876F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4021662-154E-9301-F814-BB395645909C}"/>
              </a:ext>
            </a:extLst>
          </p:cNvPr>
          <p:cNvGrpSpPr/>
          <p:nvPr/>
        </p:nvGrpSpPr>
        <p:grpSpPr>
          <a:xfrm>
            <a:off x="922807" y="636750"/>
            <a:ext cx="10346386" cy="5378244"/>
            <a:chOff x="1320808" y="1596449"/>
            <a:chExt cx="10346386" cy="53782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22EFE4-C04A-B3ED-EEC1-BABE774AE005}"/>
                </a:ext>
              </a:extLst>
            </p:cNvPr>
            <p:cNvSpPr txBox="1"/>
            <p:nvPr/>
          </p:nvSpPr>
          <p:spPr>
            <a:xfrm>
              <a:off x="1320808" y="2637672"/>
              <a:ext cx="10153881" cy="4337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External library</a:t>
              </a:r>
            </a:p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Clean syntax</a:t>
              </a:r>
            </a:p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Automatic JSON parsing</a:t>
              </a:r>
            </a:p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Better error handling</a:t>
              </a:r>
            </a:p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Interceptors (request/response)</a:t>
              </a:r>
            </a:p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Timeouts inside</a:t>
              </a:r>
            </a:p>
            <a:p>
              <a:pPr marL="285750" indent="-285750">
                <a:lnSpc>
                  <a:spcPct val="150000"/>
                </a:lnSpc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Upload/Download progress support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648B7A-B017-7141-0B1D-6830B51CDC18}"/>
                </a:ext>
              </a:extLst>
            </p:cNvPr>
            <p:cNvSpPr/>
            <p:nvPr/>
          </p:nvSpPr>
          <p:spPr>
            <a:xfrm>
              <a:off x="1320808" y="1596449"/>
              <a:ext cx="10346386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Axios?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749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FC14-0465-CF77-F192-75AE190A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8780A-2D8B-DA06-E143-0496C5E974D4}"/>
              </a:ext>
            </a:extLst>
          </p:cNvPr>
          <p:cNvGrpSpPr/>
          <p:nvPr/>
        </p:nvGrpSpPr>
        <p:grpSpPr>
          <a:xfrm>
            <a:off x="1076353" y="832210"/>
            <a:ext cx="8143275" cy="4946434"/>
            <a:chOff x="1090103" y="983465"/>
            <a:chExt cx="8143275" cy="494643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709090-BFCF-AB06-58B8-531626CE7919}"/>
                </a:ext>
              </a:extLst>
            </p:cNvPr>
            <p:cNvGrpSpPr/>
            <p:nvPr/>
          </p:nvGrpSpPr>
          <p:grpSpPr>
            <a:xfrm>
              <a:off x="1090103" y="983465"/>
              <a:ext cx="3110638" cy="1719942"/>
              <a:chOff x="1090103" y="983465"/>
              <a:chExt cx="3110638" cy="171994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E3A141B-C647-AED3-2C8C-55F468CF8A70}"/>
                  </a:ext>
                </a:extLst>
              </p:cNvPr>
              <p:cNvSpPr/>
              <p:nvPr/>
            </p:nvSpPr>
            <p:spPr>
              <a:xfrm>
                <a:off x="1090103" y="983465"/>
                <a:ext cx="3110638" cy="7694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Installation</a:t>
                </a: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AB46DD9-6770-6E5E-D248-4CA1E1C39A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70" t="41479" r="15818" b="25165"/>
              <a:stretch>
                <a:fillRect/>
              </a:stretch>
            </p:blipFill>
            <p:spPr>
              <a:xfrm>
                <a:off x="1148157" y="1921675"/>
                <a:ext cx="2763826" cy="781732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133082-F275-D334-CE4E-059A1461B3F8}"/>
                </a:ext>
              </a:extLst>
            </p:cNvPr>
            <p:cNvGrpSpPr/>
            <p:nvPr/>
          </p:nvGrpSpPr>
          <p:grpSpPr>
            <a:xfrm>
              <a:off x="1090103" y="3092182"/>
              <a:ext cx="8143275" cy="2837717"/>
              <a:chOff x="1090102" y="2872176"/>
              <a:chExt cx="8143275" cy="283771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2E8C3D2-58AD-2799-DDE5-A915E47DC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362" t="29407" r="7349" b="16356"/>
              <a:stretch>
                <a:fillRect/>
              </a:stretch>
            </p:blipFill>
            <p:spPr>
              <a:xfrm>
                <a:off x="1148157" y="3810386"/>
                <a:ext cx="8085220" cy="1899507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943D7E0-AF88-8A70-A6D6-F1495DB01016}"/>
                  </a:ext>
                </a:extLst>
              </p:cNvPr>
              <p:cNvSpPr/>
              <p:nvPr/>
            </p:nvSpPr>
            <p:spPr>
              <a:xfrm>
                <a:off x="1090102" y="2872176"/>
                <a:ext cx="4018163" cy="7694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Basic Example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107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339E-BC79-0A34-12C5-B8ED7C74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EA94FF-B62B-39D5-220B-99E3CB43A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526476"/>
              </p:ext>
            </p:extLst>
          </p:nvPr>
        </p:nvGraphicFramePr>
        <p:xfrm>
          <a:off x="1145101" y="2190957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58410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667436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90870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Axios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47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✖ No (install)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41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 parse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Manually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Automatic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97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4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Upload 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Interceptors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535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0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8680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DCE1F66-25AA-C69E-DB9F-E9469B284009}"/>
              </a:ext>
            </a:extLst>
          </p:cNvPr>
          <p:cNvSpPr/>
          <p:nvPr/>
        </p:nvSpPr>
        <p:spPr>
          <a:xfrm>
            <a:off x="1044654" y="1104678"/>
            <a:ext cx="39467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Fetch vs Axios </a:t>
            </a:r>
          </a:p>
        </p:txBody>
      </p:sp>
    </p:spTree>
    <p:extLst>
      <p:ext uri="{BB962C8B-B14F-4D97-AF65-F5344CB8AC3E}">
        <p14:creationId xmlns:p14="http://schemas.microsoft.com/office/powerpoint/2010/main" val="212601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A11A-8808-2255-02F4-B7993DB2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0297F1-5F88-CCA0-E662-03DBBBF31774}"/>
              </a:ext>
            </a:extLst>
          </p:cNvPr>
          <p:cNvSpPr/>
          <p:nvPr/>
        </p:nvSpPr>
        <p:spPr>
          <a:xfrm>
            <a:off x="3263523" y="1778994"/>
            <a:ext cx="5664954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Axios</a:t>
            </a:r>
          </a:p>
        </p:txBody>
      </p:sp>
    </p:spTree>
    <p:extLst>
      <p:ext uri="{BB962C8B-B14F-4D97-AF65-F5344CB8AC3E}">
        <p14:creationId xmlns:p14="http://schemas.microsoft.com/office/powerpoint/2010/main" val="3683720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9203C-FE0E-DF02-4353-6AB448F2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AD03590-8EDE-F335-F899-C8B9CE36A230}"/>
              </a:ext>
            </a:extLst>
          </p:cNvPr>
          <p:cNvGrpSpPr/>
          <p:nvPr/>
        </p:nvGrpSpPr>
        <p:grpSpPr>
          <a:xfrm>
            <a:off x="1401809" y="1311895"/>
            <a:ext cx="9285480" cy="4124206"/>
            <a:chOff x="1264305" y="968482"/>
            <a:chExt cx="9285480" cy="412420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FE171D0-7A3A-5978-E59F-117D752D8C76}"/>
                </a:ext>
              </a:extLst>
            </p:cNvPr>
            <p:cNvSpPr txBox="1"/>
            <p:nvPr/>
          </p:nvSpPr>
          <p:spPr>
            <a:xfrm>
              <a:off x="1264305" y="968482"/>
              <a:ext cx="9285480" cy="4124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rgbClr val="FFFF00"/>
                  </a:solidFill>
                </a:rPr>
                <a:t>Axios </a:t>
              </a:r>
              <a:r>
                <a:rPr lang="en-US" dirty="0"/>
                <a:t>is a popular JavaScript library for making HTTP requests from both browsers and Node.js, simplifying communication with servers to fetch or send data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endParaRPr lang="en-US" dirty="0"/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endParaRPr lang="en-US" dirty="0"/>
            </a:p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How to install Axios:</a:t>
              </a:r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IN" dirty="0"/>
                <a:t>Using CDN:</a:t>
              </a:r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endParaRPr lang="en-IN" dirty="0"/>
            </a:p>
            <a:p>
              <a:pPr marL="285750" indent="-28575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IN" dirty="0"/>
                <a:t>Using </a:t>
              </a:r>
              <a:r>
                <a:rPr lang="en-IN" dirty="0" err="1"/>
                <a:t>npm</a:t>
              </a:r>
              <a:r>
                <a:rPr lang="en-IN" dirty="0"/>
                <a:t>: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endParaRPr lang="en-IN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0BEF6D-430E-A864-CD09-4DACD0C0E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48" t="52076" r="20852" b="31465"/>
            <a:stretch>
              <a:fillRect/>
            </a:stretch>
          </p:blipFill>
          <p:spPr>
            <a:xfrm>
              <a:off x="1917448" y="4568879"/>
              <a:ext cx="1918907" cy="35919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FFE68C0-2C86-2271-929C-1C64094C2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70" t="50000" r="7406" b="31149"/>
            <a:stretch>
              <a:fillRect/>
            </a:stretch>
          </p:blipFill>
          <p:spPr>
            <a:xfrm>
              <a:off x="1917448" y="3415251"/>
              <a:ext cx="7714692" cy="3981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262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73B21-23C9-E1E7-C166-8D1FD852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892F784-A9F0-D072-8EE9-C9ED5EC1F673}"/>
              </a:ext>
            </a:extLst>
          </p:cNvPr>
          <p:cNvGrpSpPr/>
          <p:nvPr/>
        </p:nvGrpSpPr>
        <p:grpSpPr>
          <a:xfrm>
            <a:off x="584786" y="430065"/>
            <a:ext cx="10028015" cy="5997869"/>
            <a:chOff x="793586" y="346946"/>
            <a:chExt cx="10028015" cy="599786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7DB6133-4F3B-ABF9-37AA-627AFB68923A}"/>
                </a:ext>
              </a:extLst>
            </p:cNvPr>
            <p:cNvSpPr txBox="1"/>
            <p:nvPr/>
          </p:nvSpPr>
          <p:spPr>
            <a:xfrm>
              <a:off x="793586" y="1259111"/>
              <a:ext cx="60367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These are the available config options for making requests.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2EDF9F-9C6D-9740-845E-87CF48DD61F9}"/>
                </a:ext>
              </a:extLst>
            </p:cNvPr>
            <p:cNvSpPr txBox="1"/>
            <p:nvPr/>
          </p:nvSpPr>
          <p:spPr>
            <a:xfrm>
              <a:off x="793586" y="5975483"/>
              <a:ext cx="84243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Only the </a:t>
              </a:r>
              <a:r>
                <a:rPr lang="en-US" dirty="0" err="1"/>
                <a:t>url</a:t>
              </a:r>
              <a:r>
                <a:rPr lang="en-US" dirty="0"/>
                <a:t> is required. Requests will default to GET if method is not specified.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636A7B-B21D-9700-583D-151FCA23AB9F}"/>
                </a:ext>
              </a:extLst>
            </p:cNvPr>
            <p:cNvSpPr/>
            <p:nvPr/>
          </p:nvSpPr>
          <p:spPr>
            <a:xfrm>
              <a:off x="793586" y="346946"/>
              <a:ext cx="524423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Axios Configuration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56CC5A-F9D2-F64C-7F88-6546D1F4768E}"/>
                </a:ext>
              </a:extLst>
            </p:cNvPr>
            <p:cNvSpPr txBox="1"/>
            <p:nvPr/>
          </p:nvSpPr>
          <p:spPr>
            <a:xfrm>
              <a:off x="5016679" y="2593904"/>
              <a:ext cx="5804922" cy="1829695"/>
            </a:xfrm>
            <a:custGeom>
              <a:avLst/>
              <a:gdLst>
                <a:gd name="connsiteX0" fmla="*/ 0 w 5804922"/>
                <a:gd name="connsiteY0" fmla="*/ 0 h 1829695"/>
                <a:gd name="connsiteX1" fmla="*/ 522443 w 5804922"/>
                <a:gd name="connsiteY1" fmla="*/ 0 h 1829695"/>
                <a:gd name="connsiteX2" fmla="*/ 928788 w 5804922"/>
                <a:gd name="connsiteY2" fmla="*/ 0 h 1829695"/>
                <a:gd name="connsiteX3" fmla="*/ 1625378 w 5804922"/>
                <a:gd name="connsiteY3" fmla="*/ 0 h 1829695"/>
                <a:gd name="connsiteX4" fmla="*/ 2147821 w 5804922"/>
                <a:gd name="connsiteY4" fmla="*/ 0 h 1829695"/>
                <a:gd name="connsiteX5" fmla="*/ 2670264 w 5804922"/>
                <a:gd name="connsiteY5" fmla="*/ 0 h 1829695"/>
                <a:gd name="connsiteX6" fmla="*/ 3366855 w 5804922"/>
                <a:gd name="connsiteY6" fmla="*/ 0 h 1829695"/>
                <a:gd name="connsiteX7" fmla="*/ 3831249 w 5804922"/>
                <a:gd name="connsiteY7" fmla="*/ 0 h 1829695"/>
                <a:gd name="connsiteX8" fmla="*/ 4527839 w 5804922"/>
                <a:gd name="connsiteY8" fmla="*/ 0 h 1829695"/>
                <a:gd name="connsiteX9" fmla="*/ 5224430 w 5804922"/>
                <a:gd name="connsiteY9" fmla="*/ 0 h 1829695"/>
                <a:gd name="connsiteX10" fmla="*/ 5804922 w 5804922"/>
                <a:gd name="connsiteY10" fmla="*/ 0 h 1829695"/>
                <a:gd name="connsiteX11" fmla="*/ 5804922 w 5804922"/>
                <a:gd name="connsiteY11" fmla="*/ 494018 h 1829695"/>
                <a:gd name="connsiteX12" fmla="*/ 5804922 w 5804922"/>
                <a:gd name="connsiteY12" fmla="*/ 969738 h 1829695"/>
                <a:gd name="connsiteX13" fmla="*/ 5804922 w 5804922"/>
                <a:gd name="connsiteY13" fmla="*/ 1372271 h 1829695"/>
                <a:gd name="connsiteX14" fmla="*/ 5804922 w 5804922"/>
                <a:gd name="connsiteY14" fmla="*/ 1829695 h 1829695"/>
                <a:gd name="connsiteX15" fmla="*/ 5224430 w 5804922"/>
                <a:gd name="connsiteY15" fmla="*/ 1829695 h 1829695"/>
                <a:gd name="connsiteX16" fmla="*/ 4643938 w 5804922"/>
                <a:gd name="connsiteY16" fmla="*/ 1829695 h 1829695"/>
                <a:gd name="connsiteX17" fmla="*/ 3947347 w 5804922"/>
                <a:gd name="connsiteY17" fmla="*/ 1829695 h 1829695"/>
                <a:gd name="connsiteX18" fmla="*/ 3366855 w 5804922"/>
                <a:gd name="connsiteY18" fmla="*/ 1829695 h 1829695"/>
                <a:gd name="connsiteX19" fmla="*/ 2960510 w 5804922"/>
                <a:gd name="connsiteY19" fmla="*/ 1829695 h 1829695"/>
                <a:gd name="connsiteX20" fmla="*/ 2496116 w 5804922"/>
                <a:gd name="connsiteY20" fmla="*/ 1829695 h 1829695"/>
                <a:gd name="connsiteX21" fmla="*/ 1799526 w 5804922"/>
                <a:gd name="connsiteY21" fmla="*/ 1829695 h 1829695"/>
                <a:gd name="connsiteX22" fmla="*/ 1219034 w 5804922"/>
                <a:gd name="connsiteY22" fmla="*/ 1829695 h 1829695"/>
                <a:gd name="connsiteX23" fmla="*/ 754640 w 5804922"/>
                <a:gd name="connsiteY23" fmla="*/ 1829695 h 1829695"/>
                <a:gd name="connsiteX24" fmla="*/ 0 w 5804922"/>
                <a:gd name="connsiteY24" fmla="*/ 1829695 h 1829695"/>
                <a:gd name="connsiteX25" fmla="*/ 0 w 5804922"/>
                <a:gd name="connsiteY25" fmla="*/ 1427162 h 1829695"/>
                <a:gd name="connsiteX26" fmla="*/ 0 w 5804922"/>
                <a:gd name="connsiteY26" fmla="*/ 1024629 h 1829695"/>
                <a:gd name="connsiteX27" fmla="*/ 0 w 5804922"/>
                <a:gd name="connsiteY27" fmla="*/ 548909 h 1829695"/>
                <a:gd name="connsiteX28" fmla="*/ 0 w 5804922"/>
                <a:gd name="connsiteY28" fmla="*/ 0 h 182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04922" h="1829695" extrusionOk="0">
                  <a:moveTo>
                    <a:pt x="0" y="0"/>
                  </a:moveTo>
                  <a:cubicBezTo>
                    <a:pt x="251290" y="-62457"/>
                    <a:pt x="329716" y="31867"/>
                    <a:pt x="522443" y="0"/>
                  </a:cubicBezTo>
                  <a:cubicBezTo>
                    <a:pt x="715170" y="-31867"/>
                    <a:pt x="742702" y="31893"/>
                    <a:pt x="928788" y="0"/>
                  </a:cubicBezTo>
                  <a:cubicBezTo>
                    <a:pt x="1114874" y="-31893"/>
                    <a:pt x="1437611" y="3670"/>
                    <a:pt x="1625378" y="0"/>
                  </a:cubicBezTo>
                  <a:cubicBezTo>
                    <a:pt x="1813145" y="-3670"/>
                    <a:pt x="1887077" y="31976"/>
                    <a:pt x="2147821" y="0"/>
                  </a:cubicBezTo>
                  <a:cubicBezTo>
                    <a:pt x="2408565" y="-31976"/>
                    <a:pt x="2508470" y="51733"/>
                    <a:pt x="2670264" y="0"/>
                  </a:cubicBezTo>
                  <a:cubicBezTo>
                    <a:pt x="2832058" y="-51733"/>
                    <a:pt x="3224419" y="33991"/>
                    <a:pt x="3366855" y="0"/>
                  </a:cubicBezTo>
                  <a:cubicBezTo>
                    <a:pt x="3509291" y="-33991"/>
                    <a:pt x="3627299" y="24035"/>
                    <a:pt x="3831249" y="0"/>
                  </a:cubicBezTo>
                  <a:cubicBezTo>
                    <a:pt x="4035199" y="-24035"/>
                    <a:pt x="4186499" y="80325"/>
                    <a:pt x="4527839" y="0"/>
                  </a:cubicBezTo>
                  <a:cubicBezTo>
                    <a:pt x="4869179" y="-80325"/>
                    <a:pt x="4903281" y="31242"/>
                    <a:pt x="5224430" y="0"/>
                  </a:cubicBezTo>
                  <a:cubicBezTo>
                    <a:pt x="5545579" y="-31242"/>
                    <a:pt x="5662176" y="4800"/>
                    <a:pt x="5804922" y="0"/>
                  </a:cubicBezTo>
                  <a:cubicBezTo>
                    <a:pt x="5825766" y="197901"/>
                    <a:pt x="5761214" y="275865"/>
                    <a:pt x="5804922" y="494018"/>
                  </a:cubicBezTo>
                  <a:cubicBezTo>
                    <a:pt x="5848630" y="712171"/>
                    <a:pt x="5766532" y="819751"/>
                    <a:pt x="5804922" y="969738"/>
                  </a:cubicBezTo>
                  <a:cubicBezTo>
                    <a:pt x="5843312" y="1119725"/>
                    <a:pt x="5775409" y="1256618"/>
                    <a:pt x="5804922" y="1372271"/>
                  </a:cubicBezTo>
                  <a:cubicBezTo>
                    <a:pt x="5834435" y="1487924"/>
                    <a:pt x="5804095" y="1736787"/>
                    <a:pt x="5804922" y="1829695"/>
                  </a:cubicBezTo>
                  <a:cubicBezTo>
                    <a:pt x="5645392" y="1893012"/>
                    <a:pt x="5450477" y="1779355"/>
                    <a:pt x="5224430" y="1829695"/>
                  </a:cubicBezTo>
                  <a:cubicBezTo>
                    <a:pt x="4998383" y="1880035"/>
                    <a:pt x="4771340" y="1760114"/>
                    <a:pt x="4643938" y="1829695"/>
                  </a:cubicBezTo>
                  <a:cubicBezTo>
                    <a:pt x="4516536" y="1899276"/>
                    <a:pt x="4121383" y="1811226"/>
                    <a:pt x="3947347" y="1829695"/>
                  </a:cubicBezTo>
                  <a:cubicBezTo>
                    <a:pt x="3773311" y="1848164"/>
                    <a:pt x="3509107" y="1810600"/>
                    <a:pt x="3366855" y="1829695"/>
                  </a:cubicBezTo>
                  <a:cubicBezTo>
                    <a:pt x="3224603" y="1848790"/>
                    <a:pt x="3043714" y="1804304"/>
                    <a:pt x="2960510" y="1829695"/>
                  </a:cubicBezTo>
                  <a:cubicBezTo>
                    <a:pt x="2877306" y="1855086"/>
                    <a:pt x="2646447" y="1798224"/>
                    <a:pt x="2496116" y="1829695"/>
                  </a:cubicBezTo>
                  <a:cubicBezTo>
                    <a:pt x="2345785" y="1861166"/>
                    <a:pt x="1939479" y="1793011"/>
                    <a:pt x="1799526" y="1829695"/>
                  </a:cubicBezTo>
                  <a:cubicBezTo>
                    <a:pt x="1659573" y="1866379"/>
                    <a:pt x="1379315" y="1792375"/>
                    <a:pt x="1219034" y="1829695"/>
                  </a:cubicBezTo>
                  <a:cubicBezTo>
                    <a:pt x="1058753" y="1867015"/>
                    <a:pt x="893152" y="1784915"/>
                    <a:pt x="754640" y="1829695"/>
                  </a:cubicBezTo>
                  <a:cubicBezTo>
                    <a:pt x="616128" y="1874475"/>
                    <a:pt x="270251" y="1795387"/>
                    <a:pt x="0" y="1829695"/>
                  </a:cubicBezTo>
                  <a:cubicBezTo>
                    <a:pt x="-13536" y="1671446"/>
                    <a:pt x="28036" y="1612132"/>
                    <a:pt x="0" y="1427162"/>
                  </a:cubicBezTo>
                  <a:cubicBezTo>
                    <a:pt x="-28036" y="1242192"/>
                    <a:pt x="10347" y="1192131"/>
                    <a:pt x="0" y="1024629"/>
                  </a:cubicBezTo>
                  <a:cubicBezTo>
                    <a:pt x="-10347" y="857127"/>
                    <a:pt x="19070" y="715833"/>
                    <a:pt x="0" y="548909"/>
                  </a:cubicBezTo>
                  <a:cubicBezTo>
                    <a:pt x="-19070" y="381985"/>
                    <a:pt x="242" y="170652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lIns="252000" tIns="144000" rIns="252000" bIns="144000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Note: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timeout is by default 0 which means no time limit.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some headers are also by default set, so you don’t need to mention such headers. (you can see in browser network tab)</a:t>
              </a:r>
              <a:endParaRPr lang="en-IN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2D381E9-EA40-8BB3-CDF5-F9C67918A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74" t="15874" r="11382" b="9081"/>
            <a:stretch>
              <a:fillRect/>
            </a:stretch>
          </p:blipFill>
          <p:spPr>
            <a:xfrm>
              <a:off x="943211" y="1771166"/>
              <a:ext cx="3926400" cy="406159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F2E4A5E-C4A5-B618-4783-B9BACC50A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153" t="50000" r="21603" b="31274"/>
            <a:stretch>
              <a:fillRect/>
            </a:stretch>
          </p:blipFill>
          <p:spPr>
            <a:xfrm>
              <a:off x="5005783" y="1771167"/>
              <a:ext cx="2157043" cy="5688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763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201A-B7C3-25A6-2024-8F471C8F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C6FDAD-BD4B-48A7-CDE6-AD6B20F2C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38567"/>
              </p:ext>
            </p:extLst>
          </p:nvPr>
        </p:nvGraphicFramePr>
        <p:xfrm>
          <a:off x="1025570" y="2075270"/>
          <a:ext cx="966957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607">
                  <a:extLst>
                    <a:ext uri="{9D8B030D-6E8A-4147-A177-3AD203B41FA5}">
                      <a16:colId xmlns:a16="http://schemas.microsoft.com/office/drawing/2014/main" val="205841034"/>
                    </a:ext>
                  </a:extLst>
                </a:gridCol>
                <a:gridCol w="2880704">
                  <a:extLst>
                    <a:ext uri="{9D8B030D-6E8A-4147-A177-3AD203B41FA5}">
                      <a16:colId xmlns:a16="http://schemas.microsoft.com/office/drawing/2014/main" val="4166743661"/>
                    </a:ext>
                  </a:extLst>
                </a:gridCol>
                <a:gridCol w="4888259">
                  <a:extLst>
                    <a:ext uri="{9D8B030D-6E8A-4147-A177-3AD203B41FA5}">
                      <a16:colId xmlns:a16="http://schemas.microsoft.com/office/drawing/2014/main" val="3190870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responseType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responseType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47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responses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41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Plain string / 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97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download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blob (used for images, pdf’s, videos, zip files)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4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arraybuffer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Low-level 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arraybuffer</a:t>
                      </a:r>
                      <a:r>
                        <a:rPr lang="en-IN" dirty="0"/>
                        <a:t> (</a:t>
                      </a:r>
                      <a:r>
                        <a:rPr lang="en-US" dirty="0"/>
                        <a:t>Audio processing, Video stream buffering, Custom binary protocols</a:t>
                      </a:r>
                      <a:r>
                        <a:rPr lang="en-IN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XML/HTML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535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 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063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86AE0A8-C2A5-5586-0711-9A6D8861A9C8}"/>
              </a:ext>
            </a:extLst>
          </p:cNvPr>
          <p:cNvSpPr/>
          <p:nvPr/>
        </p:nvSpPr>
        <p:spPr>
          <a:xfrm>
            <a:off x="911372" y="1030242"/>
            <a:ext cx="63942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Different Response Types</a:t>
            </a:r>
          </a:p>
        </p:txBody>
      </p:sp>
    </p:spTree>
    <p:extLst>
      <p:ext uri="{BB962C8B-B14F-4D97-AF65-F5344CB8AC3E}">
        <p14:creationId xmlns:p14="http://schemas.microsoft.com/office/powerpoint/2010/main" val="41410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52D7-090C-EA6A-7E50-14561E62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1EFF6C6-30B4-12C0-AF1E-77020255D261}"/>
              </a:ext>
            </a:extLst>
          </p:cNvPr>
          <p:cNvGrpSpPr/>
          <p:nvPr/>
        </p:nvGrpSpPr>
        <p:grpSpPr>
          <a:xfrm>
            <a:off x="1129061" y="1073636"/>
            <a:ext cx="7155539" cy="4414029"/>
            <a:chOff x="874680" y="1114886"/>
            <a:chExt cx="7155539" cy="44140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ACD8922-EE84-C5DA-7CC5-8030067158BD}"/>
                </a:ext>
              </a:extLst>
            </p:cNvPr>
            <p:cNvSpPr txBox="1"/>
            <p:nvPr/>
          </p:nvSpPr>
          <p:spPr>
            <a:xfrm>
              <a:off x="922807" y="2143373"/>
              <a:ext cx="3458694" cy="33855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axios.request</a:t>
              </a:r>
              <a:r>
                <a:rPr lang="en-US" dirty="0"/>
                <a:t>(config)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axios.get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axios.delete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axios.head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axios.options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axios.post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data, 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axios.put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data, config)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 err="1"/>
                <a:t>axios.patch</a:t>
              </a:r>
              <a:r>
                <a:rPr lang="en-US" dirty="0"/>
                <a:t>(</a:t>
              </a:r>
              <a:r>
                <a:rPr lang="en-US" dirty="0" err="1"/>
                <a:t>url</a:t>
              </a:r>
              <a:r>
                <a:rPr lang="en-US" dirty="0"/>
                <a:t>, data, config)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87DFE9B-D836-0427-F25C-8347320B50E5}"/>
                </a:ext>
              </a:extLst>
            </p:cNvPr>
            <p:cNvSpPr/>
            <p:nvPr/>
          </p:nvSpPr>
          <p:spPr>
            <a:xfrm>
              <a:off x="874680" y="1114886"/>
              <a:ext cx="715553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Shorthand Request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229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E79D-B877-756C-F9EA-2CF01AD6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F3AE2F-4C97-4077-1B29-CCD8020B32FA}"/>
              </a:ext>
            </a:extLst>
          </p:cNvPr>
          <p:cNvSpPr/>
          <p:nvPr/>
        </p:nvSpPr>
        <p:spPr>
          <a:xfrm>
            <a:off x="1082892" y="1601408"/>
            <a:ext cx="1002621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Axios </a:t>
            </a:r>
          </a:p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Advanced Features</a:t>
            </a:r>
          </a:p>
        </p:txBody>
      </p:sp>
    </p:spTree>
    <p:extLst>
      <p:ext uri="{BB962C8B-B14F-4D97-AF65-F5344CB8AC3E}">
        <p14:creationId xmlns:p14="http://schemas.microsoft.com/office/powerpoint/2010/main" val="2151830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B8BE-5C23-8B94-1754-5D503FD4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18678A2-F58E-31F0-8A27-6A36DF4ECBD3}"/>
              </a:ext>
            </a:extLst>
          </p:cNvPr>
          <p:cNvGrpSpPr/>
          <p:nvPr/>
        </p:nvGrpSpPr>
        <p:grpSpPr>
          <a:xfrm>
            <a:off x="1074060" y="784362"/>
            <a:ext cx="8838316" cy="5145374"/>
            <a:chOff x="1074060" y="660609"/>
            <a:chExt cx="8838316" cy="51453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DD24A8-AE1A-FD24-AB5D-A66AED875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26" t="30112" r="13472" b="17758"/>
            <a:stretch>
              <a:fillRect/>
            </a:stretch>
          </p:blipFill>
          <p:spPr>
            <a:xfrm>
              <a:off x="1130209" y="3660941"/>
              <a:ext cx="4529604" cy="214504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9186C5-2CF9-40D0-1387-CCE78ABF0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6" t="37522" r="7631" b="22147"/>
            <a:stretch>
              <a:fillRect/>
            </a:stretch>
          </p:blipFill>
          <p:spPr>
            <a:xfrm>
              <a:off x="1130209" y="2191268"/>
              <a:ext cx="8782167" cy="132003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96DB62-0C09-E387-6106-C6C6AC099117}"/>
                </a:ext>
              </a:extLst>
            </p:cNvPr>
            <p:cNvSpPr/>
            <p:nvPr/>
          </p:nvSpPr>
          <p:spPr>
            <a:xfrm>
              <a:off x="1074060" y="660609"/>
              <a:ext cx="3662945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Interceptors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32FB27-2DD0-EC40-4B71-087B648FE702}"/>
                </a:ext>
              </a:extLst>
            </p:cNvPr>
            <p:cNvSpPr txBox="1"/>
            <p:nvPr/>
          </p:nvSpPr>
          <p:spPr>
            <a:xfrm>
              <a:off x="1074060" y="1672301"/>
              <a:ext cx="4267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Request </a:t>
              </a:r>
              <a:r>
                <a:rPr lang="en-US" dirty="0" err="1"/>
                <a:t>ke</a:t>
              </a:r>
              <a:r>
                <a:rPr lang="en-US" dirty="0"/>
                <a:t> beech me </a:t>
              </a:r>
              <a:r>
                <a:rPr lang="en-US" dirty="0" err="1"/>
                <a:t>kuch</a:t>
              </a:r>
              <a:r>
                <a:rPr lang="en-US" dirty="0"/>
                <a:t> inject </a:t>
              </a:r>
              <a:r>
                <a:rPr lang="en-US" dirty="0" err="1"/>
                <a:t>karna</a:t>
              </a:r>
              <a:r>
                <a:rPr lang="en-US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7474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B4FB-8515-2B96-3BAA-DACE21B2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A9CBA38-0EA8-64D7-10D3-7F4188E038D7}"/>
              </a:ext>
            </a:extLst>
          </p:cNvPr>
          <p:cNvGrpSpPr/>
          <p:nvPr/>
        </p:nvGrpSpPr>
        <p:grpSpPr>
          <a:xfrm>
            <a:off x="1067185" y="832488"/>
            <a:ext cx="7393493" cy="5036045"/>
            <a:chOff x="1074060" y="784362"/>
            <a:chExt cx="7393493" cy="503604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A7EE55E-A64B-0F4E-7782-B54461C492A9}"/>
                </a:ext>
              </a:extLst>
            </p:cNvPr>
            <p:cNvGrpSpPr/>
            <p:nvPr/>
          </p:nvGrpSpPr>
          <p:grpSpPr>
            <a:xfrm>
              <a:off x="1074060" y="784362"/>
              <a:ext cx="7224293" cy="1903836"/>
              <a:chOff x="1074060" y="784362"/>
              <a:chExt cx="7224293" cy="190383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18F806B-B92B-ED20-4F6D-B9A59ED20B3B}"/>
                  </a:ext>
                </a:extLst>
              </p:cNvPr>
              <p:cNvSpPr/>
              <p:nvPr/>
            </p:nvSpPr>
            <p:spPr>
              <a:xfrm>
                <a:off x="1074060" y="784362"/>
                <a:ext cx="3662945" cy="7694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Timeouts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76A6D2B-A6AB-003B-511C-43382DCFCE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652" t="44753" r="10866" b="26806"/>
              <a:stretch>
                <a:fillRect/>
              </a:stretch>
            </p:blipFill>
            <p:spPr>
              <a:xfrm>
                <a:off x="1175657" y="1691295"/>
                <a:ext cx="7122696" cy="996903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7E06F4B-70AC-0A4D-D025-2091EBB7F1ED}"/>
                </a:ext>
              </a:extLst>
            </p:cNvPr>
            <p:cNvGrpSpPr/>
            <p:nvPr/>
          </p:nvGrpSpPr>
          <p:grpSpPr>
            <a:xfrm>
              <a:off x="1074060" y="3206607"/>
              <a:ext cx="7393493" cy="2613800"/>
              <a:chOff x="1074060" y="3000351"/>
              <a:chExt cx="7393493" cy="26138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B7C89A-C3EB-4F7C-0497-E036499ED48B}"/>
                  </a:ext>
                </a:extLst>
              </p:cNvPr>
              <p:cNvSpPr/>
              <p:nvPr/>
            </p:nvSpPr>
            <p:spPr>
              <a:xfrm>
                <a:off x="1074060" y="3000351"/>
                <a:ext cx="5457369" cy="7694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File Upload Progress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9EA4CC5-9E52-A3B7-9729-50FD56744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411" t="33864" r="9333" b="21060"/>
              <a:stretch>
                <a:fillRect/>
              </a:stretch>
            </p:blipFill>
            <p:spPr>
              <a:xfrm>
                <a:off x="1175657" y="3910065"/>
                <a:ext cx="7291896" cy="17040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73240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06D9-75E6-EBD5-1591-61A038D8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7DC61E-8920-6BFC-E53F-A8AB11AB7B0B}"/>
              </a:ext>
            </a:extLst>
          </p:cNvPr>
          <p:cNvSpPr/>
          <p:nvPr/>
        </p:nvSpPr>
        <p:spPr>
          <a:xfrm>
            <a:off x="2158261" y="2275177"/>
            <a:ext cx="787547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Best Practice</a:t>
            </a:r>
          </a:p>
        </p:txBody>
      </p:sp>
    </p:spTree>
    <p:extLst>
      <p:ext uri="{BB962C8B-B14F-4D97-AF65-F5344CB8AC3E}">
        <p14:creationId xmlns:p14="http://schemas.microsoft.com/office/powerpoint/2010/main" val="2149446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0FC9-C00D-56CF-8FED-2B11ECB6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7934384-A6F8-6964-CAB9-5CA4E8610069}"/>
              </a:ext>
            </a:extLst>
          </p:cNvPr>
          <p:cNvGrpSpPr/>
          <p:nvPr/>
        </p:nvGrpSpPr>
        <p:grpSpPr>
          <a:xfrm>
            <a:off x="1335317" y="976867"/>
            <a:ext cx="7239574" cy="4539913"/>
            <a:chOff x="1135936" y="495604"/>
            <a:chExt cx="7239574" cy="453991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B9AEEF-74C8-CC3B-E2E4-EDF76449F021}"/>
                </a:ext>
              </a:extLst>
            </p:cNvPr>
            <p:cNvSpPr/>
            <p:nvPr/>
          </p:nvSpPr>
          <p:spPr>
            <a:xfrm>
              <a:off x="1135936" y="495604"/>
              <a:ext cx="548486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Using Axios instance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6B97BE-F245-6B8F-40F3-FCCB47AB0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26" t="27020" r="10312" b="16543"/>
            <a:stretch>
              <a:fillRect/>
            </a:stretch>
          </p:blipFill>
          <p:spPr>
            <a:xfrm>
              <a:off x="1251282" y="1421248"/>
              <a:ext cx="6393927" cy="269644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B61867-6983-1239-3613-5F1E6757F3B7}"/>
                </a:ext>
              </a:extLst>
            </p:cNvPr>
            <p:cNvSpPr txBox="1"/>
            <p:nvPr/>
          </p:nvSpPr>
          <p:spPr>
            <a:xfrm>
              <a:off x="1184062" y="4389186"/>
              <a:ext cx="719144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You can mention </a:t>
              </a:r>
              <a:r>
                <a:rPr lang="en-US" dirty="0" err="1"/>
                <a:t>baseURL</a:t>
              </a:r>
              <a:r>
                <a:rPr lang="en-US" dirty="0"/>
                <a:t>, default headers, timeout, auth token and common configuration, </a:t>
              </a:r>
              <a:r>
                <a:rPr lang="en-US" dirty="0" err="1"/>
                <a:t>etc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6195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93B2-0818-F6C8-F118-D9E83F17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C4BFB1-65A1-C2B6-C8A3-C50DDF468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769960"/>
              </p:ext>
            </p:extLst>
          </p:nvPr>
        </p:nvGraphicFramePr>
        <p:xfrm>
          <a:off x="904470" y="1799071"/>
          <a:ext cx="966957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607">
                  <a:extLst>
                    <a:ext uri="{9D8B030D-6E8A-4147-A177-3AD203B41FA5}">
                      <a16:colId xmlns:a16="http://schemas.microsoft.com/office/drawing/2014/main" val="205841034"/>
                    </a:ext>
                  </a:extLst>
                </a:gridCol>
                <a:gridCol w="3795104">
                  <a:extLst>
                    <a:ext uri="{9D8B030D-6E8A-4147-A177-3AD203B41FA5}">
                      <a16:colId xmlns:a16="http://schemas.microsoft.com/office/drawing/2014/main" val="4166743661"/>
                    </a:ext>
                  </a:extLst>
                </a:gridCol>
                <a:gridCol w="3973859">
                  <a:extLst>
                    <a:ext uri="{9D8B030D-6E8A-4147-A177-3AD203B41FA5}">
                      <a16:colId xmlns:a16="http://schemas.microsoft.com/office/drawing/2014/main" val="3190870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Axios Instance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Interceptor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47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Reusable axios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Auto-run logic before request or after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41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baseURL, timeout, headers,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token inject, errors, logging, loader,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97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when calling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Automatically on every request/response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4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Without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Duplicate config in every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Duplicate logic in every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3758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FEAFB16-6276-E163-C539-3324467ABDC8}"/>
              </a:ext>
            </a:extLst>
          </p:cNvPr>
          <p:cNvSpPr/>
          <p:nvPr/>
        </p:nvSpPr>
        <p:spPr>
          <a:xfrm>
            <a:off x="817772" y="699042"/>
            <a:ext cx="63942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Instance vs Interceptor</a:t>
            </a:r>
          </a:p>
        </p:txBody>
      </p:sp>
    </p:spTree>
    <p:extLst>
      <p:ext uri="{BB962C8B-B14F-4D97-AF65-F5344CB8AC3E}">
        <p14:creationId xmlns:p14="http://schemas.microsoft.com/office/powerpoint/2010/main" val="4146531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1563</TotalTime>
  <Words>566</Words>
  <Application>Microsoft Office PowerPoint</Application>
  <PresentationFormat>Widescreen</PresentationFormat>
  <Paragraphs>132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323</cp:revision>
  <dcterms:created xsi:type="dcterms:W3CDTF">2025-07-03T20:58:50Z</dcterms:created>
  <dcterms:modified xsi:type="dcterms:W3CDTF">2025-11-25T14:52:02Z</dcterms:modified>
</cp:coreProperties>
</file>