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6" r:id="rId2"/>
    <p:sldId id="356" r:id="rId3"/>
    <p:sldId id="363" r:id="rId4"/>
    <p:sldId id="362" r:id="rId5"/>
    <p:sldId id="364" r:id="rId6"/>
    <p:sldId id="31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7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1322349" y="1314250"/>
            <a:ext cx="9547301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Handle Checkbox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BD52-A56B-7E9F-A9EF-6ACC498D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3CD8CD-A584-6D4B-2F78-F057745D3EE0}"/>
              </a:ext>
            </a:extLst>
          </p:cNvPr>
          <p:cNvGrpSpPr/>
          <p:nvPr/>
        </p:nvGrpSpPr>
        <p:grpSpPr>
          <a:xfrm>
            <a:off x="1650817" y="1878332"/>
            <a:ext cx="9139790" cy="2632717"/>
            <a:chOff x="935798" y="551419"/>
            <a:chExt cx="9139790" cy="263271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ABF976-D12B-6828-80A4-857405694E4F}"/>
                </a:ext>
              </a:extLst>
            </p:cNvPr>
            <p:cNvSpPr txBox="1"/>
            <p:nvPr/>
          </p:nvSpPr>
          <p:spPr>
            <a:xfrm>
              <a:off x="990797" y="1999196"/>
              <a:ext cx="8606965" cy="1184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4200"/>
                </a:spcAft>
              </a:pPr>
              <a:r>
                <a:rPr lang="en-US" dirty="0"/>
                <a:t>In React, a checkbox is controlled when its checked state is managed by </a:t>
              </a:r>
              <a:r>
                <a:rPr lang="en-US" dirty="0" err="1"/>
                <a:t>React’s</a:t>
              </a:r>
              <a:r>
                <a:rPr lang="en-US" dirty="0"/>
                <a:t> state.</a:t>
              </a:r>
            </a:p>
            <a:p>
              <a:pPr>
                <a:spcAft>
                  <a:spcPts val="4200"/>
                </a:spcAft>
              </a:pPr>
              <a:r>
                <a:rPr lang="en-US" dirty="0"/>
                <a:t>We don’t use </a:t>
              </a:r>
              <a:r>
                <a:rPr lang="en-US" dirty="0" err="1"/>
                <a:t>document.querySelector</a:t>
              </a:r>
              <a:r>
                <a:rPr lang="en-US" dirty="0"/>
                <a:t> — instead, we use </a:t>
              </a:r>
              <a:r>
                <a:rPr lang="en-US" dirty="0" err="1"/>
                <a:t>useState</a:t>
              </a:r>
              <a:r>
                <a:rPr lang="en-US" dirty="0"/>
                <a:t> and </a:t>
              </a:r>
              <a:r>
                <a:rPr lang="en-US" dirty="0" err="1"/>
                <a:t>onChange</a:t>
              </a:r>
              <a:r>
                <a:rPr lang="en-US" dirty="0"/>
                <a:t>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B66528-D9E6-BDB3-67BD-7EC13CB8019F}"/>
                </a:ext>
              </a:extLst>
            </p:cNvPr>
            <p:cNvSpPr/>
            <p:nvPr/>
          </p:nvSpPr>
          <p:spPr>
            <a:xfrm>
              <a:off x="935798" y="551419"/>
              <a:ext cx="9139790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a Controlled Checkbox?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714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6C2B2-06C8-985A-6B7B-A60884CCA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F6318A7-1A0D-234D-9793-D3F484850224}"/>
              </a:ext>
            </a:extLst>
          </p:cNvPr>
          <p:cNvGrpSpPr/>
          <p:nvPr/>
        </p:nvGrpSpPr>
        <p:grpSpPr>
          <a:xfrm>
            <a:off x="1132408" y="791426"/>
            <a:ext cx="9379753" cy="4643563"/>
            <a:chOff x="935797" y="348219"/>
            <a:chExt cx="9379753" cy="46435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B4683C-E09B-4FFD-298D-91DF5CCBCAE5}"/>
                </a:ext>
              </a:extLst>
            </p:cNvPr>
            <p:cNvSpPr txBox="1"/>
            <p:nvPr/>
          </p:nvSpPr>
          <p:spPr>
            <a:xfrm>
              <a:off x="935797" y="1529296"/>
              <a:ext cx="9379753" cy="34624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</a:rPr>
                <a:t>Single Checkbox</a:t>
              </a:r>
            </a:p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IN" dirty="0">
                  <a:solidFill>
                    <a:srgbClr val="FFFF00"/>
                  </a:solidFill>
                </a:rPr>
                <a:t>Multiple Independent Checkboxes: </a:t>
              </a:r>
              <a:r>
                <a:rPr lang="en-US" dirty="0"/>
                <a:t>Sometimes, you have several separate checkboxes, each with its own state.</a:t>
              </a:r>
              <a:endParaRPr lang="en-IN" dirty="0"/>
            </a:p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IN" dirty="0">
                  <a:solidFill>
                    <a:srgbClr val="FFFF00"/>
                  </a:solidFill>
                </a:rPr>
                <a:t>Grouped Checkboxes (Dynamic Handling): </a:t>
              </a:r>
              <a:r>
                <a:rPr lang="en-US" dirty="0"/>
                <a:t>When you have many checkboxes — instead of multiple states, use one object or array.</a:t>
              </a:r>
            </a:p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</a:rPr>
                <a:t>Select All / Deselect All Feature</a:t>
              </a:r>
            </a:p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</a:rPr>
                <a:t>Handling Checkbox Inside a Form</a:t>
              </a:r>
            </a:p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</a:rPr>
                <a:t>Uncontrolled Checkbox (with </a:t>
              </a:r>
              <a:r>
                <a:rPr lang="en-US" dirty="0" err="1">
                  <a:solidFill>
                    <a:srgbClr val="FFFF00"/>
                  </a:solidFill>
                </a:rPr>
                <a:t>useRef</a:t>
              </a:r>
              <a:r>
                <a:rPr lang="en-US" dirty="0">
                  <a:solidFill>
                    <a:srgbClr val="FFFF00"/>
                  </a:solidFill>
                </a:rPr>
                <a:t>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5F7917-2C38-A771-FEA1-57F86C8DABFA}"/>
                </a:ext>
              </a:extLst>
            </p:cNvPr>
            <p:cNvSpPr/>
            <p:nvPr/>
          </p:nvSpPr>
          <p:spPr>
            <a:xfrm>
              <a:off x="935798" y="348219"/>
              <a:ext cx="9139790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Scenarios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959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658B-EB83-3C38-C32D-12358241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ADB445-7D28-2B2C-9C8B-37828B05F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922059"/>
              </p:ext>
            </p:extLst>
          </p:nvPr>
        </p:nvGraphicFramePr>
        <p:xfrm>
          <a:off x="880979" y="2070960"/>
          <a:ext cx="93768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229">
                  <a:extLst>
                    <a:ext uri="{9D8B030D-6E8A-4147-A177-3AD203B41FA5}">
                      <a16:colId xmlns:a16="http://schemas.microsoft.com/office/drawing/2014/main" val="179180911"/>
                    </a:ext>
                  </a:extLst>
                </a:gridCol>
                <a:gridCol w="1725672">
                  <a:extLst>
                    <a:ext uri="{9D8B030D-6E8A-4147-A177-3AD203B41FA5}">
                      <a16:colId xmlns:a16="http://schemas.microsoft.com/office/drawing/2014/main" val="443927668"/>
                    </a:ext>
                  </a:extLst>
                </a:gridCol>
                <a:gridCol w="2908205">
                  <a:extLst>
                    <a:ext uri="{9D8B030D-6E8A-4147-A177-3AD203B41FA5}">
                      <a16:colId xmlns:a16="http://schemas.microsoft.com/office/drawing/2014/main" val="396529748"/>
                    </a:ext>
                  </a:extLst>
                </a:gridCol>
                <a:gridCol w="2605697">
                  <a:extLst>
                    <a:ext uri="{9D8B030D-6E8A-4147-A177-3AD203B41FA5}">
                      <a16:colId xmlns:a16="http://schemas.microsoft.com/office/drawing/2014/main" val="3326409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546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useState(false)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48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(separate)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booleans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 states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361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or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 keys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4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 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+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all boxes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29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Inside 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Mixed (text + checkbox)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426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Uncontrolled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useRef()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Direct DOM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73669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549D103-26E3-5044-D5D0-EB2FCDE5D9B1}"/>
              </a:ext>
            </a:extLst>
          </p:cNvPr>
          <p:cNvSpPr/>
          <p:nvPr/>
        </p:nvSpPr>
        <p:spPr>
          <a:xfrm>
            <a:off x="759048" y="997910"/>
            <a:ext cx="298105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65028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1157-42B6-9900-3D38-F7B0E83F7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1F4B10-0256-AAD9-1BBA-471C0E812BD7}"/>
              </a:ext>
            </a:extLst>
          </p:cNvPr>
          <p:cNvGrpSpPr/>
          <p:nvPr/>
        </p:nvGrpSpPr>
        <p:grpSpPr>
          <a:xfrm>
            <a:off x="1185310" y="853531"/>
            <a:ext cx="8125702" cy="4812840"/>
            <a:chOff x="935798" y="348219"/>
            <a:chExt cx="8125702" cy="481284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949E9F-4C40-D5C2-7723-D909BB8CEB73}"/>
                </a:ext>
              </a:extLst>
            </p:cNvPr>
            <p:cNvSpPr txBox="1"/>
            <p:nvPr/>
          </p:nvSpPr>
          <p:spPr>
            <a:xfrm>
              <a:off x="935798" y="1529296"/>
              <a:ext cx="8125702" cy="36317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4200"/>
                </a:spcAft>
              </a:pPr>
              <a:r>
                <a:rPr lang="en-US" dirty="0"/>
                <a:t>✅Always use checked, not value.</a:t>
              </a:r>
            </a:p>
            <a:p>
              <a:pPr>
                <a:spcAft>
                  <a:spcPts val="4200"/>
                </a:spcAft>
              </a:pPr>
              <a:r>
                <a:rPr lang="en-US" dirty="0"/>
                <a:t>✅ Don’t use </a:t>
              </a:r>
              <a:r>
                <a:rPr lang="en-US" dirty="0" err="1"/>
                <a:t>e.target.value</a:t>
              </a:r>
              <a:r>
                <a:rPr lang="en-US" dirty="0"/>
                <a:t> (use </a:t>
              </a:r>
              <a:r>
                <a:rPr lang="en-US" dirty="0" err="1"/>
                <a:t>e.target.checked</a:t>
              </a:r>
              <a:r>
                <a:rPr lang="en-US" dirty="0"/>
                <a:t>)..</a:t>
              </a:r>
            </a:p>
            <a:p>
              <a:pPr>
                <a:spcAft>
                  <a:spcPts val="4200"/>
                </a:spcAft>
              </a:pPr>
              <a:r>
                <a:rPr lang="en-US" dirty="0"/>
                <a:t>✅ Reset checkboxes easily with </a:t>
              </a:r>
              <a:r>
                <a:rPr lang="en-US" dirty="0" err="1"/>
                <a:t>setState</a:t>
              </a:r>
              <a:r>
                <a:rPr lang="en-US" dirty="0"/>
                <a:t>(</a:t>
              </a:r>
              <a:r>
                <a:rPr lang="en-US" dirty="0" err="1"/>
                <a:t>initialState</a:t>
              </a:r>
              <a:r>
                <a:rPr lang="en-US" dirty="0"/>
                <a:t>). </a:t>
              </a:r>
            </a:p>
            <a:p>
              <a:pPr>
                <a:spcAft>
                  <a:spcPts val="4200"/>
                </a:spcAft>
              </a:pPr>
              <a:r>
                <a:rPr lang="en-US" dirty="0"/>
                <a:t>✅Keep logic pure — don’t mutate arrays/objects directly.</a:t>
              </a:r>
            </a:p>
            <a:p>
              <a:pPr>
                <a:spcAft>
                  <a:spcPts val="4200"/>
                </a:spcAft>
              </a:pPr>
              <a:r>
                <a:rPr lang="en-US" dirty="0"/>
                <a:t>✅ Group checkboxes if they belong to one category.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4448B2-0C88-DB07-C02A-5A17EF229C10}"/>
                </a:ext>
              </a:extLst>
            </p:cNvPr>
            <p:cNvSpPr/>
            <p:nvPr/>
          </p:nvSpPr>
          <p:spPr>
            <a:xfrm>
              <a:off x="935798" y="348219"/>
              <a:ext cx="1949776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Tips: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0068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1157</TotalTime>
  <Words>217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Berlin Sans FB Demi</vt:lpstr>
      <vt:lpstr>Calibri</vt:lpstr>
      <vt:lpstr>Calisto MT</vt:lpstr>
      <vt:lpstr>Courier New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257</cp:revision>
  <dcterms:created xsi:type="dcterms:W3CDTF">2025-07-03T20:58:50Z</dcterms:created>
  <dcterms:modified xsi:type="dcterms:W3CDTF">2025-11-12T09:35:02Z</dcterms:modified>
</cp:coreProperties>
</file>