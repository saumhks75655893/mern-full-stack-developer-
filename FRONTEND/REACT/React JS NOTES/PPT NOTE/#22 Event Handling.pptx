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6" r:id="rId2"/>
    <p:sldId id="321" r:id="rId3"/>
    <p:sldId id="333" r:id="rId4"/>
    <p:sldId id="334" r:id="rId5"/>
    <p:sldId id="335" r:id="rId6"/>
    <p:sldId id="322" r:id="rId7"/>
    <p:sldId id="337" r:id="rId8"/>
    <p:sldId id="338" r:id="rId9"/>
    <p:sldId id="340" r:id="rId10"/>
    <p:sldId id="341" r:id="rId11"/>
    <p:sldId id="343" r:id="rId12"/>
    <p:sldId id="31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549252" y="1073618"/>
            <a:ext cx="9093495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Event</a:t>
            </a:r>
          </a:p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Handling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223-8F11-C227-09BE-7D068A5F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7648C60-0DA0-6A36-6685-7D759C6A8079}"/>
              </a:ext>
            </a:extLst>
          </p:cNvPr>
          <p:cNvGrpSpPr/>
          <p:nvPr/>
        </p:nvGrpSpPr>
        <p:grpSpPr>
          <a:xfrm>
            <a:off x="921791" y="767175"/>
            <a:ext cx="9109109" cy="5181274"/>
            <a:chOff x="839289" y="725924"/>
            <a:chExt cx="9109109" cy="518127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3525D4-BF04-73E0-5AA7-C4C7D97807C5}"/>
                </a:ext>
              </a:extLst>
            </p:cNvPr>
            <p:cNvSpPr/>
            <p:nvPr/>
          </p:nvSpPr>
          <p:spPr>
            <a:xfrm>
              <a:off x="839289" y="725924"/>
              <a:ext cx="67509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HTML vs React Events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6092AA-564A-821A-A183-6A4DC275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91" t="50000" r="8853" b="30697"/>
            <a:stretch>
              <a:fillRect/>
            </a:stretch>
          </p:blipFill>
          <p:spPr>
            <a:xfrm>
              <a:off x="962527" y="3248858"/>
              <a:ext cx="8985871" cy="60673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8D956E-4D63-5FCA-B9B9-69574641E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42" t="46323" r="9929" b="25629"/>
            <a:stretch>
              <a:fillRect/>
            </a:stretch>
          </p:blipFill>
          <p:spPr>
            <a:xfrm>
              <a:off x="962528" y="1922571"/>
              <a:ext cx="7920216" cy="9606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FFC67-B37A-2B34-24AB-85B814170F3E}"/>
                </a:ext>
              </a:extLst>
            </p:cNvPr>
            <p:cNvSpPr txBox="1"/>
            <p:nvPr/>
          </p:nvSpPr>
          <p:spPr>
            <a:xfrm>
              <a:off x="887416" y="4399093"/>
              <a:ext cx="8359712" cy="1508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Key Differences: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React uses camelCase (</a:t>
              </a:r>
              <a:r>
                <a:rPr lang="en-US" dirty="0" err="1"/>
                <a:t>onClick</a:t>
              </a:r>
              <a:r>
                <a:rPr lang="en-US" dirty="0"/>
                <a:t>, </a:t>
              </a:r>
              <a:r>
                <a:rPr lang="en-US" dirty="0" err="1"/>
                <a:t>onChange</a:t>
              </a:r>
              <a:r>
                <a:rPr lang="en-US" dirty="0"/>
                <a:t>, etc.)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Pass a function reference, not a string</a:t>
              </a:r>
            </a:p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React events work across browsers using SyntheticEvent (</a:t>
              </a:r>
              <a:r>
                <a:rPr lang="en-US" dirty="0" err="1"/>
                <a:t>React’s</a:t>
              </a:r>
              <a:r>
                <a:rPr lang="en-US" dirty="0"/>
                <a:t> wrapper)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30825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DF9B-22BD-B400-29E1-0E3FAB66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97CD314-237C-FF0F-5CA1-923A7E5E04E8}"/>
              </a:ext>
            </a:extLst>
          </p:cNvPr>
          <p:cNvGrpSpPr/>
          <p:nvPr/>
        </p:nvGrpSpPr>
        <p:grpSpPr>
          <a:xfrm>
            <a:off x="729286" y="499418"/>
            <a:ext cx="6750918" cy="5693131"/>
            <a:chOff x="626159" y="322661"/>
            <a:chExt cx="6750918" cy="56931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E1B922-8A9C-4E9B-C97A-CCD487028CAC}"/>
                </a:ext>
              </a:extLst>
            </p:cNvPr>
            <p:cNvSpPr/>
            <p:nvPr/>
          </p:nvSpPr>
          <p:spPr>
            <a:xfrm>
              <a:off x="626159" y="322661"/>
              <a:ext cx="67509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Event Handler Basics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903492-6B0C-2417-BDDC-8143FC16E386}"/>
                </a:ext>
              </a:extLst>
            </p:cNvPr>
            <p:cNvSpPr txBox="1"/>
            <p:nvPr/>
          </p:nvSpPr>
          <p:spPr>
            <a:xfrm>
              <a:off x="626159" y="1358950"/>
              <a:ext cx="5375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Handle basic events like click, change, and submit.</a:t>
              </a:r>
              <a:endParaRPr lang="en-IN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E1DFC6-57C7-9703-31DA-F3C497463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16" t="29885" r="9721" b="18373"/>
            <a:stretch>
              <a:fillRect/>
            </a:stretch>
          </p:blipFill>
          <p:spPr>
            <a:xfrm>
              <a:off x="694911" y="1789671"/>
              <a:ext cx="6012834" cy="190732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FA5DAE-AA7C-B7A5-E566-20A3FDAB3F52}"/>
                </a:ext>
              </a:extLst>
            </p:cNvPr>
            <p:cNvSpPr txBox="1"/>
            <p:nvPr/>
          </p:nvSpPr>
          <p:spPr>
            <a:xfrm>
              <a:off x="626159" y="4107577"/>
              <a:ext cx="4708987" cy="1908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Common Events: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 err="1"/>
                <a:t>onClick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 err="1"/>
                <a:t>onChange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 err="1"/>
                <a:t>onSubmit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 err="1"/>
                <a:t>onMouseEnter</a:t>
              </a:r>
              <a:r>
                <a:rPr lang="en-US" dirty="0"/>
                <a:t> / </a:t>
              </a:r>
              <a:r>
                <a:rPr lang="en-US" dirty="0" err="1"/>
                <a:t>onMouseLeave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 err="1"/>
                <a:t>onKeyDown</a:t>
              </a:r>
              <a:r>
                <a:rPr lang="en-US" dirty="0"/>
                <a:t> / </a:t>
              </a:r>
              <a:r>
                <a:rPr lang="en-US" dirty="0" err="1"/>
                <a:t>onKeyUp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74024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26B4-28F3-E914-28D2-43D461A7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E5B1085-9A62-5153-2314-29082219684F}"/>
              </a:ext>
            </a:extLst>
          </p:cNvPr>
          <p:cNvGrpSpPr/>
          <p:nvPr/>
        </p:nvGrpSpPr>
        <p:grpSpPr>
          <a:xfrm>
            <a:off x="846164" y="1296940"/>
            <a:ext cx="7997234" cy="3900702"/>
            <a:chOff x="646784" y="368790"/>
            <a:chExt cx="7997234" cy="39007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D6B8DB-9775-A4B4-C5BC-A4378073E294}"/>
                </a:ext>
              </a:extLst>
            </p:cNvPr>
            <p:cNvSpPr/>
            <p:nvPr/>
          </p:nvSpPr>
          <p:spPr>
            <a:xfrm>
              <a:off x="646784" y="368790"/>
              <a:ext cx="67509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Accessing Event Object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234A4A-81A2-25BF-9F8F-43D40450A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2" t="30059" r="9970" b="18458"/>
            <a:stretch>
              <a:fillRect/>
            </a:stretch>
          </p:blipFill>
          <p:spPr>
            <a:xfrm>
              <a:off x="742521" y="1683311"/>
              <a:ext cx="7901497" cy="25861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13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83F4-F4DC-2039-DFBB-1209FA54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E106E60-0F79-3E31-54BE-C96C7184A67A}"/>
              </a:ext>
            </a:extLst>
          </p:cNvPr>
          <p:cNvGrpSpPr/>
          <p:nvPr/>
        </p:nvGrpSpPr>
        <p:grpSpPr>
          <a:xfrm>
            <a:off x="543654" y="647507"/>
            <a:ext cx="11446674" cy="5562986"/>
            <a:chOff x="646782" y="368790"/>
            <a:chExt cx="11446674" cy="55629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203AF4-5213-B399-FA69-C5FD9C851673}"/>
                </a:ext>
              </a:extLst>
            </p:cNvPr>
            <p:cNvSpPr/>
            <p:nvPr/>
          </p:nvSpPr>
          <p:spPr>
            <a:xfrm>
              <a:off x="646784" y="368790"/>
              <a:ext cx="67509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SyntheticEvent: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C72BDC-A6E5-DE35-3BDE-EFEDBC85CBE9}"/>
                </a:ext>
              </a:extLst>
            </p:cNvPr>
            <p:cNvSpPr txBox="1"/>
            <p:nvPr/>
          </p:nvSpPr>
          <p:spPr>
            <a:xfrm>
              <a:off x="646783" y="1295556"/>
              <a:ext cx="1072460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Event handling in React follows a similar pattern to standard </a:t>
              </a:r>
              <a:r>
                <a:rPr lang="en-US" dirty="0" err="1"/>
                <a:t>javaScript</a:t>
              </a:r>
              <a:r>
                <a:rPr lang="en-US" dirty="0"/>
                <a:t> event handling but with some key differences, such as using synthetic events for cross-browser compatibility and providing consistent event handling across different elements and browsers.</a:t>
              </a:r>
              <a:endParaRPr lang="en-IN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56A1ABE-AA1B-A27B-B5A2-F0587664E510}"/>
                </a:ext>
              </a:extLst>
            </p:cNvPr>
            <p:cNvSpPr txBox="1"/>
            <p:nvPr/>
          </p:nvSpPr>
          <p:spPr>
            <a:xfrm>
              <a:off x="646782" y="2577322"/>
              <a:ext cx="1072460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When you  handle events in React, like clicking a button or typing in an input box, React wraps the native browser events in something called Synthetic Event. This Synthetic Event ensures consistent event handling across different browsers. 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98753C-8C6E-86E6-3B01-F403FAE61DCF}"/>
                </a:ext>
              </a:extLst>
            </p:cNvPr>
            <p:cNvSpPr txBox="1"/>
            <p:nvPr/>
          </p:nvSpPr>
          <p:spPr>
            <a:xfrm>
              <a:off x="646782" y="5562444"/>
              <a:ext cx="61803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 React 16 and later versions, this problem is no more.</a:t>
              </a:r>
              <a:endParaRPr lang="en-IN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82D6B0A-4017-0FC6-4C30-2F71B70378B4}"/>
                </a:ext>
              </a:extLst>
            </p:cNvPr>
            <p:cNvGrpSpPr/>
            <p:nvPr/>
          </p:nvGrpSpPr>
          <p:grpSpPr>
            <a:xfrm>
              <a:off x="646782" y="3859088"/>
              <a:ext cx="11446674" cy="1347212"/>
              <a:chOff x="646782" y="3858009"/>
              <a:chExt cx="11446674" cy="1347212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DA50068-CB33-8E0D-5EDE-56D6A11301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21" t="40958" r="7631" b="25561"/>
              <a:stretch>
                <a:fillRect/>
              </a:stretch>
            </p:blipFill>
            <p:spPr>
              <a:xfrm>
                <a:off x="749394" y="4364719"/>
                <a:ext cx="7548958" cy="84050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C838B9-1E17-50A1-174C-A8A0BAC13EEF}"/>
                  </a:ext>
                </a:extLst>
              </p:cNvPr>
              <p:cNvSpPr txBox="1"/>
              <p:nvPr/>
            </p:nvSpPr>
            <p:spPr>
              <a:xfrm>
                <a:off x="646782" y="3858009"/>
                <a:ext cx="114466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But after the event handler runs, React pools the event for performance (so </a:t>
                </a:r>
                <a:r>
                  <a:rPr lang="en-US" dirty="0" err="1"/>
                  <a:t>e.target</a:t>
                </a:r>
                <a:r>
                  <a:rPr lang="en-US" dirty="0"/>
                  <a:t> may become null in async code).</a:t>
                </a:r>
                <a:endParaRPr lang="en-IN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430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402A-4C45-7863-F2DA-48950EF6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A8CAE-1299-097F-AFB2-DB26E3E4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49" y="768376"/>
            <a:ext cx="9625161" cy="45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9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2B59-7BC4-EB8F-C745-CA4B7F00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F725478-52E3-EEF0-851F-D5BE30BB8694}"/>
              </a:ext>
            </a:extLst>
          </p:cNvPr>
          <p:cNvGrpSpPr/>
          <p:nvPr/>
        </p:nvGrpSpPr>
        <p:grpSpPr>
          <a:xfrm>
            <a:off x="803908" y="788184"/>
            <a:ext cx="9535370" cy="4976728"/>
            <a:chOff x="543656" y="647507"/>
            <a:chExt cx="9535370" cy="49767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2C65D0-B886-DE92-5197-57A3C81701DE}"/>
                </a:ext>
              </a:extLst>
            </p:cNvPr>
            <p:cNvSpPr/>
            <p:nvPr/>
          </p:nvSpPr>
          <p:spPr>
            <a:xfrm>
              <a:off x="543656" y="647507"/>
              <a:ext cx="9535370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Passing Arguments to Handlers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61DA047-F565-57F8-E2F0-A63470CE0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53" t="29618" r="8839" b="18011"/>
            <a:stretch>
              <a:fillRect/>
            </a:stretch>
          </p:blipFill>
          <p:spPr>
            <a:xfrm>
              <a:off x="646852" y="1829498"/>
              <a:ext cx="8053756" cy="215808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A2E8D6-9FA5-38F8-BD72-AF866D3F5E0C}"/>
                </a:ext>
              </a:extLst>
            </p:cNvPr>
            <p:cNvGrpSpPr/>
            <p:nvPr/>
          </p:nvGrpSpPr>
          <p:grpSpPr>
            <a:xfrm>
              <a:off x="543656" y="4338575"/>
              <a:ext cx="6956473" cy="1285660"/>
              <a:chOff x="647115" y="4338575"/>
              <a:chExt cx="6956473" cy="128566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FEBA2B-9EC4-BDD3-660B-4B133EBAB9BC}"/>
                  </a:ext>
                </a:extLst>
              </p:cNvPr>
              <p:cNvSpPr txBox="1"/>
              <p:nvPr/>
            </p:nvSpPr>
            <p:spPr>
              <a:xfrm>
                <a:off x="647115" y="4338575"/>
                <a:ext cx="64852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Beginner Mistake:</a:t>
                </a: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1767CB4-D1C5-27D7-66AD-C7D46B5B9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9" t="44281" r="9779" b="26822"/>
              <a:stretch>
                <a:fillRect/>
              </a:stretch>
            </p:blipFill>
            <p:spPr>
              <a:xfrm>
                <a:off x="750311" y="4804116"/>
                <a:ext cx="6853277" cy="8201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8577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33B3F-D3D8-E576-4A7F-5FB57871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3EF6DC9-F8F2-7241-DE7B-AE504CA43F58}"/>
              </a:ext>
            </a:extLst>
          </p:cNvPr>
          <p:cNvGrpSpPr/>
          <p:nvPr/>
        </p:nvGrpSpPr>
        <p:grpSpPr>
          <a:xfrm>
            <a:off x="721406" y="606800"/>
            <a:ext cx="8016958" cy="5452061"/>
            <a:chOff x="659529" y="331793"/>
            <a:chExt cx="8016958" cy="54520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4798D6-6C59-2EC6-FA76-826934C53C64}"/>
                </a:ext>
              </a:extLst>
            </p:cNvPr>
            <p:cNvSpPr/>
            <p:nvPr/>
          </p:nvSpPr>
          <p:spPr>
            <a:xfrm>
              <a:off x="659529" y="331793"/>
              <a:ext cx="7164435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State with Events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D4DFA4-7EFE-C148-597D-5920BE59A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08" t="20952" r="11594" b="13183"/>
            <a:stretch>
              <a:fillRect/>
            </a:stretch>
          </p:blipFill>
          <p:spPr>
            <a:xfrm>
              <a:off x="763145" y="1320559"/>
              <a:ext cx="3781353" cy="298599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567AB0-2652-FEE5-CF7A-9DBF12C49C49}"/>
                </a:ext>
              </a:extLst>
            </p:cNvPr>
            <p:cNvSpPr txBox="1"/>
            <p:nvPr/>
          </p:nvSpPr>
          <p:spPr>
            <a:xfrm>
              <a:off x="659529" y="4583525"/>
              <a:ext cx="801695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React re-renders on </a:t>
              </a:r>
              <a:r>
                <a:rPr lang="en-US" dirty="0" err="1"/>
                <a:t>setState</a:t>
              </a:r>
              <a:endParaRPr lang="en-US" dirty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Event handlers capture the current state snapshot</a:t>
              </a:r>
            </a:p>
            <a:p>
              <a:endParaRPr lang="en-US" dirty="0"/>
            </a:p>
            <a:p>
              <a:r>
                <a:rPr lang="en-US" dirty="0"/>
                <a:t>Pitfall: State updates are asynchronous, so never rely on immediate new values.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478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9B81-833B-5C2E-1B9D-47C608BB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E0D626-6E0A-1E9E-254D-F60D04028DCD}"/>
              </a:ext>
            </a:extLst>
          </p:cNvPr>
          <p:cNvGrpSpPr/>
          <p:nvPr/>
        </p:nvGrpSpPr>
        <p:grpSpPr>
          <a:xfrm>
            <a:off x="762657" y="696177"/>
            <a:ext cx="10402648" cy="5292011"/>
            <a:chOff x="742032" y="606800"/>
            <a:chExt cx="10402648" cy="52920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856442-27C9-4581-C91A-894C07F29EC3}"/>
                </a:ext>
              </a:extLst>
            </p:cNvPr>
            <p:cNvSpPr/>
            <p:nvPr/>
          </p:nvSpPr>
          <p:spPr>
            <a:xfrm>
              <a:off x="742032" y="606800"/>
              <a:ext cx="1040264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Prevent Default &amp; Stop Propagation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12EF7B-59FD-8377-B2B6-5DDCE3A6C48A}"/>
                </a:ext>
              </a:extLst>
            </p:cNvPr>
            <p:cNvSpPr txBox="1"/>
            <p:nvPr/>
          </p:nvSpPr>
          <p:spPr>
            <a:xfrm>
              <a:off x="742032" y="1595566"/>
              <a:ext cx="19049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Prevent Default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1A3C8A-893E-3D73-164F-B356DDBA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03" t="20965" r="9903" b="12882"/>
            <a:stretch>
              <a:fillRect/>
            </a:stretch>
          </p:blipFill>
          <p:spPr>
            <a:xfrm>
              <a:off x="811271" y="2122667"/>
              <a:ext cx="5802659" cy="37761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227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76AFD-032C-7151-49C7-23520903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BEBBD3D-B9EB-6EB7-368D-8AFF3E5D6CBF}"/>
              </a:ext>
            </a:extLst>
          </p:cNvPr>
          <p:cNvGrpSpPr/>
          <p:nvPr/>
        </p:nvGrpSpPr>
        <p:grpSpPr>
          <a:xfrm>
            <a:off x="886411" y="882440"/>
            <a:ext cx="6538791" cy="5093119"/>
            <a:chOff x="742032" y="1595566"/>
            <a:chExt cx="6538791" cy="50931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5F5F31-C7C7-057D-F535-06077DC4A16A}"/>
                </a:ext>
              </a:extLst>
            </p:cNvPr>
            <p:cNvSpPr txBox="1"/>
            <p:nvPr/>
          </p:nvSpPr>
          <p:spPr>
            <a:xfrm>
              <a:off x="742032" y="1595566"/>
              <a:ext cx="21524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Stop Propagation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70E41E-7675-1D07-8E64-F22ED211D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47" t="18146" r="9084" b="10676"/>
            <a:stretch>
              <a:fillRect/>
            </a:stretch>
          </p:blipFill>
          <p:spPr>
            <a:xfrm>
              <a:off x="817658" y="2122667"/>
              <a:ext cx="6463165" cy="4566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074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1CAB-31DC-54FF-46FC-1F1BCA03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A00067-BAB2-6F85-D5B1-4076B5DB3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14448"/>
              </p:ext>
            </p:extLst>
          </p:nvPr>
        </p:nvGraphicFramePr>
        <p:xfrm>
          <a:off x="859396" y="2234436"/>
          <a:ext cx="10202779" cy="3152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841">
                  <a:extLst>
                    <a:ext uri="{9D8B030D-6E8A-4147-A177-3AD203B41FA5}">
                      <a16:colId xmlns:a16="http://schemas.microsoft.com/office/drawing/2014/main" val="4014979837"/>
                    </a:ext>
                  </a:extLst>
                </a:gridCol>
                <a:gridCol w="3808854">
                  <a:extLst>
                    <a:ext uri="{9D8B030D-6E8A-4147-A177-3AD203B41FA5}">
                      <a16:colId xmlns:a16="http://schemas.microsoft.com/office/drawing/2014/main" val="3407552292"/>
                    </a:ext>
                  </a:extLst>
                </a:gridCol>
                <a:gridCol w="3135084">
                  <a:extLst>
                    <a:ext uri="{9D8B030D-6E8A-4147-A177-3AD203B41FA5}">
                      <a16:colId xmlns:a16="http://schemas.microsoft.com/office/drawing/2014/main" val="1315473389"/>
                    </a:ext>
                  </a:extLst>
                </a:gridCol>
              </a:tblGrid>
              <a:tr h="49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Mistake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 it Happens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5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Calling handler immediately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onClick={fn()}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arrow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16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Losing event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pools SyntheticEvent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React 16 or 16+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7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Forgetting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e.preventDefault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Form reloads on submit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 it inside handler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164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Using state directly after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setState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 update is async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callback or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useEffect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stopping event bubbling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Both parent &amp; child trigger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e.stopPropagation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021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D483851-A24A-0CBB-E66F-17EFE524A103}"/>
              </a:ext>
            </a:extLst>
          </p:cNvPr>
          <p:cNvSpPr/>
          <p:nvPr/>
        </p:nvSpPr>
        <p:spPr>
          <a:xfrm>
            <a:off x="707656" y="1136294"/>
            <a:ext cx="880072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Common Beginner Mistakes Recap</a:t>
            </a:r>
          </a:p>
        </p:txBody>
      </p:sp>
    </p:spTree>
    <p:extLst>
      <p:ext uri="{BB962C8B-B14F-4D97-AF65-F5344CB8AC3E}">
        <p14:creationId xmlns:p14="http://schemas.microsoft.com/office/powerpoint/2010/main" val="2675992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828</TotalTime>
  <Words>306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Berlin Sans FB Demi</vt:lpstr>
      <vt:lpstr>Calibri</vt:lpstr>
      <vt:lpstr>Calisto MT</vt:lpstr>
      <vt:lpstr>Courier New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187</cp:revision>
  <dcterms:created xsi:type="dcterms:W3CDTF">2025-07-03T20:58:50Z</dcterms:created>
  <dcterms:modified xsi:type="dcterms:W3CDTF">2025-10-11T19:49:18Z</dcterms:modified>
</cp:coreProperties>
</file>