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66" r:id="rId2"/>
    <p:sldId id="356" r:id="rId3"/>
    <p:sldId id="365" r:id="rId4"/>
    <p:sldId id="369" r:id="rId5"/>
    <p:sldId id="368" r:id="rId6"/>
    <p:sldId id="370" r:id="rId7"/>
    <p:sldId id="31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2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71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EEC0A7-5E88-49C8-86BE-5A895966D8E7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40B1A8-BDEA-4732-9714-BDE544A645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0899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1803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829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3940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7616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3553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630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5632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1212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6015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3591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71852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705299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88816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02172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76548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94295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5919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14170C16-CB02-44E1-8AF7-8DA3690E2582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00178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3D259-E713-5A6D-29FD-7FA3E5815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34F5DFC-C246-5839-92FC-B4FEAD22E573}"/>
              </a:ext>
            </a:extLst>
          </p:cNvPr>
          <p:cNvSpPr/>
          <p:nvPr/>
        </p:nvSpPr>
        <p:spPr>
          <a:xfrm>
            <a:off x="1459842" y="1622033"/>
            <a:ext cx="9272316" cy="304698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threePt" dir="t"/>
            </a:scene3d>
            <a:sp3d extrusionH="57150">
              <a:bevelT w="57150" h="38100" prst="artDeco"/>
            </a:sp3d>
          </a:bodyPr>
          <a:lstStyle/>
          <a:p>
            <a:pPr algn="ctr"/>
            <a:r>
              <a:rPr lang="en-US" sz="9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erlin Sans FB Demi" panose="020E0802020502020306" pitchFamily="34" charset="0"/>
              </a:rPr>
              <a:t>Handle</a:t>
            </a:r>
          </a:p>
          <a:p>
            <a:pPr algn="ctr"/>
            <a:r>
              <a:rPr lang="en-US" sz="9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erlin Sans FB Demi" panose="020E0802020502020306" pitchFamily="34" charset="0"/>
              </a:rPr>
              <a:t>Select Dropdown</a:t>
            </a:r>
          </a:p>
        </p:txBody>
      </p:sp>
    </p:spTree>
    <p:extLst>
      <p:ext uri="{BB962C8B-B14F-4D97-AF65-F5344CB8AC3E}">
        <p14:creationId xmlns:p14="http://schemas.microsoft.com/office/powerpoint/2010/main" val="954011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1BD52-A56B-7E9F-A9EF-6ACC498D4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F3CD8CD-A584-6D4B-2F78-F057745D3EE0}"/>
              </a:ext>
            </a:extLst>
          </p:cNvPr>
          <p:cNvGrpSpPr/>
          <p:nvPr/>
        </p:nvGrpSpPr>
        <p:grpSpPr>
          <a:xfrm>
            <a:off x="1375811" y="1802705"/>
            <a:ext cx="9139790" cy="2828460"/>
            <a:chOff x="935798" y="551419"/>
            <a:chExt cx="9139790" cy="282846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5ABF976-D12B-6828-80A4-857405694E4F}"/>
                </a:ext>
              </a:extLst>
            </p:cNvPr>
            <p:cNvSpPr txBox="1"/>
            <p:nvPr/>
          </p:nvSpPr>
          <p:spPr>
            <a:xfrm>
              <a:off x="935798" y="1690570"/>
              <a:ext cx="8490087" cy="16893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spcAft>
                  <a:spcPts val="3000"/>
                </a:spcAft>
              </a:pPr>
              <a:r>
                <a:rPr lang="en-US" sz="2400" dirty="0"/>
                <a:t>The &lt;select&gt; tag creates a dropdown menu, and each &lt;option&gt; represents a selectable item. In React, we use state to control which value is currently selected.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FB66528-D9E6-BDB3-67BD-7EC13CB8019F}"/>
                </a:ext>
              </a:extLst>
            </p:cNvPr>
            <p:cNvSpPr/>
            <p:nvPr/>
          </p:nvSpPr>
          <p:spPr>
            <a:xfrm>
              <a:off x="935798" y="551419"/>
              <a:ext cx="9139790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r>
                <a:rPr lang="en-US" sz="48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What is a Select Dropdown?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77141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8772E-E658-825F-0137-4B82D3640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34C4B363-41C5-B86B-6C40-C89E00EDDBD8}"/>
              </a:ext>
            </a:extLst>
          </p:cNvPr>
          <p:cNvGrpSpPr/>
          <p:nvPr/>
        </p:nvGrpSpPr>
        <p:grpSpPr>
          <a:xfrm>
            <a:off x="794857" y="1171203"/>
            <a:ext cx="9524801" cy="4025362"/>
            <a:chOff x="746731" y="593687"/>
            <a:chExt cx="9524801" cy="4025362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65DE4009-EBFE-4317-076C-72BB523835A0}"/>
                </a:ext>
              </a:extLst>
            </p:cNvPr>
            <p:cNvSpPr/>
            <p:nvPr/>
          </p:nvSpPr>
          <p:spPr>
            <a:xfrm>
              <a:off x="746731" y="593687"/>
              <a:ext cx="5500523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r>
                <a:rPr lang="en-US" sz="48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Basic Single Select</a:t>
              </a: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8662408-BBE0-3374-7C10-24D57AFC730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628" t="23232" r="6335" b="13864"/>
            <a:stretch>
              <a:fillRect/>
            </a:stretch>
          </p:blipFill>
          <p:spPr>
            <a:xfrm>
              <a:off x="813564" y="1677546"/>
              <a:ext cx="9457968" cy="294150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22780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685DC-756D-555C-5273-23EA10B55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5E3BE04C-7F79-7AC9-166A-476B3A36D89C}"/>
              </a:ext>
            </a:extLst>
          </p:cNvPr>
          <p:cNvGrpSpPr/>
          <p:nvPr/>
        </p:nvGrpSpPr>
        <p:grpSpPr>
          <a:xfrm>
            <a:off x="1199058" y="1197151"/>
            <a:ext cx="7807437" cy="3705903"/>
            <a:chOff x="752170" y="839641"/>
            <a:chExt cx="7807437" cy="3705903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B717F188-B4AF-70FF-4809-78350F37F970}"/>
                </a:ext>
              </a:extLst>
            </p:cNvPr>
            <p:cNvSpPr/>
            <p:nvPr/>
          </p:nvSpPr>
          <p:spPr>
            <a:xfrm>
              <a:off x="752170" y="839641"/>
              <a:ext cx="4026084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r>
                <a:rPr lang="en-US" sz="48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Tips: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A816195-FBF2-E358-67D6-D1155800C79A}"/>
                </a:ext>
              </a:extLst>
            </p:cNvPr>
            <p:cNvSpPr txBox="1"/>
            <p:nvPr/>
          </p:nvSpPr>
          <p:spPr>
            <a:xfrm>
              <a:off x="752170" y="1801267"/>
              <a:ext cx="7807437" cy="27442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250000"/>
                </a:lnSpc>
                <a:buFont typeface="Wingdings" panose="05000000000000000000" pitchFamily="2" charset="2"/>
                <a:buChar char="q"/>
              </a:pPr>
              <a:r>
                <a:rPr lang="en-US" dirty="0"/>
                <a:t>Don’t miss value attribute in &lt;select&gt;.</a:t>
              </a:r>
            </a:p>
            <a:p>
              <a:pPr marL="285750" indent="-285750">
                <a:lnSpc>
                  <a:spcPct val="250000"/>
                </a:lnSpc>
                <a:buFont typeface="Wingdings" panose="05000000000000000000" pitchFamily="2" charset="2"/>
                <a:buChar char="q"/>
              </a:pPr>
              <a:r>
                <a:rPr lang="en-US" dirty="0"/>
                <a:t>Don’t use </a:t>
              </a:r>
              <a:r>
                <a:rPr lang="en-US" dirty="0" err="1"/>
                <a:t>defaultValue</a:t>
              </a:r>
              <a:r>
                <a:rPr lang="en-US" dirty="0"/>
                <a:t> in &lt;select&gt;. (uncontrolled component)</a:t>
              </a:r>
            </a:p>
            <a:p>
              <a:pPr marL="285750" indent="-285750">
                <a:lnSpc>
                  <a:spcPct val="250000"/>
                </a:lnSpc>
                <a:buFont typeface="Wingdings" panose="05000000000000000000" pitchFamily="2" charset="2"/>
                <a:buChar char="q"/>
              </a:pPr>
              <a:r>
                <a:rPr lang="en-US" dirty="0"/>
                <a:t>Don’t use selected attribute on &lt;option&gt;. (uncontrolled component)</a:t>
              </a:r>
            </a:p>
            <a:p>
              <a:pPr marL="285750" indent="-285750">
                <a:lnSpc>
                  <a:spcPct val="250000"/>
                </a:lnSpc>
                <a:buFont typeface="Wingdings" panose="05000000000000000000" pitchFamily="2" charset="2"/>
                <a:buChar char="q"/>
              </a:pPr>
              <a:r>
                <a:rPr lang="en-US" dirty="0"/>
                <a:t>Always include a default option like -- Select -- for better UX</a:t>
              </a:r>
              <a:r>
                <a:rPr lang="en-IN" dirty="0"/>
                <a:t>.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8697067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F2CF5-0E58-D8C4-FC68-2D0EFC6ED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6D27C132-D932-0D02-F851-341ED0578997}"/>
              </a:ext>
            </a:extLst>
          </p:cNvPr>
          <p:cNvGrpSpPr/>
          <p:nvPr/>
        </p:nvGrpSpPr>
        <p:grpSpPr>
          <a:xfrm>
            <a:off x="1001113" y="857562"/>
            <a:ext cx="8655091" cy="4812867"/>
            <a:chOff x="609227" y="375907"/>
            <a:chExt cx="8655091" cy="4812867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5DCE1F66-25AA-C69E-DB9F-E9469B284009}"/>
                </a:ext>
              </a:extLst>
            </p:cNvPr>
            <p:cNvSpPr/>
            <p:nvPr/>
          </p:nvSpPr>
          <p:spPr>
            <a:xfrm>
              <a:off x="609227" y="375907"/>
              <a:ext cx="8294142" cy="70788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r>
                <a:rPr lang="en-US" sz="40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Dynamic Dropdown (Using .map())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EAC9396-185B-1474-4FAC-E8FCFE9F0C43}"/>
                </a:ext>
              </a:extLst>
            </p:cNvPr>
            <p:cNvSpPr txBox="1"/>
            <p:nvPr/>
          </p:nvSpPr>
          <p:spPr>
            <a:xfrm>
              <a:off x="657353" y="1315050"/>
              <a:ext cx="860696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4200"/>
                </a:spcAft>
              </a:pPr>
              <a:r>
                <a:rPr lang="en-US" dirty="0"/>
                <a:t>If you have many options, it’s best to render them dynamically from an array.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A198D49-F74D-CCE6-2109-E11621B6B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530" t="20227" r="6673" b="12209"/>
            <a:stretch>
              <a:fillRect/>
            </a:stretch>
          </p:blipFill>
          <p:spPr>
            <a:xfrm>
              <a:off x="715019" y="1915639"/>
              <a:ext cx="8188350" cy="32731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705297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62188-9739-E3E6-C94A-5493BFEB7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8955453E-6691-C25E-4E0C-3F734A33A48D}"/>
              </a:ext>
            </a:extLst>
          </p:cNvPr>
          <p:cNvGrpSpPr/>
          <p:nvPr/>
        </p:nvGrpSpPr>
        <p:grpSpPr>
          <a:xfrm>
            <a:off x="896550" y="829330"/>
            <a:ext cx="9376802" cy="4849609"/>
            <a:chOff x="559666" y="128060"/>
            <a:chExt cx="9376802" cy="484960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9C169A3-AEC2-06A9-023C-E174B027DB2C}"/>
                </a:ext>
              </a:extLst>
            </p:cNvPr>
            <p:cNvSpPr/>
            <p:nvPr/>
          </p:nvSpPr>
          <p:spPr>
            <a:xfrm>
              <a:off x="559666" y="128060"/>
              <a:ext cx="9079347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r>
                <a:rPr lang="en-US" sz="48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Dependent Select (Cascading)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D613E48-02E5-D2F1-9CED-B31E6D54979B}"/>
                </a:ext>
              </a:extLst>
            </p:cNvPr>
            <p:cNvSpPr txBox="1"/>
            <p:nvPr/>
          </p:nvSpPr>
          <p:spPr>
            <a:xfrm>
              <a:off x="559666" y="1234065"/>
              <a:ext cx="9376802" cy="21210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buNone/>
              </a:pPr>
              <a:r>
                <a:rPr lang="en-US" dirty="0"/>
                <a:t>second dropdown’s options depend on which specific item is selected in the first dropdown — also called a dependent or cascading select.</a:t>
              </a:r>
            </a:p>
            <a:p>
              <a:pPr>
                <a:lnSpc>
                  <a:spcPct val="150000"/>
                </a:lnSpc>
                <a:buNone/>
              </a:pPr>
              <a:endParaRPr lang="en-US" dirty="0"/>
            </a:p>
            <a:p>
              <a:pPr>
                <a:lnSpc>
                  <a:spcPct val="150000"/>
                </a:lnSpc>
                <a:buNone/>
              </a:pPr>
              <a:r>
                <a:rPr lang="en-US" dirty="0"/>
                <a:t>For Example: When a user selects a country, the city dropdown should show different cities for that particular country. And maybe, for some countries, even custom special cities or messages.</a:t>
              </a: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EDF78415-D459-BC77-E0CF-2D838B5F4A0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391" t="33947" r="8985" b="20741"/>
            <a:stretch>
              <a:fillRect/>
            </a:stretch>
          </p:blipFill>
          <p:spPr>
            <a:xfrm>
              <a:off x="618768" y="3544158"/>
              <a:ext cx="6870112" cy="14335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673661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31DEB-18E7-5965-8DAF-3F835ABC2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DAC84B9-4F01-C36B-EF4F-1CEB400338F0}"/>
              </a:ext>
            </a:extLst>
          </p:cNvPr>
          <p:cNvSpPr/>
          <p:nvPr/>
        </p:nvSpPr>
        <p:spPr>
          <a:xfrm>
            <a:off x="2541330" y="1259175"/>
            <a:ext cx="7109340" cy="43396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threePt" dir="t"/>
            </a:scene3d>
            <a:sp3d extrusionH="57150">
              <a:bevelT w="57150" h="38100" prst="artDeco"/>
            </a:sp3d>
          </a:bodyPr>
          <a:lstStyle/>
          <a:p>
            <a:pPr algn="ctr"/>
            <a:r>
              <a:rPr lang="en-US" sz="13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erlin Sans FB Demi" panose="020E0802020502020306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46133842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ilk Glass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1217</TotalTime>
  <Words>181</Words>
  <Application>Microsoft Office PowerPoint</Application>
  <PresentationFormat>Widescreen</PresentationFormat>
  <Paragraphs>17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Berlin Sans FB Demi</vt:lpstr>
      <vt:lpstr>Calibri</vt:lpstr>
      <vt:lpstr>Calisto MT</vt:lpstr>
      <vt:lpstr>Wingdings</vt:lpstr>
      <vt:lpstr>Wingdings 2</vt:lpstr>
      <vt:lpstr>Slate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Manas Kumar Lal</dc:creator>
  <cp:lastModifiedBy>Manas Kumar Lal</cp:lastModifiedBy>
  <cp:revision>276</cp:revision>
  <dcterms:created xsi:type="dcterms:W3CDTF">2025-07-03T20:58:50Z</dcterms:created>
  <dcterms:modified xsi:type="dcterms:W3CDTF">2025-11-14T03:16:33Z</dcterms:modified>
</cp:coreProperties>
</file>